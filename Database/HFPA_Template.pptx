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570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7FBD"/>
    <a:srgbClr val="6D597A"/>
    <a:srgbClr val="5F9EA0"/>
    <a:srgbClr val="B09360"/>
    <a:srgbClr val="F6FF9F"/>
    <a:srgbClr val="543C90"/>
    <a:srgbClr val="EBBAFE"/>
    <a:srgbClr val="F3AFAF"/>
    <a:srgbClr val="998AF2"/>
    <a:srgbClr val="C7BF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3690" autoAdjust="0"/>
  </p:normalViewPr>
  <p:slideViewPr>
    <p:cSldViewPr snapToGrid="0">
      <p:cViewPr varScale="1">
        <p:scale>
          <a:sx n="66" d="100"/>
          <a:sy n="66" d="100"/>
        </p:scale>
        <p:origin x="65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.xlsx" TargetMode="External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.xlsx" TargetMode="External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.xlsx" TargetMode="External"/><Relationship Id="rId2" Type="http://schemas.microsoft.com/office/2011/relationships/chartStyle" Target="style3.xml"/><Relationship Id="rId3" Type="http://schemas.microsoft.com/office/2011/relationships/chartColorStyle" Target="colors3.xml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.xlsx" TargetMode="External"/><Relationship Id="rId2" Type="http://schemas.microsoft.com/office/2011/relationships/chartStyle" Target="style4.xml"/><Relationship Id="rId3" Type="http://schemas.microsoft.com/office/2011/relationships/chartColorStyle" Target="colors4.xm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.xlsx" TargetMode="External"/><Relationship Id="rId2" Type="http://schemas.openxmlformats.org/officeDocument/2006/relationships/themeOverride" Target="../theme/themeOverride1.xml"/><Relationship Id="rId3" Type="http://schemas.microsoft.com/office/2011/relationships/chartStyle" Target="style5.xml"/><Relationship Id="rId4" Type="http://schemas.microsoft.com/office/2011/relationships/chartColorStyle" Target="colors5.xm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.xlsx" TargetMode="External"/><Relationship Id="rId2" Type="http://schemas.openxmlformats.org/officeDocument/2006/relationships/themeOverride" Target="../theme/themeOverride2.xml"/><Relationship Id="rId3" Type="http://schemas.microsoft.com/office/2011/relationships/chartStyle" Target="style6.xml"/><Relationship Id="rId4" Type="http://schemas.microsoft.com/office/2011/relationships/chartColorStyle" Target="colors6.xm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.xlsx" TargetMode="External"/><Relationship Id="rId2" Type="http://schemas.openxmlformats.org/officeDocument/2006/relationships/themeOverride" Target="../theme/themeOverride3.xml"/><Relationship Id="rId3" Type="http://schemas.microsoft.com/office/2011/relationships/chartStyle" Target="style7.xml"/><Relationship Id="rId4" Type="http://schemas.microsoft.com/office/2011/relationships/chartColorStyle" Target="colors7.xml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.xlsx" TargetMode="External"/><Relationship Id="rId2" Type="http://schemas.openxmlformats.org/officeDocument/2006/relationships/themeOverride" Target="../theme/themeOverride4.xml"/><Relationship Id="rId3" Type="http://schemas.microsoft.com/office/2011/relationships/chartStyle" Target="style8.xml"/><Relationship Id="rId4" Type="http://schemas.microsoft.com/office/2011/relationships/chartColorStyle" Target="colors8.xm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.xlsx" TargetMode="External"/><Relationship Id="rId2" Type="http://schemas.openxmlformats.org/officeDocument/2006/relationships/themeOverride" Target="../theme/themeOverride5.xml"/><Relationship Id="rId3" Type="http://schemas.microsoft.com/office/2011/relationships/chartStyle" Target="style9.xml"/><Relationship Id="rId4" Type="http://schemas.microsoft.com/office/2011/relationships/chartColorStyle" Target="colors9.xm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.xlsx" TargetMode="External"/><Relationship Id="rId2" Type="http://schemas.openxmlformats.org/officeDocument/2006/relationships/themeOverride" Target="../theme/themeOverride6.xml"/><Relationship Id="rId3" Type="http://schemas.microsoft.com/office/2011/relationships/chartStyle" Target="style10.xml"/><Relationship Id="rId4" Type="http://schemas.microsoft.com/office/2011/relationships/chartColorStyle" Target="colors10.xm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.xlsx" TargetMode="External"/><Relationship Id="rId2" Type="http://schemas.openxmlformats.org/officeDocument/2006/relationships/themeOverride" Target="../theme/themeOverride7.xml"/><Relationship Id="rId3" Type="http://schemas.microsoft.com/office/2011/relationships/chartStyle" Target="style11.xml"/><Relationship Id="rId4" Type="http://schemas.microsoft.com/office/2011/relationships/chartColorStyle" Target="colors11.xm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../Output/HFPA_Template_Updated.xlsx" TargetMode="External"/><Relationship Id="rId2" Type="http://schemas.openxmlformats.org/officeDocument/2006/relationships/themeOverride" Target="../theme/themeOverride8.xml"/><Relationship Id="rId3" Type="http://schemas.microsoft.com/office/2011/relationships/chartStyle" Target="style12.xml"/><Relationship Id="rId4" Type="http://schemas.microsoft.com/office/2011/relationships/chartColorStyle" Target="colors1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0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ysClr val="windowText" lastClr="000000"/>
                </a:solidFill>
              </a:rPr>
              <a:t>Top</a:t>
            </a:r>
            <a:r>
              <a:rPr lang="en-US" sz="1000" b="1" baseline="0" dirty="0">
                <a:solidFill>
                  <a:sysClr val="windowText" lastClr="000000"/>
                </a:solidFill>
              </a:rPr>
              <a:t> 5  models</a:t>
            </a:r>
            <a:endParaRPr lang="en-US" sz="1000" b="1" dirty="0">
              <a:solidFill>
                <a:sysClr val="windowText" lastClr="000000"/>
              </a:solidFill>
            </a:endParaRPr>
          </a:p>
        </c:rich>
      </c:tx>
      <c:layout>
        <c:manualLayout>
          <c:xMode val="edge"/>
          <c:yMode val="edge"/>
          <c:x val="0.402336318120547"/>
          <c:y val="0.0195640000831855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153254449229824"/>
          <c:y val="0.289477691612413"/>
          <c:w val="0.978512827732733"/>
          <c:h val="0.442261655248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'Current month'!$G$21</c:f>
              <c:strCache>
                <c:ptCount val="1"/>
                <c:pt idx="0">
                  <c:v>HFPA DR%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'Current month'!$D$22:$D$26</c:f>
              <c:strCache>
                <c:ptCount val="5"/>
                <c:pt idx="0">
                  <c:v>NIKE AIR WINFLO 12 (MS/WS)</c:v>
                </c:pt>
                <c:pt idx="1">
                  <c:v>JORDAN SPIZIKE LOW (GS)</c:v>
                </c:pt>
                <c:pt idx="2">
                  <c:v>NIKE SB FORCE 58</c:v>
                </c:pt>
                <c:pt idx="3">
                  <c:v>AIR JORDAN 1 LOW SE (MS/WS)</c:v>
                </c:pt>
                <c:pt idx="4">
                  <c:v>WMNS BENASSI JDI</c:v>
                </c:pt>
              </c:strCache>
            </c:strRef>
          </c:cat>
          <c:val>
            <c:numRef>
              <c:f>'Current month'!$G$22:$G$26</c:f>
              <c:numCache>
                <c:formatCode>0.00%</c:formatCode>
                <c:ptCount val="5"/>
                <c:pt idx="0">
                  <c:v>0.015295</c:v>
                </c:pt>
                <c:pt idx="1">
                  <c:v>0.010361</c:v>
                </c:pt>
                <c:pt idx="2">
                  <c:v>0.009455</c:v>
                </c:pt>
                <c:pt idx="3">
                  <c:v>0.007190</c:v>
                </c:pt>
                <c:pt idx="4">
                  <c:v>0.006136</c:v>
                </c:pt>
              </c:numCache>
            </c:numRef>
          </c:val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/>
              <a:lstStyle/>
              <a:p>
                <a:pPr>
                  <a:defRPr lang="en-US" sz="75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outEnd"/>
            <c:showVal val="1"/>
            <c:showLegendKey val="0"/>
            <c:showCatName val="0"/>
            <c:showSerName val="0"/>
            <c:showPercent val="0"/>
            <c:showBubbleSize val="0"/>
            <c:showLeaderLines val="0"/>
          </c:dLbls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axId val="-1252546592"/>
        <c:axId val="-1252538976"/>
      </c:barChart>
      <c:catAx>
        <c:axId val="-12525465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-1252538976"/>
        <c:crosses val="autoZero"/>
        <c:auto val="1"/>
        <c:lblAlgn val="ctr"/>
        <c:lblOffset val="100"/>
        <c:noMultiLvlLbl val="0"/>
      </c:catAx>
      <c:valAx>
        <c:axId val="-1252538976"/>
        <c:scaling>
          <c:orientation val="minMax"/>
          <c:max val="0.05"/>
          <c:min val="0"/>
        </c:scaling>
        <c:delete val="0"/>
        <c:axPos val="l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1252546592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600645231846019"/>
          <c:y val="0.0259601924759405"/>
          <c:w val="0.166229780473715"/>
          <c:h val="0.16507240605621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>
      <a:solidFill>
        <a:schemeClr val="bg1">
          <a:lumMod val="95000"/>
        </a:schemeClr>
      </a:solidFill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0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ysClr val="windowText" lastClr="000000"/>
                </a:solidFill>
              </a:rPr>
              <a:t>Top</a:t>
            </a:r>
            <a:r>
              <a:rPr lang="en-US" sz="1000" b="1" baseline="0" dirty="0">
                <a:solidFill>
                  <a:sysClr val="windowText" lastClr="000000"/>
                </a:solidFill>
              </a:rPr>
              <a:t> 5  models</a:t>
            </a:r>
            <a:endParaRPr lang="en-US" sz="1000" b="1" dirty="0">
              <a:solidFill>
                <a:sysClr val="windowText" lastClr="000000"/>
              </a:solidFill>
            </a:endParaRPr>
          </a:p>
        </c:rich>
      </c:tx>
      <c:layout>
        <c:manualLayout>
          <c:xMode val="edge"/>
          <c:yMode val="edge"/>
          <c:x val="0.396222318505681"/>
          <c:y val="0.029346000124778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507243579846637"/>
          <c:y val="0.289732533433321"/>
          <c:w val="0.971250836292522"/>
          <c:h val="0.41876051551248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'Current month'!$G$27</c:f>
              <c:strCache>
                <c:ptCount val="1"/>
                <c:pt idx="0">
                  <c:v>HFPA DR%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'Current month'!$D$28:$D$32</c:f>
              <c:strCache>
                <c:ptCount val="5"/>
                <c:pt idx="0">
                  <c:v>NIKE INITIATOR (MS/WS)</c:v>
                </c:pt>
                <c:pt idx="1">
                  <c:v>NIKE RUN DEFY (MS/WS)</c:v>
                </c:pt>
                <c:pt idx="2">
                  <c:v>NIKE AIR MAX EXCEE (MS/WS)</c:v>
                </c:pt>
                <c:pt idx="3">
                  <c:v>NIKE UPLIFT SC (MS/WS)</c:v>
                </c:pt>
                <c:pt idx="4">
                  <c:v>NIKE AIR MAX SC (MS/WS)</c:v>
                </c:pt>
              </c:strCache>
            </c:strRef>
          </c:cat>
          <c:val>
            <c:numRef>
              <c:f>'Current month'!$G$28:$G$32</c:f>
              <c:numCache>
                <c:formatCode>0.00%</c:formatCode>
                <c:ptCount val="5"/>
                <c:pt idx="0">
                  <c:v>0.030866</c:v>
                </c:pt>
                <c:pt idx="1">
                  <c:v>0.020998</c:v>
                </c:pt>
                <c:pt idx="2">
                  <c:v>0.019276</c:v>
                </c:pt>
                <c:pt idx="3">
                  <c:v>0.009009</c:v>
                </c:pt>
                <c:pt idx="4">
                  <c:v>0.007890</c:v>
                </c:pt>
              </c:numCache>
            </c:numRef>
          </c:val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/>
              <a:lstStyle/>
              <a:p>
                <a:pPr>
                  <a:defRPr lang="en-US" sz="75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outEnd"/>
            <c:showVal val="1"/>
            <c:showLegendKey val="0"/>
            <c:showCatName val="0"/>
            <c:showSerName val="0"/>
            <c:showPercent val="0"/>
            <c:showBubbleSize val="0"/>
            <c:showLeaderLines val="0"/>
          </c:dLbls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axId val="-1252543872"/>
        <c:axId val="-1252567808"/>
      </c:barChart>
      <c:catAx>
        <c:axId val="-12525438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-1252567808"/>
        <c:crosses val="autoZero"/>
        <c:auto val="1"/>
        <c:lblAlgn val="ctr"/>
        <c:lblOffset val="100"/>
        <c:noMultiLvlLbl val="0"/>
      </c:catAx>
      <c:valAx>
        <c:axId val="-1252567808"/>
        <c:scaling>
          <c:orientation val="minMax"/>
          <c:max val="0.05"/>
          <c:min val="0"/>
        </c:scaling>
        <c:delete val="0"/>
        <c:axPos val="l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1252543872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600645231846019"/>
          <c:y val="0.0259601924759405"/>
          <c:w val="0.166350867760473"/>
          <c:h val="0.1674118860142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>
      <a:solidFill>
        <a:schemeClr val="bg1">
          <a:lumMod val="95000"/>
        </a:schemeClr>
      </a:solidFill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0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ysClr val="windowText" lastClr="000000"/>
                </a:solidFill>
              </a:rPr>
              <a:t>Top</a:t>
            </a:r>
            <a:r>
              <a:rPr lang="en-US" sz="1000" b="1" baseline="0" dirty="0">
                <a:solidFill>
                  <a:sysClr val="windowText" lastClr="000000"/>
                </a:solidFill>
              </a:rPr>
              <a:t> 5  models</a:t>
            </a:r>
            <a:endParaRPr lang="en-US" sz="1000" b="1" dirty="0">
              <a:solidFill>
                <a:sysClr val="windowText" lastClr="000000"/>
              </a:solidFill>
            </a:endParaRPr>
          </a:p>
        </c:rich>
      </c:tx>
      <c:layout>
        <c:manualLayout>
          <c:xMode val="edge"/>
          <c:yMode val="edge"/>
          <c:x val="0.399279318313114"/>
          <c:y val="0.0195640000831855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511663929435721"/>
          <c:y val="0.191288949458241"/>
          <c:w val="0.973010635509768"/>
          <c:h val="0.5172042196648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'Current month'!$G$33</c:f>
              <c:strCache>
                <c:ptCount val="1"/>
                <c:pt idx="0">
                  <c:v>HFPA DR%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'Current month'!$D$34:$D$38</c:f>
              <c:strCache>
                <c:ptCount val="5"/>
                <c:pt idx="0">
                  <c:v>NIKE INITIATOR (MS/WS)</c:v>
                </c:pt>
                <c:pt idx="1">
                  <c:v>NIKE EBERNON LOW (MS/WS)</c:v>
                </c:pt>
                <c:pt idx="2">
                  <c:v>NIKE AIR MAX SC (MS/WS)</c:v>
                </c:pt>
                <c:pt idx="3">
                  <c:v>NIKE COURT VISION LOW (MS/WS)</c:v>
                </c:pt>
                <c:pt idx="4">
                  <c:v>NIKE AIR MAX MOTION 2 (MS/WS)</c:v>
                </c:pt>
              </c:strCache>
            </c:strRef>
          </c:cat>
          <c:val>
            <c:numRef>
              <c:f>'Current month'!$G$34:$G$38</c:f>
              <c:numCache>
                <c:formatCode>0.00%</c:formatCode>
                <c:ptCount val="5"/>
                <c:pt idx="0">
                  <c:v>0.031774</c:v>
                </c:pt>
                <c:pt idx="1">
                  <c:v>0.019854</c:v>
                </c:pt>
                <c:pt idx="2">
                  <c:v>0.013731</c:v>
                </c:pt>
                <c:pt idx="3">
                  <c:v>0.007499</c:v>
                </c:pt>
                <c:pt idx="4">
                  <c:v>0.006691</c:v>
                </c:pt>
              </c:numCache>
            </c:numRef>
          </c:val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/>
              <a:lstStyle/>
              <a:p>
                <a:pPr>
                  <a:defRPr lang="en-US" sz="75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outEnd"/>
            <c:showVal val="1"/>
            <c:showLegendKey val="0"/>
            <c:showCatName val="0"/>
            <c:showSerName val="0"/>
            <c:showPercent val="0"/>
            <c:showBubbleSize val="0"/>
            <c:showLeaderLines val="0"/>
          </c:dLbls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axId val="-1252564544"/>
        <c:axId val="-1252543328"/>
      </c:barChart>
      <c:catAx>
        <c:axId val="-12525645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-1252543328"/>
        <c:crosses val="autoZero"/>
        <c:auto val="1"/>
        <c:lblAlgn val="ctr"/>
        <c:lblOffset val="100"/>
        <c:noMultiLvlLbl val="0"/>
      </c:catAx>
      <c:valAx>
        <c:axId val="-1252543328"/>
        <c:scaling>
          <c:orientation val="minMax"/>
          <c:max val="0.05"/>
          <c:min val="0"/>
        </c:scaling>
        <c:delete val="0"/>
        <c:axPos val="l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125256454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560035532839097"/>
          <c:y val="0.0152760952957803"/>
          <c:w val="0.166350867760473"/>
          <c:h val="0.1674118860142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>
      <a:solidFill>
        <a:schemeClr val="bg1">
          <a:lumMod val="95000"/>
        </a:schemeClr>
      </a:solidFill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0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ysClr val="windowText" lastClr="000000"/>
                </a:solidFill>
              </a:rPr>
              <a:t>Top</a:t>
            </a:r>
            <a:r>
              <a:rPr lang="en-US" sz="1000" b="1" baseline="0" dirty="0">
                <a:solidFill>
                  <a:sysClr val="windowText" lastClr="000000"/>
                </a:solidFill>
              </a:rPr>
              <a:t> 5  models</a:t>
            </a:r>
            <a:endParaRPr lang="en-US" sz="1000" b="1" dirty="0">
              <a:solidFill>
                <a:sysClr val="windowText" lastClr="000000"/>
              </a:solidFill>
            </a:endParaRPr>
          </a:p>
        </c:rich>
      </c:tx>
      <c:layout>
        <c:manualLayout>
          <c:xMode val="edge"/>
          <c:yMode val="edge"/>
          <c:x val="0.40539331792798"/>
          <c:y val="0.029346000124778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116907901132242"/>
          <c:y val="0.329859070787793"/>
          <c:w val="0.977968488588049"/>
          <c:h val="0.38733579477938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'Current month'!$G$39</c:f>
              <c:strCache>
                <c:ptCount val="1"/>
                <c:pt idx="0">
                  <c:v>HFPA DR%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'Current month'!$D$40:$D$44</c:f>
              <c:strCache>
                <c:ptCount val="5"/>
                <c:pt idx="0">
                  <c:v>NIKE COURT VISION LOW (MS/WS)</c:v>
                </c:pt>
                <c:pt idx="1">
                  <c:v>AIR JORDAN 1 MID SE (GS)</c:v>
                </c:pt>
                <c:pt idx="2">
                  <c:v>JORDAN 1 MID SE (PS/TD)</c:v>
                </c:pt>
                <c:pt idx="3">
                  <c:v>NIKE INITIATOR (MS/WS)</c:v>
                </c:pt>
                <c:pt idx="4">
                  <c:v>AIR JORDAN 1 LOW (MS/WS)</c:v>
                </c:pt>
              </c:strCache>
            </c:strRef>
          </c:cat>
          <c:val>
            <c:numRef>
              <c:f>'Current month'!$G$40:$G$44</c:f>
              <c:numCache>
                <c:formatCode>0.00%</c:formatCode>
                <c:ptCount val="5"/>
                <c:pt idx="0">
                  <c:v>0.009948</c:v>
                </c:pt>
                <c:pt idx="1">
                  <c:v>0.006282</c:v>
                </c:pt>
                <c:pt idx="2">
                  <c:v>0.006121</c:v>
                </c:pt>
                <c:pt idx="3">
                  <c:v>0.006035</c:v>
                </c:pt>
                <c:pt idx="4">
                  <c:v>0.004717</c:v>
                </c:pt>
              </c:numCache>
            </c:numRef>
          </c:val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/>
              <a:lstStyle/>
              <a:p>
                <a:pPr>
                  <a:defRPr lang="en-US" sz="75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outEnd"/>
            <c:showVal val="1"/>
            <c:showLegendKey val="0"/>
            <c:showCatName val="0"/>
            <c:showSerName val="0"/>
            <c:showPercent val="0"/>
            <c:showBubbleSize val="0"/>
            <c:showLeaderLines val="0"/>
          </c:dLbls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axId val="-1252551488"/>
        <c:axId val="-1252536256"/>
      </c:barChart>
      <c:catAx>
        <c:axId val="-12525514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-1252536256"/>
        <c:crosses val="autoZero"/>
        <c:auto val="1"/>
        <c:lblAlgn val="ctr"/>
        <c:lblOffset val="100"/>
        <c:noMultiLvlLbl val="0"/>
      </c:catAx>
      <c:valAx>
        <c:axId val="-1252536256"/>
        <c:scaling>
          <c:orientation val="minMax"/>
          <c:max val="0.05"/>
          <c:min val="0"/>
        </c:scaling>
        <c:delete val="0"/>
        <c:axPos val="l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1252551488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600645231846019"/>
          <c:y val="0.0259601924759405"/>
          <c:w val="0.166350867760473"/>
          <c:h val="0.1674118860142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>
      <a:solidFill>
        <a:schemeClr val="bg1">
          <a:lumMod val="95000"/>
        </a:schemeClr>
      </a:solidFill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00" b="1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chemeClr val="tx1"/>
                </a:solidFill>
              </a:rPr>
              <a:t>HFPA</a:t>
            </a:r>
            <a:r>
              <a:rPr lang="en-US" sz="1000" b="1" baseline="0" dirty="0">
                <a:solidFill>
                  <a:schemeClr val="tx1"/>
                </a:solidFill>
              </a:rPr>
              <a:t> Analysis</a:t>
            </a:r>
            <a:endParaRPr lang="en-US" sz="1000" b="1" dirty="0">
              <a:solidFill>
                <a:schemeClr val="tx1"/>
              </a:solidFill>
            </a:endParaRP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"/>
          <c:y val="0.327295025621797"/>
          <c:w val="0.993833016041199"/>
          <c:h val="0.6503786507124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month'!$B$2</c:f>
              <c:strCache>
                <c:ptCount val="1"/>
                <c:pt idx="0">
                  <c:v>Total pair produced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month'!$C$2:$H$2</c:f>
              <c:numCache>
                <c:formatCode>#,##0</c:formatCode>
                <c:ptCount val="6"/>
                <c:pt idx="0">
                  <c:v>271598.0</c:v>
                </c:pt>
                <c:pt idx="1">
                  <c:v>187596.0</c:v>
                </c:pt>
                <c:pt idx="2">
                  <c:v>260599.0</c:v>
                </c:pt>
                <c:pt idx="3">
                  <c:v>237958.0</c:v>
                </c:pt>
                <c:pt idx="4">
                  <c:v>235755.0</c:v>
                </c:pt>
                <c:pt idx="5">
                  <c:v>229614.0</c:v>
                </c:pt>
              </c:numCache>
            </c:numRef>
          </c:val>
        </c:ser>
        <c:ser>
          <c:idx val="1"/>
          <c:order val="1"/>
          <c:tx>
            <c:strRef>
              <c:f>'Current month'!$B$9</c:f>
              <c:strCache>
                <c:ptCount val="1"/>
                <c:pt idx="0">
                  <c:v>Defect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1483478489892e-7"/>
                  <c:y val="-0.0547189640242462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960493827160494"/>
                      <c:h val="0.157268883056285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"/>
                  <c:y val="-0.070302290797449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month'!$C$9:$H$9</c:f>
              <c:numCache>
                <c:formatCode>#,##0</c:formatCode>
                <c:ptCount val="6"/>
                <c:pt idx="0">
                  <c:v>41519.0</c:v>
                </c:pt>
                <c:pt idx="1">
                  <c:v>28653.0</c:v>
                </c:pt>
                <c:pt idx="2">
                  <c:v>40780.0</c:v>
                </c:pt>
                <c:pt idx="3">
                  <c:v>37189.0</c:v>
                </c:pt>
                <c:pt idx="4">
                  <c:v>36868.0</c:v>
                </c:pt>
                <c:pt idx="5">
                  <c:v>35819.0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736416543"/>
        <c:axId val="1736414879"/>
      </c:barChart>
      <c:lineChart>
        <c:grouping val="standard"/>
        <c:varyColors val="0"/>
        <c:ser>
          <c:idx val="2"/>
          <c:order val="2"/>
          <c:tx>
            <c:strRef>
              <c:f>'Current month'!$B$16</c:f>
              <c:strCache>
                <c:ptCount val="1"/>
                <c:pt idx="0">
                  <c:v>HFPA%</c:v>
                </c:pt>
              </c:strCache>
            </c:strRef>
          </c:tx>
          <c:spPr>
            <a:ln w="2540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/>
              </a:solidFill>
              <a:ln w="19050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smooth val="0"/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month'!$C$16:$H$16</c:f>
              <c:numCache>
                <c:formatCode>0.00%</c:formatCode>
                <c:ptCount val="6"/>
                <c:pt idx="0">
                  <c:v>0.8471306857929735</c:v>
                </c:pt>
                <c:pt idx="1">
                  <c:v>0.8472622017527026</c:v>
                </c:pt>
                <c:pt idx="2">
                  <c:v>0.8435143649822141</c:v>
                </c:pt>
                <c:pt idx="3">
                  <c:v>0.8437161179703981</c:v>
                </c:pt>
                <c:pt idx="4">
                  <c:v>0.8436173145850565</c:v>
                </c:pt>
                <c:pt idx="5">
                  <c:v>0.8440034144259496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36331263"/>
        <c:axId val="1736323775"/>
      </c:lineChart>
      <c:catAx>
        <c:axId val="17364165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736414879"/>
        <c:crosses val="autoZero"/>
        <c:auto val="1"/>
        <c:lblAlgn val="ctr"/>
        <c:lblOffset val="100"/>
        <c:noMultiLvlLbl val="0"/>
      </c:catAx>
      <c:valAx>
        <c:axId val="1736414879"/>
        <c:scaling>
          <c:orientation val="minMax"/>
          <c:max val="650000"/>
        </c:scaling>
        <c:delete val="0"/>
        <c:axPos val="l"/>
        <c:numFmt formatCode="#,##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416543"/>
        <c:crosses val="autoZero"/>
        <c:crossBetween val="between"/>
      </c:valAx>
      <c:catAx>
        <c:axId val="173633126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23775"/>
        <c:crosses val="autoZero"/>
        <c:auto val="1"/>
        <c:lblAlgn val="ctr"/>
        <c:lblOffset val="100"/>
        <c:noMultiLvlLbl val="0"/>
      </c:catAx>
      <c:valAx>
        <c:axId val="1736323775"/>
        <c:scaling>
          <c:orientation val="minMax"/>
          <c:min val="0"/>
        </c:scaling>
        <c:delete val="0"/>
        <c:axPos val="r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31263"/>
        <c:crosses val="max"/>
        <c:crossBetween val="between"/>
      </c:valAx>
      <c:spPr>
        <a:noFill/>
        <a:ln>
          <a:noFill/>
        </a:ln>
        <a:effectLst>
          <a:glow rad="101600">
            <a:srgbClr val="A5A5A5">
              <a:satMod val="175000"/>
              <a:alpha val="40000"/>
            </a:srgbClr>
          </a:glow>
        </a:effectLst>
      </c:spPr>
    </c:plotArea>
    <c:legend>
      <c:legendPos val="b"/>
      <c:layout>
        <c:manualLayout>
          <c:xMode val="edge"/>
          <c:yMode val="edge"/>
          <c:x val="0.00836286089238847"/>
          <c:y val="0.0200414977771176"/>
          <c:w val="0.258274059492563"/>
          <c:h val="0.1884116536418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500" b="0" i="0" u="none" strike="noStrike" kern="1200" baseline="0">
              <a:solidFill>
                <a:schemeClr val="bg2">
                  <a:lumMod val="10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00" b="1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chemeClr val="tx1"/>
                </a:solidFill>
              </a:rPr>
              <a:t>HFPA</a:t>
            </a:r>
            <a:r>
              <a:rPr lang="en-US" sz="1000" b="1" baseline="0" dirty="0">
                <a:solidFill>
                  <a:schemeClr val="tx1"/>
                </a:solidFill>
              </a:rPr>
              <a:t> Analysis</a:t>
            </a:r>
            <a:endParaRPr lang="en-US" sz="1000" b="1" dirty="0">
              <a:solidFill>
                <a:schemeClr val="tx1"/>
              </a:solidFill>
            </a:endParaRP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"/>
          <c:y val="0.325837323394034"/>
          <c:w val="0.993833016041199"/>
          <c:h val="0.47223924394088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month'!$B$3</c:f>
              <c:strCache>
                <c:ptCount val="1"/>
                <c:pt idx="0">
                  <c:v>Total pair produced</c:v>
                </c:pt>
              </c:strCache>
            </c:strRef>
          </c:tx>
          <c:spPr>
            <a:solidFill>
              <a:srgbClr val="4472C4"/>
            </a:solidFill>
            <a:ln>
              <a:solidFill>
                <a:srgbClr val="5B9BD5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month'!$C$3:$H$3</c:f>
              <c:numCache>
                <c:formatCode>#,##0</c:formatCode>
                <c:ptCount val="6"/>
                <c:pt idx="0">
                  <c:v>215017.0</c:v>
                </c:pt>
                <c:pt idx="1">
                  <c:v>142829.0</c:v>
                </c:pt>
                <c:pt idx="2">
                  <c:v>198311.0</c:v>
                </c:pt>
                <c:pt idx="3">
                  <c:v>197716.0</c:v>
                </c:pt>
                <c:pt idx="4">
                  <c:v>202479.0</c:v>
                </c:pt>
                <c:pt idx="5">
                  <c:v>187587.0</c:v>
                </c:pt>
              </c:numCache>
            </c:numRef>
          </c:val>
        </c:ser>
        <c:ser>
          <c:idx val="1"/>
          <c:order val="1"/>
          <c:tx>
            <c:strRef>
              <c:f>'Current month'!$B$10</c:f>
              <c:strCache>
                <c:ptCount val="1"/>
                <c:pt idx="0">
                  <c:v>Defect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month'!$C$10:$H$10</c:f>
              <c:numCache>
                <c:formatCode>#,##0</c:formatCode>
                <c:ptCount val="6"/>
                <c:pt idx="0">
                  <c:v>20033.0</c:v>
                </c:pt>
                <c:pt idx="1">
                  <c:v>19126.0</c:v>
                </c:pt>
                <c:pt idx="2">
                  <c:v>27189.0</c:v>
                </c:pt>
                <c:pt idx="3">
                  <c:v>27481.0</c:v>
                </c:pt>
                <c:pt idx="4">
                  <c:v>29000.0</c:v>
                </c:pt>
                <c:pt idx="5">
                  <c:v>26824.0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736416543"/>
        <c:axId val="1736414879"/>
      </c:barChart>
      <c:lineChart>
        <c:grouping val="standard"/>
        <c:varyColors val="0"/>
        <c:ser>
          <c:idx val="2"/>
          <c:order val="2"/>
          <c:tx>
            <c:strRef>
              <c:f>'Current month'!$B$17</c:f>
              <c:strCache>
                <c:ptCount val="1"/>
                <c:pt idx="0">
                  <c:v>HFPA%</c:v>
                </c:pt>
              </c:strCache>
            </c:strRef>
          </c:tx>
          <c:spPr>
            <a:ln w="2540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/>
              </a:solidFill>
              <a:ln w="19050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smooth val="0"/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month'!$C$17:$H$17</c:f>
              <c:numCache>
                <c:formatCode>0.00%</c:formatCode>
                <c:ptCount val="6"/>
                <c:pt idx="0">
                  <c:v>0.9068306226949497</c:v>
                </c:pt>
                <c:pt idx="1">
                  <c:v>0.8660916200491497</c:v>
                </c:pt>
                <c:pt idx="2">
                  <c:v>0.862897166571698</c:v>
                </c:pt>
                <c:pt idx="3">
                  <c:v>0.861007708025653</c:v>
                </c:pt>
                <c:pt idx="4">
                  <c:v>0.8567752705218813</c:v>
                </c:pt>
                <c:pt idx="5">
                  <c:v>0.8570050163390853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736331263"/>
        <c:axId val="1736323775"/>
      </c:lineChart>
      <c:catAx>
        <c:axId val="17364165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736414879"/>
        <c:crosses val="autoZero"/>
        <c:auto val="1"/>
        <c:lblAlgn val="ctr"/>
        <c:lblOffset val="100"/>
        <c:noMultiLvlLbl val="0"/>
      </c:catAx>
      <c:valAx>
        <c:axId val="1736414879"/>
        <c:scaling>
          <c:orientation val="minMax"/>
          <c:max val="650000"/>
          <c:min val="0"/>
        </c:scaling>
        <c:delete val="0"/>
        <c:axPos val="l"/>
        <c:numFmt formatCode="#,##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416543"/>
        <c:crosses val="autoZero"/>
        <c:crossBetween val="between"/>
      </c:valAx>
      <c:catAx>
        <c:axId val="173633126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23775"/>
        <c:crosses val="autoZero"/>
        <c:auto val="1"/>
        <c:lblAlgn val="ctr"/>
        <c:lblOffset val="100"/>
        <c:noMultiLvlLbl val="0"/>
      </c:catAx>
      <c:valAx>
        <c:axId val="1736323775"/>
        <c:scaling>
          <c:orientation val="minMax"/>
          <c:min val="0"/>
        </c:scaling>
        <c:delete val="0"/>
        <c:axPos val="r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31263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00836286089238847"/>
          <c:y val="0.0200414977771176"/>
          <c:w val="0.258274059492563"/>
          <c:h val="0.18825048802461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5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00" b="1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chemeClr val="tx1"/>
                </a:solidFill>
              </a:rPr>
              <a:t>HFPA</a:t>
            </a:r>
            <a:r>
              <a:rPr lang="en-US" sz="1000" b="1" baseline="0" dirty="0">
                <a:solidFill>
                  <a:schemeClr val="tx1"/>
                </a:solidFill>
              </a:rPr>
              <a:t> Analysis</a:t>
            </a:r>
            <a:endParaRPr lang="en-US" sz="1000" b="1" dirty="0">
              <a:solidFill>
                <a:schemeClr val="tx1"/>
              </a:solidFill>
            </a:endParaRP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"/>
          <c:y val="0.384331474612494"/>
          <c:w val="0.990749524061799"/>
          <c:h val="0.43513028445798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month'!$B$4</c:f>
              <c:strCache>
                <c:ptCount val="1"/>
                <c:pt idx="0">
                  <c:v>Total pair produced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month'!$C$4:$H$4</c:f>
              <c:numCache>
                <c:formatCode>#,##0</c:formatCode>
                <c:ptCount val="6"/>
                <c:pt idx="0">
                  <c:v>113263.0</c:v>
                </c:pt>
                <c:pt idx="1">
                  <c:v>109373.0</c:v>
                </c:pt>
                <c:pt idx="2">
                  <c:v>77577.0</c:v>
                </c:pt>
                <c:pt idx="3">
                  <c:v>128553.0</c:v>
                </c:pt>
                <c:pt idx="4">
                  <c:v>94006.0</c:v>
                </c:pt>
                <c:pt idx="5">
                  <c:v>91617.0</c:v>
                </c:pt>
              </c:numCache>
            </c:numRef>
          </c:val>
        </c:ser>
        <c:ser>
          <c:idx val="1"/>
          <c:order val="1"/>
          <c:tx>
            <c:strRef>
              <c:f>'Current month'!$B$11</c:f>
              <c:strCache>
                <c:ptCount val="1"/>
                <c:pt idx="0">
                  <c:v>Defect</c:v>
                </c:pt>
              </c:strCache>
            </c:strRef>
          </c:tx>
          <c:spPr>
            <a:solidFill>
              <a:srgbClr val="F7964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month'!$C$11:$H$11</c:f>
              <c:numCache>
                <c:formatCode>#,##0</c:formatCode>
                <c:ptCount val="6"/>
                <c:pt idx="0">
                  <c:v>7879.0</c:v>
                </c:pt>
                <c:pt idx="1">
                  <c:v>9713.0</c:v>
                </c:pt>
                <c:pt idx="2">
                  <c:v>6825.0</c:v>
                </c:pt>
                <c:pt idx="3">
                  <c:v>12512.0</c:v>
                </c:pt>
                <c:pt idx="4">
                  <c:v>9320.0</c:v>
                </c:pt>
                <c:pt idx="5">
                  <c:v>9379.0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736416543"/>
        <c:axId val="1736414879"/>
      </c:barChart>
      <c:lineChart>
        <c:grouping val="standard"/>
        <c:varyColors val="0"/>
        <c:ser>
          <c:idx val="2"/>
          <c:order val="2"/>
          <c:tx>
            <c:strRef>
              <c:f>'Current month'!$B$18</c:f>
              <c:strCache>
                <c:ptCount val="1"/>
                <c:pt idx="0">
                  <c:v>HFPA%</c:v>
                </c:pt>
              </c:strCache>
            </c:strRef>
          </c:tx>
          <c:spPr>
            <a:ln w="2540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/>
              </a:solidFill>
              <a:ln w="19050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smooth val="0"/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month'!$C$18:$H$18</c:f>
              <c:numCache>
                <c:formatCode>0.00%</c:formatCode>
                <c:ptCount val="6"/>
                <c:pt idx="0">
                  <c:v>0.9304362413144628</c:v>
                </c:pt>
                <c:pt idx="1">
                  <c:v>0.9111938046867143</c:v>
                </c:pt>
                <c:pt idx="2">
                  <c:v>0.9120228933833482</c:v>
                </c:pt>
                <c:pt idx="3">
                  <c:v>0.9026704938819008</c:v>
                </c:pt>
                <c:pt idx="4">
                  <c:v>0.9008573920813565</c:v>
                </c:pt>
                <c:pt idx="5">
                  <c:v>0.8976281694445354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736331263"/>
        <c:axId val="1736323775"/>
      </c:lineChart>
      <c:catAx>
        <c:axId val="17364165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736414879"/>
        <c:crosses val="autoZero"/>
        <c:auto val="1"/>
        <c:lblAlgn val="ctr"/>
        <c:lblOffset val="100"/>
        <c:noMultiLvlLbl val="0"/>
      </c:catAx>
      <c:valAx>
        <c:axId val="1736414879"/>
        <c:scaling>
          <c:orientation val="minMax"/>
          <c:max val="310000"/>
          <c:min val="0"/>
        </c:scaling>
        <c:delete val="0"/>
        <c:axPos val="l"/>
        <c:numFmt formatCode="#,##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416543"/>
        <c:crosses val="autoZero"/>
        <c:crossBetween val="between"/>
      </c:valAx>
      <c:catAx>
        <c:axId val="173633126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23775"/>
        <c:crosses val="autoZero"/>
        <c:auto val="1"/>
        <c:lblAlgn val="ctr"/>
        <c:lblOffset val="100"/>
        <c:noMultiLvlLbl val="0"/>
      </c:catAx>
      <c:valAx>
        <c:axId val="1736323775"/>
        <c:scaling>
          <c:orientation val="minMax"/>
          <c:min val="0"/>
        </c:scaling>
        <c:delete val="0"/>
        <c:axPos val="r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31263"/>
        <c:crosses val="max"/>
        <c:crossBetween val="between"/>
      </c:valAx>
      <c:spPr>
        <a:solidFill>
          <a:sysClr val="window" lastClr="FFFFFF"/>
        </a:solidFill>
        <a:ln>
          <a:solidFill>
            <a:sysClr val="window" lastClr="FFFFFF"/>
          </a:solidFill>
        </a:ln>
        <a:effectLst/>
      </c:spPr>
    </c:plotArea>
    <c:legend>
      <c:legendPos val="b"/>
      <c:layout>
        <c:manualLayout>
          <c:xMode val="edge"/>
          <c:yMode val="edge"/>
          <c:x val="0.00836286089238847"/>
          <c:y val="0.0200414977771176"/>
          <c:w val="0.258274059492563"/>
          <c:h val="0.20732132329460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5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00" b="1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dirty="0">
                <a:solidFill>
                  <a:schemeClr val="tx1"/>
                </a:solidFill>
              </a:rPr>
              <a:t>HFPA</a:t>
            </a:r>
            <a:r>
              <a:rPr lang="en-US" sz="1000" b="1" baseline="0" dirty="0">
                <a:solidFill>
                  <a:schemeClr val="tx1"/>
                </a:solidFill>
              </a:rPr>
              <a:t> Analysis</a:t>
            </a:r>
            <a:endParaRPr lang="en-US" sz="1000" b="1" dirty="0">
              <a:solidFill>
                <a:schemeClr val="tx1"/>
              </a:solidFill>
            </a:endParaRP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"/>
          <c:y val="0.364745300898347"/>
          <c:w val="0.993833016041199"/>
          <c:h val="0.441611661580896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month'!$B$5</c:f>
              <c:strCache>
                <c:ptCount val="1"/>
                <c:pt idx="0">
                  <c:v>Total pair produced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month'!$C$5:$H$5</c:f>
              <c:numCache>
                <c:formatCode>#,##0</c:formatCode>
                <c:ptCount val="6"/>
                <c:pt idx="0">
                  <c:v>104684.0</c:v>
                </c:pt>
                <c:pt idx="1">
                  <c:v>104216.0</c:v>
                </c:pt>
                <c:pt idx="2">
                  <c:v>81867.0</c:v>
                </c:pt>
                <c:pt idx="3">
                  <c:v>116571.0</c:v>
                </c:pt>
                <c:pt idx="4">
                  <c:v>96194.0</c:v>
                </c:pt>
                <c:pt idx="5">
                  <c:v>93287.0</c:v>
                </c:pt>
              </c:numCache>
            </c:numRef>
          </c:val>
        </c:ser>
        <c:ser>
          <c:idx val="1"/>
          <c:order val="1"/>
          <c:tx>
            <c:strRef>
              <c:f>'Current month'!$B$12</c:f>
              <c:strCache>
                <c:ptCount val="1"/>
                <c:pt idx="0">
                  <c:v>Defect</c:v>
                </c:pt>
              </c:strCache>
            </c:strRef>
          </c:tx>
          <c:spPr>
            <a:solidFill>
              <a:srgbClr val="F7964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month'!$C$12:$H$12</c:f>
              <c:numCache>
                <c:formatCode>#,##0</c:formatCode>
                <c:ptCount val="6"/>
                <c:pt idx="0">
                  <c:v>6002.0</c:v>
                </c:pt>
                <c:pt idx="1">
                  <c:v>5889.0</c:v>
                </c:pt>
                <c:pt idx="2">
                  <c:v>4640.0</c:v>
                </c:pt>
                <c:pt idx="3">
                  <c:v>6632.0</c:v>
                </c:pt>
                <c:pt idx="4">
                  <c:v>5652.0</c:v>
                </c:pt>
                <c:pt idx="5">
                  <c:v>5475.0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736416543"/>
        <c:axId val="1736414879"/>
      </c:barChart>
      <c:lineChart>
        <c:grouping val="standard"/>
        <c:varyColors val="0"/>
        <c:ser>
          <c:idx val="2"/>
          <c:order val="2"/>
          <c:tx>
            <c:strRef>
              <c:f>'Current month'!$B$19</c:f>
              <c:strCache>
                <c:ptCount val="1"/>
                <c:pt idx="0">
                  <c:v>HFPA%</c:v>
                </c:pt>
              </c:strCache>
            </c:strRef>
          </c:tx>
          <c:spPr>
            <a:ln w="2540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/>
              </a:solidFill>
              <a:ln w="19050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smooth val="0"/>
          <c:cat>
            <c:strRef>
              <c:f>'Current month'!$C$1:$H$1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'Current month'!$C$19:$H$19</c:f>
              <c:numCache>
                <c:formatCode>0.00%</c:formatCode>
                <c:ptCount val="6"/>
                <c:pt idx="0">
                  <c:v>0.9426655458331741</c:v>
                </c:pt>
                <c:pt idx="1">
                  <c:v>0.9434923620173485</c:v>
                </c:pt>
                <c:pt idx="2">
                  <c:v>0.9433227063407722</c:v>
                </c:pt>
                <c:pt idx="3">
                  <c:v>0.9431076339741445</c:v>
                </c:pt>
                <c:pt idx="4">
                  <c:v>0.9412437366155894</c:v>
                </c:pt>
                <c:pt idx="5">
                  <c:v>0.9413101503960895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736331263"/>
        <c:axId val="1736323775"/>
      </c:lineChart>
      <c:catAx>
        <c:axId val="17364165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736414879"/>
        <c:crosses val="autoZero"/>
        <c:auto val="1"/>
        <c:lblAlgn val="ctr"/>
        <c:lblOffset val="100"/>
        <c:noMultiLvlLbl val="0"/>
      </c:catAx>
      <c:valAx>
        <c:axId val="1736414879"/>
        <c:scaling>
          <c:orientation val="minMax"/>
          <c:max val="310000"/>
          <c:min val="0"/>
        </c:scaling>
        <c:delete val="0"/>
        <c:axPos val="l"/>
        <c:numFmt formatCode="#,##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416543"/>
        <c:crosses val="autoZero"/>
        <c:crossBetween val="between"/>
      </c:valAx>
      <c:catAx>
        <c:axId val="173633126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23775"/>
        <c:crosses val="autoZero"/>
        <c:auto val="1"/>
        <c:lblAlgn val="ctr"/>
        <c:lblOffset val="100"/>
        <c:noMultiLvlLbl val="0"/>
      </c:catAx>
      <c:valAx>
        <c:axId val="1736323775"/>
        <c:scaling>
          <c:orientation val="minMax"/>
          <c:min val="0"/>
        </c:scaling>
        <c:delete val="0"/>
        <c:axPos val="r"/>
        <c:numFmt formatCode="0.00%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736331263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00836286089238847"/>
          <c:y val="0.0200414977771176"/>
          <c:w val="0.258274059492563"/>
          <c:h val="0.21709750121586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5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lang="en-US" sz="1000" b="0" i="0" u="none" strike="noStrike" kern="1200" spc="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r>
              <a:rPr lang="en-US" sz="1000" b="1" i="0" baseline="0" dirty="0">
                <a:solidFill>
                  <a:sysClr val="windowText" lastClr="000000"/>
                </a:solidFill>
                <a:effectLst/>
              </a:rPr>
              <a:t>Top defect of top models </a:t>
            </a:r>
            <a:endParaRPr lang="en-US" sz="1000" dirty="0">
              <a:solidFill>
                <a:sysClr val="windowText" lastClr="000000"/>
              </a:solidFill>
              <a:effectLst/>
            </a:endParaRPr>
          </a:p>
        </c:rich>
      </c:tx>
      <c:layout>
        <c:manualLayout>
          <c:xMode val="edge"/>
          <c:yMode val="edge"/>
          <c:x val="0.324487934097756"/>
          <c:y val="0.0401121734783152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173296840486873"/>
          <c:y val="0.167221369668416"/>
          <c:w val="1"/>
          <c:h val="0.62629878698427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month'!$M$21</c:f>
              <c:strCache>
                <c:ptCount val="1"/>
                <c:pt idx="0">
                  <c:v>Cleanness</c:v>
                </c:pt>
              </c:strCache>
            </c:strRef>
          </c:tx>
          <c:spPr>
            <a:solidFill>
              <a:srgbClr val="10253F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month'!$L$22:$L$26</c:f>
              <c:strCache>
                <c:ptCount val="5"/>
                <c:pt idx="0">
                  <c:v>NIKE AIR WINFLO 12 (MS/WS)</c:v>
                </c:pt>
                <c:pt idx="1">
                  <c:v>JORDAN SPIZIKE LOW (GS)</c:v>
                </c:pt>
                <c:pt idx="2">
                  <c:v>NIKE SB FORCE 58</c:v>
                </c:pt>
                <c:pt idx="3">
                  <c:v>AIR JORDAN 1 LOW SE (MS/WS)</c:v>
                </c:pt>
                <c:pt idx="4">
                  <c:v>WMNS BENASSI JDI</c:v>
                </c:pt>
              </c:strCache>
            </c:strRef>
          </c:cat>
          <c:val>
            <c:numRef>
              <c:f>'Current month'!$M$22:$M$26</c:f>
              <c:numCache>
                <c:formatCode>0.00%</c:formatCode>
                <c:ptCount val="5"/>
                <c:pt idx="0">
                  <c:v>0.146748</c:v>
                </c:pt>
                <c:pt idx="1">
                  <c:v>0.180101</c:v>
                </c:pt>
                <c:pt idx="2">
                  <c:v>0.220952</c:v>
                </c:pt>
                <c:pt idx="3">
                  <c:v>0.172078</c:v>
                </c:pt>
                <c:pt idx="4">
                  <c:v>0.206529</c:v>
                </c:pt>
              </c:numCache>
            </c:numRef>
          </c:val>
        </c:ser>
        <c:ser>
          <c:idx val="1"/>
          <c:order val="1"/>
          <c:tx>
            <c:strRef>
              <c:f>'Current month'!$N$21</c:f>
              <c:strCache>
                <c:ptCount val="1"/>
                <c:pt idx="0">
                  <c:v>Over cement</c:v>
                </c:pt>
              </c:strCache>
            </c:strRef>
          </c:tx>
          <c:spPr>
            <a:solidFill>
              <a:srgbClr val="4F6228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month'!$L$22:$L$26</c:f>
              <c:strCache>
                <c:ptCount val="5"/>
                <c:pt idx="0">
                  <c:v>NIKE AIR WINFLO 12 (MS/WS)</c:v>
                </c:pt>
                <c:pt idx="1">
                  <c:v>JORDAN SPIZIKE LOW (GS)</c:v>
                </c:pt>
                <c:pt idx="2">
                  <c:v>NIKE SB FORCE 58</c:v>
                </c:pt>
                <c:pt idx="3">
                  <c:v>AIR JORDAN 1 LOW SE (MS/WS)</c:v>
                </c:pt>
                <c:pt idx="4">
                  <c:v>WMNS BENASSI JDI</c:v>
                </c:pt>
              </c:strCache>
            </c:strRef>
          </c:cat>
          <c:val>
            <c:numRef>
              <c:f>'Current month'!$N$22:$N$26</c:f>
              <c:numCache>
                <c:formatCode>0.00%</c:formatCode>
                <c:ptCount val="5"/>
                <c:pt idx="0">
                  <c:v>0.129491</c:v>
                </c:pt>
                <c:pt idx="1">
                  <c:v>0.143577</c:v>
                </c:pt>
                <c:pt idx="2">
                  <c:v>0.235130</c:v>
                </c:pt>
                <c:pt idx="3">
                  <c:v>0.168405</c:v>
                </c:pt>
              </c:numCache>
            </c:numRef>
          </c:val>
        </c:ser>
        <c:ser>
          <c:idx val="2"/>
          <c:order val="2"/>
          <c:tx>
            <c:strRef>
              <c:f>'Current month'!$O$21</c:f>
              <c:strCache>
                <c:ptCount val="1"/>
                <c:pt idx="0">
                  <c:v>Rocking</c:v>
                </c:pt>
              </c:strCache>
            </c:strRef>
          </c:tx>
          <c:spPr>
            <a:solidFill>
              <a:srgbClr val="EAD700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month'!$L$22:$L$26</c:f>
              <c:strCache>
                <c:ptCount val="5"/>
                <c:pt idx="0">
                  <c:v>NIKE AIR WINFLO 12 (MS/WS)</c:v>
                </c:pt>
                <c:pt idx="1">
                  <c:v>JORDAN SPIZIKE LOW (GS)</c:v>
                </c:pt>
                <c:pt idx="2">
                  <c:v>NIKE SB FORCE 58</c:v>
                </c:pt>
                <c:pt idx="3">
                  <c:v>AIR JORDAN 1 LOW SE (MS/WS)</c:v>
                </c:pt>
                <c:pt idx="4">
                  <c:v>WMNS BENASSI JDI</c:v>
                </c:pt>
              </c:strCache>
            </c:strRef>
          </c:cat>
          <c:val>
            <c:numRef>
              <c:f>'Current month'!$O$22:$O$26</c:f>
              <c:numCache>
                <c:formatCode>0.00%</c:formatCode>
                <c:ptCount val="5"/>
                <c:pt idx="3">
                  <c:v>0.126276</c:v>
                </c:pt>
                <c:pt idx="4">
                  <c:v>0.149752</c:v>
                </c:pt>
              </c:numCache>
            </c:numRef>
          </c:val>
        </c:ser>
        <c:ser>
          <c:idx val="3"/>
          <c:order val="3"/>
          <c:tx>
            <c:strRef>
              <c:f>'Current month'!$P$21</c:f>
              <c:strCache>
                <c:ptCount val="1"/>
                <c:pt idx="0">
                  <c:v>Thread end</c:v>
                </c:pt>
              </c:strCache>
            </c:strRef>
          </c:tx>
          <c:spPr>
            <a:solidFill>
              <a:srgbClr val="4F7FBD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month'!$L$22:$L$26</c:f>
              <c:strCache>
                <c:ptCount val="5"/>
                <c:pt idx="0">
                  <c:v>NIKE AIR WINFLO 12 (MS/WS)</c:v>
                </c:pt>
                <c:pt idx="1">
                  <c:v>JORDAN SPIZIKE LOW (GS)</c:v>
                </c:pt>
                <c:pt idx="2">
                  <c:v>NIKE SB FORCE 58</c:v>
                </c:pt>
                <c:pt idx="3">
                  <c:v>AIR JORDAN 1 LOW SE (MS/WS)</c:v>
                </c:pt>
                <c:pt idx="4">
                  <c:v>WMNS BENASSI JDI</c:v>
                </c:pt>
              </c:strCache>
            </c:strRef>
          </c:cat>
          <c:val>
            <c:numRef>
              <c:f>'Current month'!$P$22:$P$26</c:f>
              <c:numCache>
                <c:formatCode>0.00%</c:formatCode>
                <c:ptCount val="5"/>
                <c:pt idx="0">
                  <c:v>0.097844</c:v>
                </c:pt>
                <c:pt idx="1">
                  <c:v>0.154912</c:v>
                </c:pt>
              </c:numCache>
            </c:numRef>
          </c:val>
        </c:ser>
        <c:ser>
          <c:idx val="4"/>
          <c:order val="4"/>
          <c:tx>
            <c:strRef>
              <c:f>'Current month'!$Q$21</c:f>
              <c:strCache>
                <c:ptCount val="1"/>
                <c:pt idx="0">
                  <c:v>Components inconsistent</c:v>
                </c:pt>
              </c:strCache>
            </c:strRef>
          </c:tx>
          <c:spPr>
            <a:solidFill>
              <a:srgbClr val="AC5C95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month'!$L$22:$L$26</c:f>
              <c:strCache>
                <c:ptCount val="5"/>
                <c:pt idx="0">
                  <c:v>NIKE AIR WINFLO 12 (MS/WS)</c:v>
                </c:pt>
                <c:pt idx="1">
                  <c:v>JORDAN SPIZIKE LOW (GS)</c:v>
                </c:pt>
                <c:pt idx="2">
                  <c:v>NIKE SB FORCE 58</c:v>
                </c:pt>
                <c:pt idx="3">
                  <c:v>AIR JORDAN 1 LOW SE (MS/WS)</c:v>
                </c:pt>
                <c:pt idx="4">
                  <c:v>WMNS BENASSI JDI</c:v>
                </c:pt>
              </c:strCache>
            </c:strRef>
          </c:cat>
          <c:val>
            <c:numRef>
              <c:f>'Current month'!$Q$22:$Q$26</c:f>
              <c:numCache>
                <c:formatCode>0.00%</c:formatCode>
                <c:ptCount val="5"/>
                <c:pt idx="2">
                  <c:v>0.126007</c:v>
                </c:pt>
              </c:numCache>
            </c:numRef>
          </c:val>
        </c:ser>
        <c:ser>
          <c:idx val="5"/>
          <c:order val="5"/>
          <c:tx>
            <c:strRef>
              <c:f>'Current month'!$R$21</c:f>
              <c:strCache>
                <c:ptCount val="1"/>
                <c:pt idx="0">
                  <c:v>Midsole/Outsole to upper bond gap</c:v>
                </c:pt>
              </c:strCache>
            </c:strRef>
          </c:tx>
          <c:spPr>
            <a:solidFill>
              <a:srgbClr val="F79646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month'!$L$22:$L$26</c:f>
              <c:strCache>
                <c:ptCount val="5"/>
                <c:pt idx="0">
                  <c:v>NIKE AIR WINFLO 12 (MS/WS)</c:v>
                </c:pt>
                <c:pt idx="1">
                  <c:v>JORDAN SPIZIKE LOW (GS)</c:v>
                </c:pt>
                <c:pt idx="2">
                  <c:v>NIKE SB FORCE 58</c:v>
                </c:pt>
                <c:pt idx="3">
                  <c:v>AIR JORDAN 1 LOW SE (MS/WS)</c:v>
                </c:pt>
                <c:pt idx="4">
                  <c:v>WMNS BENASSI JDI</c:v>
                </c:pt>
              </c:strCache>
            </c:strRef>
          </c:cat>
          <c:val>
            <c:numRef>
              <c:f>'Current month'!$R$22:$R$26</c:f>
              <c:numCache>
                <c:formatCode>0.00%</c:formatCode>
                <c:ptCount val="5"/>
                <c:pt idx="4">
                  <c:v>0.125621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100"/>
        <c:axId val="1454369039"/>
        <c:axId val="1454382351"/>
      </c:barChart>
      <c:catAx>
        <c:axId val="145436903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lang="en-US" sz="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800" u="sng" dirty="0" err="1">
                    <a:solidFill>
                      <a:schemeClr val="tx1"/>
                    </a:solidFill>
                  </a:rPr>
                  <a:t>Firsty</a:t>
                </a:r>
                <a:r>
                  <a:rPr lang="en-US" sz="800" u="sng" baseline="0">
                    <a:solidFill>
                      <a:schemeClr val="tx1"/>
                    </a:solidFill>
                  </a:rPr>
                  <a:t> prority: Cleanness</a:t>
                </a:r>
                <a:endParaRPr lang="en-US" sz="800" u="sng">
                  <a:solidFill>
                    <a:schemeClr val="tx1"/>
                  </a:solidFill>
                </a:endParaRPr>
              </a:p>
            </c:rich>
          </c:tx>
          <c:layout>
            <c:manualLayout>
              <c:xMode val="edge"/>
              <c:yMode val="edge"/>
              <c:x val="0.366725379837851"/>
              <c:y val="0.150663979502562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1454382351"/>
        <c:crosses val="autoZero"/>
        <c:auto val="1"/>
        <c:lblAlgn val="ctr"/>
        <c:lblOffset val="100"/>
        <c:noMultiLvlLbl val="0"/>
      </c:catAx>
      <c:valAx>
        <c:axId val="1454382351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4543690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lang="en-US" sz="10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i="0" baseline="0">
                <a:solidFill>
                  <a:schemeClr val="tx1"/>
                </a:solidFill>
                <a:effectLst/>
              </a:rPr>
              <a:t>Top defect of top models </a:t>
            </a:r>
            <a:endParaRPr lang="en-US" sz="1000">
              <a:solidFill>
                <a:schemeClr val="tx1"/>
              </a:solidFill>
              <a:effectLst/>
            </a:endParaRPr>
          </a:p>
        </c:rich>
      </c:tx>
      <c:layout>
        <c:manualLayout>
          <c:xMode val="edge"/>
          <c:yMode val="edge"/>
          <c:x val="0.324692477911602"/>
          <c:y val="0.029162439089264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53256424342306"/>
          <c:y val="0.288907713580728"/>
          <c:w val="0.990996256281918"/>
          <c:h val="0.458647291972929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month'!$M$21</c:f>
              <c:strCache>
                <c:ptCount val="1"/>
                <c:pt idx="0">
                  <c:v>Cleanness</c:v>
                </c:pt>
              </c:strCache>
            </c:strRef>
          </c:tx>
          <c:spPr>
            <a:solidFill>
              <a:srgbClr val="10253F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month'!$L$28:$L$32</c:f>
              <c:strCache>
                <c:ptCount val="5"/>
                <c:pt idx="0">
                  <c:v>NIKE INITIATOR (MS/WS)</c:v>
                </c:pt>
                <c:pt idx="1">
                  <c:v>NIKE RUN DEFY (MS/WS)</c:v>
                </c:pt>
                <c:pt idx="2">
                  <c:v>NIKE AIR MAX EXCEE (MS/WS)</c:v>
                </c:pt>
                <c:pt idx="3">
                  <c:v>NIKE UPLIFT SC (MS/WS)</c:v>
                </c:pt>
                <c:pt idx="4">
                  <c:v>NIKE AIR MAX SC (MS/WS)</c:v>
                </c:pt>
              </c:strCache>
            </c:strRef>
          </c:cat>
          <c:val>
            <c:numRef>
              <c:f>'Current month'!$M$28:$M$32</c:f>
              <c:numCache>
                <c:formatCode>0.00%</c:formatCode>
                <c:ptCount val="5"/>
                <c:pt idx="0">
                  <c:v>0.139047</c:v>
                </c:pt>
                <c:pt idx="1">
                  <c:v>0.143290</c:v>
                </c:pt>
                <c:pt idx="2">
                  <c:v>0.185542</c:v>
                </c:pt>
                <c:pt idx="3">
                  <c:v>0.157343</c:v>
                </c:pt>
                <c:pt idx="4">
                  <c:v>0.120352</c:v>
                </c:pt>
              </c:numCache>
            </c:numRef>
          </c:val>
        </c:ser>
        <c:ser>
          <c:idx val="1"/>
          <c:order val="1"/>
          <c:tx>
            <c:strRef>
              <c:f>'Current month'!$N$21</c:f>
              <c:strCache>
                <c:ptCount val="1"/>
                <c:pt idx="0">
                  <c:v>Thread end</c:v>
                </c:pt>
              </c:strCache>
            </c:strRef>
          </c:tx>
          <c:spPr>
            <a:solidFill>
              <a:srgbClr val="4F7FBD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month'!$L$28:$L$32</c:f>
              <c:strCache>
                <c:ptCount val="5"/>
                <c:pt idx="0">
                  <c:v>NIKE INITIATOR (MS/WS)</c:v>
                </c:pt>
                <c:pt idx="1">
                  <c:v>NIKE RUN DEFY (MS/WS)</c:v>
                </c:pt>
                <c:pt idx="2">
                  <c:v>NIKE AIR MAX EXCEE (MS/WS)</c:v>
                </c:pt>
                <c:pt idx="3">
                  <c:v>NIKE UPLIFT SC (MS/WS)</c:v>
                </c:pt>
                <c:pt idx="4">
                  <c:v>NIKE AIR MAX SC (MS/WS)</c:v>
                </c:pt>
              </c:strCache>
            </c:strRef>
          </c:cat>
          <c:val>
            <c:numRef>
              <c:f>'Current month'!$N$28:$N$32</c:f>
              <c:numCache>
                <c:formatCode>0.00%</c:formatCode>
                <c:ptCount val="5"/>
                <c:pt idx="0">
                  <c:v>0.093271</c:v>
                </c:pt>
                <c:pt idx="1">
                  <c:v>0.117513</c:v>
                </c:pt>
                <c:pt idx="2">
                  <c:v>0.138813</c:v>
                </c:pt>
                <c:pt idx="4">
                  <c:v>0.121028</c:v>
                </c:pt>
              </c:numCache>
            </c:numRef>
          </c:val>
        </c:ser>
        <c:ser>
          <c:idx val="2"/>
          <c:order val="2"/>
          <c:tx>
            <c:strRef>
              <c:f>'Current month'!$O$21</c:f>
              <c:strCache>
                <c:ptCount val="1"/>
                <c:pt idx="0">
                  <c:v>Over cement</c:v>
                </c:pt>
              </c:strCache>
            </c:strRef>
          </c:tx>
          <c:spPr>
            <a:solidFill>
              <a:srgbClr val="4F6228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month'!$L$28:$L$32</c:f>
              <c:strCache>
                <c:ptCount val="5"/>
                <c:pt idx="0">
                  <c:v>NIKE INITIATOR (MS/WS)</c:v>
                </c:pt>
                <c:pt idx="1">
                  <c:v>NIKE RUN DEFY (MS/WS)</c:v>
                </c:pt>
                <c:pt idx="2">
                  <c:v>NIKE AIR MAX EXCEE (MS/WS)</c:v>
                </c:pt>
                <c:pt idx="3">
                  <c:v>NIKE UPLIFT SC (MS/WS)</c:v>
                </c:pt>
                <c:pt idx="4">
                  <c:v>NIKE AIR MAX SC (MS/WS)</c:v>
                </c:pt>
              </c:strCache>
            </c:strRef>
          </c:cat>
          <c:val>
            <c:numRef>
              <c:f>'Current month'!$O$28:$O$32</c:f>
              <c:numCache>
                <c:formatCode>0.00%</c:formatCode>
                <c:ptCount val="5"/>
                <c:pt idx="0">
                  <c:v>0.115815</c:v>
                </c:pt>
                <c:pt idx="1">
                  <c:v>0.112964</c:v>
                </c:pt>
                <c:pt idx="2">
                  <c:v>0.121495</c:v>
                </c:pt>
                <c:pt idx="3">
                  <c:v>0.096737</c:v>
                </c:pt>
              </c:numCache>
            </c:numRef>
          </c:val>
        </c:ser>
        <c:ser>
          <c:idx val="3"/>
          <c:order val="3"/>
          <c:tx>
            <c:strRef>
              <c:f>'Current month'!$P$21</c:f>
              <c:strCache>
                <c:ptCount val="1"/>
                <c:pt idx="0">
                  <c:v>Airbag quality/stain</c:v>
                </c:pt>
              </c:strCache>
            </c:strRef>
          </c:tx>
          <c:spPr>
            <a:solidFill>
              <a:srgbClr val="59E4B4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month'!$L$28:$L$32</c:f>
              <c:strCache>
                <c:ptCount val="5"/>
                <c:pt idx="0">
                  <c:v>NIKE INITIATOR (MS/WS)</c:v>
                </c:pt>
                <c:pt idx="1">
                  <c:v>NIKE RUN DEFY (MS/WS)</c:v>
                </c:pt>
                <c:pt idx="2">
                  <c:v>NIKE AIR MAX EXCEE (MS/WS)</c:v>
                </c:pt>
                <c:pt idx="3">
                  <c:v>NIKE UPLIFT SC (MS/WS)</c:v>
                </c:pt>
                <c:pt idx="4">
                  <c:v>NIKE AIR MAX SC (MS/WS)</c:v>
                </c:pt>
              </c:strCache>
            </c:strRef>
          </c:cat>
          <c:val>
            <c:numRef>
              <c:f>'Current month'!$P$28:$P$32</c:f>
              <c:numCache>
                <c:formatCode>0.00%</c:formatCode>
                <c:ptCount val="5"/>
                <c:pt idx="4">
                  <c:v>0.114943</c:v>
                </c:pt>
              </c:numCache>
            </c:numRef>
          </c:val>
        </c:ser>
        <c:ser>
          <c:idx val="4"/>
          <c:order val="4"/>
          <c:tx>
            <c:strRef>
              <c:f>'Current month'!$Q$21</c:f>
              <c:strCache>
                <c:ptCount val="1"/>
                <c:pt idx="0">
                  <c:v>Midsole/Outsole to upper bond gap</c:v>
                </c:pt>
              </c:strCache>
            </c:strRef>
          </c:tx>
          <c:spPr>
            <a:solidFill>
              <a:srgbClr val="F79646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month'!$L$28:$L$32</c:f>
              <c:strCache>
                <c:ptCount val="5"/>
                <c:pt idx="0">
                  <c:v>NIKE INITIATOR (MS/WS)</c:v>
                </c:pt>
                <c:pt idx="1">
                  <c:v>NIKE RUN DEFY (MS/WS)</c:v>
                </c:pt>
                <c:pt idx="2">
                  <c:v>NIKE AIR MAX EXCEE (MS/WS)</c:v>
                </c:pt>
                <c:pt idx="3">
                  <c:v>NIKE UPLIFT SC (MS/WS)</c:v>
                </c:pt>
                <c:pt idx="4">
                  <c:v>NIKE AIR MAX SC (MS/WS)</c:v>
                </c:pt>
              </c:strCache>
            </c:strRef>
          </c:cat>
          <c:val>
            <c:numRef>
              <c:f>'Current month'!$Q$28:$Q$32</c:f>
              <c:numCache>
                <c:formatCode>0.00%</c:formatCode>
                <c:ptCount val="5"/>
                <c:pt idx="3">
                  <c:v>0.088578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100"/>
        <c:axId val="1232910879"/>
        <c:axId val="1232909215"/>
      </c:barChart>
      <c:catAx>
        <c:axId val="123291087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lang="en-US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800" b="0" i="0" u="sng" baseline="0">
                    <a:solidFill>
                      <a:schemeClr val="tx1"/>
                    </a:solidFill>
                    <a:effectLst/>
                  </a:rPr>
                  <a:t>First priority: Cleanness</a:t>
                </a:r>
                <a:endParaRPr lang="en-US" sz="800">
                  <a:solidFill>
                    <a:schemeClr val="tx1"/>
                  </a:solidFill>
                  <a:effectLst/>
                </a:endParaRPr>
              </a:p>
            </c:rich>
          </c:tx>
          <c:layout>
            <c:manualLayout>
              <c:xMode val="edge"/>
              <c:yMode val="edge"/>
              <c:x val="0.367197973013834"/>
              <c:y val="0.151663810094484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1232909215"/>
        <c:crosses val="autoZero"/>
        <c:auto val="1"/>
        <c:lblAlgn val="ctr"/>
        <c:lblOffset val="100"/>
        <c:noMultiLvlLbl val="0"/>
      </c:catAx>
      <c:valAx>
        <c:axId val="1232909215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23291087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lang="en-US" sz="10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i="0" baseline="0">
                <a:solidFill>
                  <a:schemeClr val="tx1"/>
                </a:solidFill>
                <a:effectLst/>
              </a:rPr>
              <a:t>Top defect of top models </a:t>
            </a:r>
            <a:endParaRPr lang="en-US" sz="1000">
              <a:solidFill>
                <a:schemeClr val="tx1"/>
              </a:solidFill>
              <a:effectLst/>
            </a:endParaRPr>
          </a:p>
        </c:rich>
      </c:tx>
      <c:layout>
        <c:manualLayout>
          <c:xMode val="edge"/>
          <c:yMode val="edge"/>
          <c:x val="0.331620166421929"/>
          <c:y val="0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0951998380965538"/>
          <c:y val="0.251524842016712"/>
          <c:w val="0.983528912083664"/>
          <c:h val="0.53565464731548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month'!$M$21</c:f>
              <c:strCache>
                <c:ptCount val="1"/>
                <c:pt idx="0">
                  <c:v>Cleanness</c:v>
                </c:pt>
              </c:strCache>
            </c:strRef>
          </c:tx>
          <c:spPr>
            <a:solidFill>
              <a:srgbClr val="10253F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month'!$L$34:$L$38</c:f>
              <c:strCache>
                <c:ptCount val="5"/>
                <c:pt idx="0">
                  <c:v>NIKE INITIATOR (MS/WS)</c:v>
                </c:pt>
                <c:pt idx="1">
                  <c:v>NIKE EBERNON LOW (MS/WS)</c:v>
                </c:pt>
                <c:pt idx="2">
                  <c:v>NIKE AIR MAX SC (MS/WS)</c:v>
                </c:pt>
                <c:pt idx="3">
                  <c:v>NIKE COURT VISION LOW (MS/WS)</c:v>
                </c:pt>
                <c:pt idx="4">
                  <c:v>NIKE AIR MAX MOTION 2 (MS/WS)</c:v>
                </c:pt>
              </c:strCache>
            </c:strRef>
          </c:cat>
          <c:val>
            <c:numRef>
              <c:f>'Current month'!$M$34:$M$38</c:f>
              <c:numCache>
                <c:formatCode>0.00%</c:formatCode>
                <c:ptCount val="5"/>
                <c:pt idx="0">
                  <c:v>0.107877</c:v>
                </c:pt>
                <c:pt idx="1">
                  <c:v>0.166272</c:v>
                </c:pt>
                <c:pt idx="2">
                  <c:v>0.198728</c:v>
                </c:pt>
                <c:pt idx="3">
                  <c:v>0.126961</c:v>
                </c:pt>
                <c:pt idx="4">
                  <c:v>0.135179</c:v>
                </c:pt>
              </c:numCache>
            </c:numRef>
          </c:val>
        </c:ser>
        <c:ser>
          <c:idx val="1"/>
          <c:order val="1"/>
          <c:tx>
            <c:strRef>
              <c:f>'Current month'!$N$21</c:f>
              <c:strCache>
                <c:ptCount val="1"/>
                <c:pt idx="0">
                  <c:v>Over cement</c:v>
                </c:pt>
              </c:strCache>
            </c:strRef>
          </c:tx>
          <c:spPr>
            <a:solidFill>
              <a:srgbClr val="4F6228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month'!$L$34:$L$38</c:f>
              <c:strCache>
                <c:ptCount val="5"/>
                <c:pt idx="0">
                  <c:v>NIKE INITIATOR (MS/WS)</c:v>
                </c:pt>
                <c:pt idx="1">
                  <c:v>NIKE EBERNON LOW (MS/WS)</c:v>
                </c:pt>
                <c:pt idx="2">
                  <c:v>NIKE AIR MAX SC (MS/WS)</c:v>
                </c:pt>
                <c:pt idx="3">
                  <c:v>NIKE COURT VISION LOW (MS/WS)</c:v>
                </c:pt>
                <c:pt idx="4">
                  <c:v>NIKE AIR MAX MOTION 2 (MS/WS)</c:v>
                </c:pt>
              </c:strCache>
            </c:strRef>
          </c:cat>
          <c:val>
            <c:numRef>
              <c:f>'Current month'!$N$34:$N$38</c:f>
              <c:numCache>
                <c:formatCode>0.00%</c:formatCode>
                <c:ptCount val="5"/>
                <c:pt idx="0">
                  <c:v>0.162329</c:v>
                </c:pt>
                <c:pt idx="1">
                  <c:v>0.135007</c:v>
                </c:pt>
                <c:pt idx="2">
                  <c:v>0.163752</c:v>
                </c:pt>
                <c:pt idx="3">
                  <c:v>0.111270</c:v>
                </c:pt>
                <c:pt idx="4">
                  <c:v>0.135179</c:v>
                </c:pt>
              </c:numCache>
            </c:numRef>
          </c:val>
        </c:ser>
        <c:ser>
          <c:idx val="2"/>
          <c:order val="2"/>
          <c:tx>
            <c:strRef>
              <c:f>'Current month'!$O$21</c:f>
              <c:strCache>
                <c:ptCount val="1"/>
                <c:pt idx="0">
                  <c:v>Thread end</c:v>
                </c:pt>
              </c:strCache>
            </c:strRef>
          </c:tx>
          <c:spPr>
            <a:solidFill>
              <a:srgbClr val="4F7FBD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month'!$L$34:$L$38</c:f>
              <c:strCache>
                <c:ptCount val="5"/>
                <c:pt idx="0">
                  <c:v>NIKE INITIATOR (MS/WS)</c:v>
                </c:pt>
                <c:pt idx="1">
                  <c:v>NIKE EBERNON LOW (MS/WS)</c:v>
                </c:pt>
                <c:pt idx="2">
                  <c:v>NIKE AIR MAX SC (MS/WS)</c:v>
                </c:pt>
                <c:pt idx="3">
                  <c:v>NIKE COURT VISION LOW (MS/WS)</c:v>
                </c:pt>
                <c:pt idx="4">
                  <c:v>NIKE AIR MAX MOTION 2 (MS/WS)</c:v>
                </c:pt>
              </c:strCache>
            </c:strRef>
          </c:cat>
          <c:val>
            <c:numRef>
              <c:f>'Current month'!$O$34:$O$38</c:f>
              <c:numCache>
                <c:formatCode>0.00%</c:formatCode>
                <c:ptCount val="5"/>
                <c:pt idx="0">
                  <c:v>0.114726</c:v>
                </c:pt>
                <c:pt idx="1">
                  <c:v>0.092847</c:v>
                </c:pt>
                <c:pt idx="3">
                  <c:v>0.108417</c:v>
                </c:pt>
                <c:pt idx="4">
                  <c:v>0.153094</c:v>
                </c:pt>
              </c:numCache>
            </c:numRef>
          </c:val>
        </c:ser>
        <c:ser>
          <c:idx val="3"/>
          <c:order val="3"/>
          <c:tx>
            <c:strRef>
              <c:f>'Current month'!$P$21</c:f>
              <c:strCache>
                <c:ptCount val="1"/>
                <c:pt idx="0">
                  <c:v>Sole attachment</c:v>
                </c:pt>
              </c:strCache>
            </c:strRef>
          </c:tx>
          <c:spPr>
            <a:solidFill>
              <a:srgbClr val="C3D4EF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month'!$L$34:$L$38</c:f>
              <c:strCache>
                <c:ptCount val="5"/>
                <c:pt idx="0">
                  <c:v>NIKE INITIATOR (MS/WS)</c:v>
                </c:pt>
                <c:pt idx="1">
                  <c:v>NIKE EBERNON LOW (MS/WS)</c:v>
                </c:pt>
                <c:pt idx="2">
                  <c:v>NIKE AIR MAX SC (MS/WS)</c:v>
                </c:pt>
                <c:pt idx="3">
                  <c:v>NIKE COURT VISION LOW (MS/WS)</c:v>
                </c:pt>
                <c:pt idx="4">
                  <c:v>NIKE AIR MAX MOTION 2 (MS/WS)</c:v>
                </c:pt>
              </c:strCache>
            </c:strRef>
          </c:cat>
          <c:val>
            <c:numRef>
              <c:f>'Current month'!$P$34:$P$38</c:f>
              <c:numCache>
                <c:formatCode>0.00%</c:formatCode>
                <c:ptCount val="5"/>
                <c:pt idx="2">
                  <c:v>0.082671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100"/>
        <c:axId val="1454365295"/>
        <c:axId val="1454383183"/>
      </c:barChart>
      <c:catAx>
        <c:axId val="1454365295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lang="en-US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800" b="0" i="0" u="sng" baseline="0">
                    <a:effectLst/>
                  </a:rPr>
                  <a:t>First priority: Cleanness</a:t>
                </a:r>
                <a:endParaRPr lang="vi-VN" sz="800">
                  <a:effectLst/>
                </a:endParaRPr>
              </a:p>
            </c:rich>
          </c:tx>
          <c:layout>
            <c:manualLayout>
              <c:xMode val="edge"/>
              <c:yMode val="edge"/>
              <c:x val="0.371296915109743"/>
              <c:y val="0.122621679675659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</a:p>
        </c:txPr>
        <c:crossAx val="1454383183"/>
        <c:crosses val="autoZero"/>
        <c:auto val="1"/>
        <c:lblAlgn val="ctr"/>
        <c:lblOffset val="100"/>
        <c:noMultiLvlLbl val="0"/>
      </c:catAx>
      <c:valAx>
        <c:axId val="1454383183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454365295"/>
        <c:crosses val="autoZero"/>
        <c:crossBetween val="between"/>
      </c:valAx>
      <c:spPr>
        <a:noFill/>
        <a:ln>
          <a:noFill/>
        </a:ln>
        <a:effectLst>
          <a:glow rad="101600">
            <a:srgbClr val="A5A5A5">
              <a:satMod val="175000"/>
              <a:alpha val="40000"/>
            </a:srgbClr>
          </a:glow>
        </a:effectLst>
      </c:spPr>
    </c:plotArea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lang="en-US" sz="10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0" b="1" i="0" baseline="0">
                <a:solidFill>
                  <a:schemeClr val="tx1"/>
                </a:solidFill>
                <a:effectLst/>
              </a:rPr>
              <a:t>Top defect of top models </a:t>
            </a:r>
            <a:endParaRPr lang="en-US" sz="1000">
              <a:solidFill>
                <a:schemeClr val="tx1"/>
              </a:solidFill>
              <a:effectLst/>
            </a:endParaRPr>
          </a:p>
        </c:rich>
      </c:tx>
      <c:layout>
        <c:manualLayout>
          <c:xMode val="edge"/>
          <c:yMode val="edge"/>
          <c:x val="0.328817343287481"/>
          <c:y val="0.00997030889116034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144869429662485"/>
          <c:y val="0.237927675199807"/>
          <c:w val="0.985128613097355"/>
          <c:h val="0.54584404455869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'Current month'!$M$21</c:f>
              <c:strCache>
                <c:ptCount val="1"/>
                <c:pt idx="0">
                  <c:v>Cleanness</c:v>
                </c:pt>
              </c:strCache>
            </c:strRef>
          </c:tx>
          <c:spPr>
            <a:solidFill>
              <a:srgbClr val="10253F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month'!$L$40:$L$44</c:f>
              <c:strCache>
                <c:ptCount val="5"/>
                <c:pt idx="0">
                  <c:v>NIKE COURT VISION LOW (MS/WS)</c:v>
                </c:pt>
                <c:pt idx="1">
                  <c:v>AIR JORDAN 1 MID SE (GS)</c:v>
                </c:pt>
                <c:pt idx="2">
                  <c:v>JORDAN 1 MID SE (PS/TD)</c:v>
                </c:pt>
                <c:pt idx="3">
                  <c:v>NIKE INITIATOR (MS/WS)</c:v>
                </c:pt>
                <c:pt idx="4">
                  <c:v>AIR JORDAN 1 LOW (MS/WS)</c:v>
                </c:pt>
              </c:strCache>
            </c:strRef>
          </c:cat>
          <c:val>
            <c:numRef>
              <c:f>'Current month'!$M$40:$M$44</c:f>
              <c:numCache>
                <c:formatCode>0.00%</c:formatCode>
                <c:ptCount val="5"/>
                <c:pt idx="0">
                  <c:v>0.145022</c:v>
                </c:pt>
                <c:pt idx="1">
                  <c:v>0.249600</c:v>
                </c:pt>
                <c:pt idx="2">
                  <c:v>0.144737</c:v>
                </c:pt>
                <c:pt idx="3">
                  <c:v>0.117229</c:v>
                </c:pt>
                <c:pt idx="4">
                  <c:v>0.153565</c:v>
                </c:pt>
              </c:numCache>
            </c:numRef>
          </c:val>
        </c:ser>
        <c:ser>
          <c:idx val="1"/>
          <c:order val="1"/>
          <c:tx>
            <c:strRef>
              <c:f>'Current month'!$N$21</c:f>
              <c:strCache>
                <c:ptCount val="1"/>
                <c:pt idx="0">
                  <c:v>Over cement</c:v>
                </c:pt>
              </c:strCache>
            </c:strRef>
          </c:tx>
          <c:spPr>
            <a:solidFill>
              <a:srgbClr val="4F6228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month'!$L$40:$L$44</c:f>
              <c:strCache>
                <c:ptCount val="5"/>
                <c:pt idx="0">
                  <c:v>NIKE COURT VISION LOW (MS/WS)</c:v>
                </c:pt>
                <c:pt idx="1">
                  <c:v>AIR JORDAN 1 MID SE (GS)</c:v>
                </c:pt>
                <c:pt idx="2">
                  <c:v>JORDAN 1 MID SE (PS/TD)</c:v>
                </c:pt>
                <c:pt idx="3">
                  <c:v>NIKE INITIATOR (MS/WS)</c:v>
                </c:pt>
                <c:pt idx="4">
                  <c:v>AIR JORDAN 1 LOW (MS/WS)</c:v>
                </c:pt>
              </c:strCache>
            </c:strRef>
          </c:cat>
          <c:val>
            <c:numRef>
              <c:f>'Current month'!$N$40:$N$44</c:f>
              <c:numCache>
                <c:formatCode>0.00%</c:formatCode>
                <c:ptCount val="5"/>
                <c:pt idx="0">
                  <c:v>0.182900</c:v>
                </c:pt>
                <c:pt idx="1">
                  <c:v>0.113600</c:v>
                </c:pt>
                <c:pt idx="2">
                  <c:v>0.184211</c:v>
                </c:pt>
                <c:pt idx="3">
                  <c:v>0.111901</c:v>
                </c:pt>
                <c:pt idx="4">
                  <c:v>0.159049</c:v>
                </c:pt>
              </c:numCache>
            </c:numRef>
          </c:val>
        </c:ser>
        <c:ser>
          <c:idx val="2"/>
          <c:order val="2"/>
          <c:tx>
            <c:strRef>
              <c:f>'Current month'!$O$21</c:f>
              <c:strCache>
                <c:ptCount val="1"/>
                <c:pt idx="0">
                  <c:v>Thread end</c:v>
                </c:pt>
              </c:strCache>
            </c:strRef>
          </c:tx>
          <c:spPr>
            <a:solidFill>
              <a:srgbClr val="4F7FBD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month'!$L$40:$L$44</c:f>
              <c:strCache>
                <c:ptCount val="5"/>
                <c:pt idx="0">
                  <c:v>NIKE COURT VISION LOW (MS/WS)</c:v>
                </c:pt>
                <c:pt idx="1">
                  <c:v>AIR JORDAN 1 MID SE (GS)</c:v>
                </c:pt>
                <c:pt idx="2">
                  <c:v>JORDAN 1 MID SE (PS/TD)</c:v>
                </c:pt>
                <c:pt idx="3">
                  <c:v>NIKE INITIATOR (MS/WS)</c:v>
                </c:pt>
                <c:pt idx="4">
                  <c:v>AIR JORDAN 1 LOW (MS/WS)</c:v>
                </c:pt>
              </c:strCache>
            </c:strRef>
          </c:cat>
          <c:val>
            <c:numRef>
              <c:f>'Current month'!$O$40:$O$44</c:f>
              <c:numCache>
                <c:formatCode>0.00%</c:formatCode>
                <c:ptCount val="5"/>
                <c:pt idx="0">
                  <c:v>0.102814</c:v>
                </c:pt>
                <c:pt idx="2">
                  <c:v>0.086257</c:v>
                </c:pt>
              </c:numCache>
            </c:numRef>
          </c:val>
        </c:ser>
        <c:ser>
          <c:idx val="3"/>
          <c:order val="3"/>
          <c:tx>
            <c:strRef>
              <c:f>'Current month'!$P$21</c:f>
              <c:strCache>
                <c:ptCount val="1"/>
                <c:pt idx="0">
                  <c:v>Toe off center</c:v>
                </c:pt>
              </c:strCache>
            </c:strRef>
          </c:tx>
          <c:spPr>
            <a:solidFill>
              <a:srgbClr val="403152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month'!$L$40:$L$44</c:f>
              <c:strCache>
                <c:ptCount val="5"/>
                <c:pt idx="0">
                  <c:v>NIKE COURT VISION LOW (MS/WS)</c:v>
                </c:pt>
                <c:pt idx="1">
                  <c:v>AIR JORDAN 1 MID SE (GS)</c:v>
                </c:pt>
                <c:pt idx="2">
                  <c:v>JORDAN 1 MID SE (PS/TD)</c:v>
                </c:pt>
                <c:pt idx="3">
                  <c:v>NIKE INITIATOR (MS/WS)</c:v>
                </c:pt>
                <c:pt idx="4">
                  <c:v>AIR JORDAN 1 LOW (MS/WS)</c:v>
                </c:pt>
              </c:strCache>
            </c:strRef>
          </c:cat>
          <c:val>
            <c:numRef>
              <c:f>'Current month'!$P$40:$P$44</c:f>
              <c:numCache>
                <c:formatCode>0.00%</c:formatCode>
                <c:ptCount val="5"/>
                <c:pt idx="3">
                  <c:v>0.094139</c:v>
                </c:pt>
              </c:numCache>
            </c:numRef>
          </c:val>
        </c:ser>
        <c:ser>
          <c:idx val="4"/>
          <c:order val="4"/>
          <c:tx>
            <c:strRef>
              <c:f>'Current month'!$Q$21</c:f>
              <c:strCache>
                <c:ptCount val="1"/>
                <c:pt idx="0">
                  <c:v>Heel/Tip height inconsistent</c:v>
                </c:pt>
              </c:strCache>
            </c:strRef>
          </c:tx>
          <c:spPr>
            <a:solidFill>
              <a:srgbClr val="336A4E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month'!$L$40:$L$44</c:f>
              <c:strCache>
                <c:ptCount val="5"/>
                <c:pt idx="0">
                  <c:v>NIKE COURT VISION LOW (MS/WS)</c:v>
                </c:pt>
                <c:pt idx="1">
                  <c:v>AIR JORDAN 1 MID SE (GS)</c:v>
                </c:pt>
                <c:pt idx="2">
                  <c:v>JORDAN 1 MID SE (PS/TD)</c:v>
                </c:pt>
                <c:pt idx="3">
                  <c:v>NIKE INITIATOR (MS/WS)</c:v>
                </c:pt>
                <c:pt idx="4">
                  <c:v>AIR JORDAN 1 LOW (MS/WS)</c:v>
                </c:pt>
              </c:strCache>
            </c:strRef>
          </c:cat>
          <c:val>
            <c:numRef>
              <c:f>'Current month'!$Q$40:$Q$44</c:f>
              <c:numCache>
                <c:formatCode>0.00%</c:formatCode>
                <c:ptCount val="5"/>
                <c:pt idx="1">
                  <c:v>0.091200</c:v>
                </c:pt>
              </c:numCache>
            </c:numRef>
          </c:val>
        </c:ser>
        <c:ser>
          <c:idx val="5"/>
          <c:order val="5"/>
          <c:tx>
            <c:strRef>
              <c:f>'Current month'!$R$21</c:f>
              <c:strCache>
                <c:ptCount val="1"/>
                <c:pt idx="0">
                  <c:v>Rocking</c:v>
                </c:pt>
              </c:strCache>
            </c:strRef>
          </c:tx>
          <c:spPr>
            <a:solidFill>
              <a:srgbClr val="EAD700"/>
            </a:solidFill>
            <a:ln>
              <a:noFill/>
            </a:ln>
          </c:spPr>
          <c:invertIfNegative val="0"/>
          <c:dLbls>
            <c:spPr>
              <a:noFill/>
              <a:ln>
                <a:noFill/>
              </a:ln>
            </c:spPr>
            <c:txPr>
              <a:bodyPr rot="0" spcFirstLastPara="1" vertOverflow="ellipsis" vert="horz" wrap="square" lIns="19050" tIns="9525" rIns="19050" bIns="9525" anchor="ctr" anchorCtr="1">
                <a:spAutoFit/>
              </a:bodyPr>
              <a:lstStyle/>
              <a:p>
                <a:pPr>
                  <a:defRPr lang="en-US" sz="700" b="1" i="0" baseline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numFmt formatCode="0.00%" sourceLinked="0"/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'Current month'!$L$40:$L$44</c:f>
              <c:strCache>
                <c:ptCount val="5"/>
                <c:pt idx="0">
                  <c:v>NIKE COURT VISION LOW (MS/WS)</c:v>
                </c:pt>
                <c:pt idx="1">
                  <c:v>AIR JORDAN 1 MID SE (GS)</c:v>
                </c:pt>
                <c:pt idx="2">
                  <c:v>JORDAN 1 MID SE (PS/TD)</c:v>
                </c:pt>
                <c:pt idx="3">
                  <c:v>NIKE INITIATOR (MS/WS)</c:v>
                </c:pt>
                <c:pt idx="4">
                  <c:v>AIR JORDAN 1 LOW (MS/WS)</c:v>
                </c:pt>
              </c:strCache>
            </c:strRef>
          </c:cat>
          <c:val>
            <c:numRef>
              <c:f>'Current month'!$R$40:$R$44</c:f>
              <c:numCache>
                <c:formatCode>0.00%</c:formatCode>
                <c:ptCount val="5"/>
                <c:pt idx="4">
                  <c:v>0.084095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100"/>
        <c:axId val="1805357231"/>
        <c:axId val="1805349743"/>
      </c:barChart>
      <c:catAx>
        <c:axId val="180535723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lang="en-US" sz="10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800" b="0" i="0" u="sng" baseline="0">
                    <a:solidFill>
                      <a:sysClr val="windowText" lastClr="000000"/>
                    </a:solidFill>
                    <a:effectLst/>
                    <a:latin typeface="+mn-lt"/>
                  </a:rPr>
                  <a:t>First priority: Over cement</a:t>
                </a:r>
                <a:endParaRPr lang="en-US" sz="800">
                  <a:solidFill>
                    <a:sysClr val="windowText" lastClr="000000"/>
                  </a:solidFill>
                  <a:effectLst/>
                  <a:latin typeface="+mn-lt"/>
                </a:endParaRPr>
              </a:p>
            </c:rich>
          </c:tx>
          <c:layout>
            <c:manualLayout>
              <c:xMode val="edge"/>
              <c:yMode val="edge"/>
              <c:x val="0.366850992647612"/>
              <c:y val="0.123090487606744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805349743"/>
        <c:crosses val="autoZero"/>
        <c:auto val="1"/>
        <c:lblAlgn val="ctr"/>
        <c:lblOffset val="100"/>
        <c:noMultiLvlLbl val="0"/>
      </c:catAx>
      <c:valAx>
        <c:axId val="1805349743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80535723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ysClr val="window" lastClr="FFFFFF">
          <a:lumMod val="95000"/>
        </a:sysClr>
      </a:solidFill>
      <a:round/>
    </a:ln>
    <a:effectLst>
      <a:glow rad="101600">
        <a:srgbClr val="A5A5A5">
          <a:satMod val="175000"/>
          <a:alpha val="40000"/>
        </a:srgb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1284" y="0"/>
            <a:ext cx="2680716" cy="68580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9210" y="308885"/>
            <a:ext cx="1563831" cy="30487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3C4DA0"/>
                </a:solidFill>
              </a:defRPr>
            </a:lvl1pPr>
          </a:lstStyle>
          <a:p>
            <a:r>
              <a:rPr lang="en-ID" dirty="0"/>
              <a:t>MAKE IT RIGHT</a:t>
            </a:r>
            <a:endParaRPr lang="en-ID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46042" y="639813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65E283A-E5DF-404F-88FE-649AD4D2791B}" type="slidenum">
              <a:rPr lang="en-ID" smtClean="0">
                <a:solidFill>
                  <a:prstClr val="white"/>
                </a:solidFill>
              </a:rPr>
            </a:fld>
            <a:endParaRPr lang="en-ID">
              <a:solidFill>
                <a:prstClr val="white"/>
              </a:solidFill>
            </a:endParaRPr>
          </a:p>
        </p:txBody>
      </p:sp>
      <p:sp>
        <p:nvSpPr>
          <p:cNvPr id="15" name="Title 6"/>
          <p:cNvSpPr>
            <a:spLocks noGrp="1"/>
          </p:cNvSpPr>
          <p:nvPr>
            <p:ph type="title"/>
          </p:nvPr>
        </p:nvSpPr>
        <p:spPr>
          <a:xfrm>
            <a:off x="522914" y="398029"/>
            <a:ext cx="5573086" cy="58154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algn="l">
              <a:lnSpc>
                <a:spcPct val="100000"/>
              </a:lnSpc>
              <a:defRPr sz="2800" b="1" cap="none" spc="50" baseline="0">
                <a:solidFill>
                  <a:srgbClr val="3C4DA0"/>
                </a:solidFill>
                <a:latin typeface="Neo Sans Std" panose="020B05040305040B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16" name="Text Placeholder 2"/>
          <p:cNvSpPr>
            <a:spLocks noGrp="1"/>
          </p:cNvSpPr>
          <p:nvPr>
            <p:ph type="body" sz="quarter" idx="16"/>
          </p:nvPr>
        </p:nvSpPr>
        <p:spPr>
          <a:xfrm>
            <a:off x="522914" y="993883"/>
            <a:ext cx="5573086" cy="22225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600">
                <a:solidFill>
                  <a:srgbClr val="3C4DA0"/>
                </a:solidFill>
                <a:latin typeface="Helvetica" pitchFamily="2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22914" y="1533765"/>
            <a:ext cx="5573086" cy="1500187"/>
          </a:xfrm>
        </p:spPr>
        <p:txBody>
          <a:bodyPr>
            <a:normAutofit/>
          </a:bodyPr>
          <a:lstStyle>
            <a:lvl1pPr marL="0" indent="0"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labore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Duis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dolore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sunt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99155E-ABF2-47CD-B64D-A1AB50B0B97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990A1C-F3BC-4DFB-B2B2-689049B020D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chart" Target="../charts/chart11.xml"/><Relationship Id="rId12" Type="http://schemas.openxmlformats.org/officeDocument/2006/relationships/chart" Target="../charts/chart12.xml"/><Relationship Id="rId13" Type="http://schemas.openxmlformats.org/officeDocument/2006/relationships/image" Target="../media/image3.emf"/><Relationship Id="rId14" Type="http://schemas.openxmlformats.org/officeDocument/2006/relationships/slideLayout" Target="../slideLayouts/slideLayout12.xml"/><Relationship Id="rId15" Type="http://schemas.openxmlformats.org/officeDocument/2006/relationships/hyperlink" Target="../Output/QAStation_HFPA_Analysis_Report.xlsx" TargetMode="External"/><Relationship Id="rId16" Type="http://schemas.openxmlformats.org/officeDocument/2006/relationships/hyperlink" Target="../Output/HFPA_Template_Updated.xlsx" TargetMode="External"/><Relationship Id="rId17" Type="http://schemas.openxmlformats.org/officeDocument/2006/relationships/hyperlink" Target="../Output/HFPA_FTT_Combined_Master.xlsx" TargetMode="External"/><Relationship Id="rId18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100"/>
          <p:cNvSpPr/>
          <p:nvPr/>
        </p:nvSpPr>
        <p:spPr>
          <a:xfrm>
            <a:off x="158518" y="-832"/>
            <a:ext cx="3903343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sz="2600" b="1">
                <a:solidFill>
                  <a:srgbClr val="002060"/>
                </a:solidFill>
                <a:latin typeface="Calibri Light"/>
              </a:rPr>
              <a:t>HFPA Performance </a:t>
            </a:r>
            <a:r>
              <a:rPr sz="1400" b="1">
                <a:solidFill>
                  <a:srgbClr val="ED7D31"/>
                </a:solidFill>
                <a:latin typeface="Arial"/>
              </a:rPr>
              <a:t>Jun, 2026</a:t>
            </a:r>
            <a:endParaRPr lang="en-US" sz="2400" b="1" dirty="0">
              <a:solidFill>
                <a:srgbClr val="ED7D31">
                  <a:lumMod val="50000"/>
                </a:srgbClr>
              </a:solidFill>
              <a:latin typeface="Arial" panose="020B0604020202020204" pitchFamily="34" charset="0"/>
              <a:ea typeface="Microsoft JhengHei" panose="020B0604030504040204" charset="-120"/>
              <a:cs typeface="Arial" panose="020B0604020202020204" pitchFamily="34" charset="0"/>
            </a:endParaRPr>
          </a:p>
        </p:txBody>
      </p:sp>
      <p:grpSp>
        <p:nvGrpSpPr>
          <p:cNvPr id="102" name="组合 11"/>
          <p:cNvGrpSpPr/>
          <p:nvPr/>
        </p:nvGrpSpPr>
        <p:grpSpPr>
          <a:xfrm>
            <a:off x="0" y="430886"/>
            <a:ext cx="9490509" cy="45719"/>
            <a:chOff x="0" y="709127"/>
            <a:chExt cx="12192000" cy="0"/>
          </a:xfrm>
        </p:grpSpPr>
        <p:cxnSp>
          <p:nvCxnSpPr>
            <p:cNvPr id="103" name="直接连接符 8"/>
            <p:cNvCxnSpPr/>
            <p:nvPr/>
          </p:nvCxnSpPr>
          <p:spPr>
            <a:xfrm>
              <a:off x="0" y="709127"/>
              <a:ext cx="12192000" cy="0"/>
            </a:xfrm>
            <a:prstGeom prst="line">
              <a:avLst/>
            </a:prstGeom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接连接符 10"/>
            <p:cNvCxnSpPr/>
            <p:nvPr/>
          </p:nvCxnSpPr>
          <p:spPr>
            <a:xfrm>
              <a:off x="195939" y="709127"/>
              <a:ext cx="877078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04">
            <a:hlinkClick r:id="rId15"/>
          </p:cNvPr>
          <p:cNvSpPr/>
          <p:nvPr/>
        </p:nvSpPr>
        <p:spPr>
          <a:xfrm>
            <a:off x="11119247" y="36695"/>
            <a:ext cx="10422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i="1" dirty="0">
                <a:solidFill>
                  <a:schemeClr val="bg1"/>
                </a:solidFill>
                <a:latin typeface="Calibri Light" panose="020F0302020204030204" pitchFamily="34" charset="0"/>
                <a:ea typeface="Microsoft JhengHei" panose="020B0604030504040204" charset="-120"/>
                <a:cs typeface="Calibri Light" panose="020F0302020204030204" pitchFamily="34" charset="0"/>
              </a:rPr>
              <a:t>Analysis by Site</a:t>
            </a:r>
            <a:endParaRPr lang="en-US" sz="1100" i="1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pSp>
        <p:nvGrpSpPr>
          <p:cNvPr id="107" name="组合 14"/>
          <p:cNvGrpSpPr/>
          <p:nvPr/>
        </p:nvGrpSpPr>
        <p:grpSpPr>
          <a:xfrm>
            <a:off x="2299013" y="546444"/>
            <a:ext cx="2468946" cy="837402"/>
            <a:chOff x="3168446" y="526711"/>
            <a:chExt cx="2468946" cy="905524"/>
          </a:xfrm>
        </p:grpSpPr>
        <p:grpSp>
          <p:nvGrpSpPr>
            <p:cNvPr id="108" name="Group 107"/>
            <p:cNvGrpSpPr/>
            <p:nvPr/>
          </p:nvGrpSpPr>
          <p:grpSpPr>
            <a:xfrm>
              <a:off x="3759914" y="526711"/>
              <a:ext cx="1877478" cy="905524"/>
              <a:chOff x="1031954" y="784458"/>
              <a:chExt cx="1842309" cy="1365075"/>
            </a:xfrm>
          </p:grpSpPr>
          <p:sp>
            <p:nvSpPr>
              <p:cNvPr id="116" name="Rectangle 115"/>
              <p:cNvSpPr/>
              <p:nvPr/>
            </p:nvSpPr>
            <p:spPr>
              <a:xfrm>
                <a:off x="1073017" y="827174"/>
                <a:ext cx="1794543" cy="128190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  <a:effectLst>
                <a:glow rad="63500">
                  <a:schemeClr val="accent3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prstClr val="white"/>
                  </a:solidFill>
                </a:endParaRPr>
              </a:p>
            </p:txBody>
          </p:sp>
          <p:sp>
            <p:nvSpPr>
              <p:cNvPr id="117" name="Rectangle 116"/>
              <p:cNvSpPr/>
              <p:nvPr/>
            </p:nvSpPr>
            <p:spPr>
              <a:xfrm>
                <a:off x="1066315" y="784458"/>
                <a:ext cx="1515028" cy="476631"/>
              </a:xfrm>
              <a:prstGeom prst="rect">
                <a:avLst/>
              </a:prstGeom>
            </p:spPr>
            <p:txBody>
              <a:bodyPr wrap="none" lIns="127000" rIns="25400" tIns="0" bIns="0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sz="1150" b="0">
                    <a:solidFill>
                      <a:srgbClr val="000000"/>
                    </a:solidFill>
                    <a:latin typeface="Calibri Light"/>
                  </a:rPr>
                  <a:t>VH: 229,614 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  <p:sp>
            <p:nvSpPr>
              <p:cNvPr id="160" name="Rectangle 159"/>
              <p:cNvSpPr/>
              <p:nvPr/>
            </p:nvSpPr>
            <p:spPr>
              <a:xfrm>
                <a:off x="1182989" y="1072086"/>
                <a:ext cx="1691274" cy="476631"/>
              </a:xfrm>
              <a:prstGeom prst="rect">
                <a:avLst/>
              </a:prstGeom>
            </p:spPr>
            <p:txBody>
              <a:bodyPr wrap="none" lIns="127000" rIns="25400" tIns="0" bIns="0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sz="1150" b="0">
                    <a:solidFill>
                      <a:srgbClr val="000000"/>
                    </a:solidFill>
                    <a:latin typeface="Calibri Light"/>
                  </a:rPr>
                  <a:t>VH2: 187,587 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  <p:sp>
            <p:nvSpPr>
              <p:cNvPr id="161" name="Rectangle 160"/>
              <p:cNvSpPr/>
              <p:nvPr/>
            </p:nvSpPr>
            <p:spPr>
              <a:xfrm>
                <a:off x="1168981" y="1366503"/>
                <a:ext cx="1705281" cy="476631"/>
              </a:xfrm>
              <a:prstGeom prst="rect">
                <a:avLst/>
              </a:prstGeom>
            </p:spPr>
            <p:txBody>
              <a:bodyPr wrap="none" lIns="127000" rIns="25400" tIns="0" bIns="0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sz="1150" b="0">
                    <a:solidFill>
                      <a:srgbClr val="000000"/>
                    </a:solidFill>
                    <a:latin typeface="Calibri Light"/>
                  </a:rPr>
                  <a:t>JV: 91,617 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  <p:sp>
            <p:nvSpPr>
              <p:cNvPr id="162" name="Rectangle 161"/>
              <p:cNvSpPr/>
              <p:nvPr/>
            </p:nvSpPr>
            <p:spPr>
              <a:xfrm>
                <a:off x="1031954" y="1672902"/>
                <a:ext cx="1794543" cy="476631"/>
              </a:xfrm>
              <a:prstGeom prst="rect">
                <a:avLst/>
              </a:prstGeom>
            </p:spPr>
            <p:txBody>
              <a:bodyPr wrap="none" lIns="127000" rIns="25400" tIns="0" bIns="0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sz="1150" b="0">
                    <a:solidFill>
                      <a:srgbClr val="000000"/>
                    </a:solidFill>
                    <a:latin typeface="Calibri Light"/>
                  </a:rPr>
                  <a:t>JV2: 93,287 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</p:grpSp>
        <p:sp>
          <p:nvSpPr>
            <p:cNvPr id="109" name="Oval 108"/>
            <p:cNvSpPr/>
            <p:nvPr/>
          </p:nvSpPr>
          <p:spPr>
            <a:xfrm>
              <a:off x="3211367" y="583402"/>
              <a:ext cx="817004" cy="773647"/>
            </a:xfrm>
            <a:prstGeom prst="ellipse">
              <a:avLst/>
            </a:prstGeom>
            <a:solidFill>
              <a:srgbClr val="3757B0"/>
            </a:solidFill>
            <a:ln w="136525" cap="sq" cmpd="thickThin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prstClr val="white"/>
                </a:solidFill>
              </a:endParaRPr>
            </a:p>
          </p:txBody>
        </p:sp>
        <p:sp>
          <p:nvSpPr>
            <p:cNvPr id="110" name="Oval 109">
              <a:hlinkClick r:id="rId16"/>
            </p:cNvPr>
            <p:cNvSpPr/>
            <p:nvPr/>
          </p:nvSpPr>
          <p:spPr>
            <a:xfrm>
              <a:off x="3168446" y="566256"/>
              <a:ext cx="859926" cy="818999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0">
              <a:spAutoFit/>
            </a:bodyPr>
            <a:lstStyle/>
            <a:p>
              <a:pPr algn="ctr"/>
              <a:r>
                <a:rPr sz="850" b="1">
                  <a:solidFill>
                    <a:srgbClr val="FFFFFF"/>
                  </a:solidFill>
                  <a:latin typeface="Calibri"/>
                </a:rPr>
                <a:t>Total pair produced</a:t>
              </a:r>
              <a:endParaRPr lang="en-US" sz="900" b="1" dirty="0">
                <a:solidFill>
                  <a:prstClr val="white"/>
                </a:solidFill>
              </a:endParaRPr>
            </a:p>
            <a:p>
              <a:pPr algn="ctr"/>
              <a:r>
                <a:rPr sz="1600" b="1">
                  <a:solidFill>
                    <a:srgbClr val="FFFFFF"/>
                  </a:solidFill>
                  <a:latin typeface="Calibri"/>
                </a:rPr>
                <a:t>~602K</a:t>
              </a:r>
            </a:p>
          </p:txBody>
        </p:sp>
      </p:grpSp>
      <p:grpSp>
        <p:nvGrpSpPr>
          <p:cNvPr id="163" name="Group 162"/>
          <p:cNvGrpSpPr/>
          <p:nvPr/>
        </p:nvGrpSpPr>
        <p:grpSpPr>
          <a:xfrm>
            <a:off x="5245791" y="561658"/>
            <a:ext cx="2443037" cy="818525"/>
            <a:chOff x="428913" y="813631"/>
            <a:chExt cx="2445722" cy="1424181"/>
          </a:xfrm>
        </p:grpSpPr>
        <p:grpSp>
          <p:nvGrpSpPr>
            <p:cNvPr id="164" name="Group 163"/>
            <p:cNvGrpSpPr/>
            <p:nvPr/>
          </p:nvGrpSpPr>
          <p:grpSpPr>
            <a:xfrm>
              <a:off x="1081736" y="813631"/>
              <a:ext cx="1792899" cy="1424181"/>
              <a:chOff x="1081736" y="813631"/>
              <a:chExt cx="1792900" cy="1424180"/>
            </a:xfrm>
          </p:grpSpPr>
          <p:sp>
            <p:nvSpPr>
              <p:cNvPr id="167" name="Rectangle 166"/>
              <p:cNvSpPr/>
              <p:nvPr/>
            </p:nvSpPr>
            <p:spPr>
              <a:xfrm>
                <a:off x="1081736" y="833778"/>
                <a:ext cx="1739271" cy="136825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  <a:effectLst>
                <a:glow rad="63500">
                  <a:schemeClr val="accent3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prstClr val="white"/>
                  </a:solidFill>
                </a:endParaRPr>
              </a:p>
            </p:txBody>
          </p:sp>
          <p:sp>
            <p:nvSpPr>
              <p:cNvPr id="168" name="Rectangle 167"/>
              <p:cNvSpPr/>
              <p:nvPr/>
            </p:nvSpPr>
            <p:spPr>
              <a:xfrm>
                <a:off x="1113995" y="813631"/>
                <a:ext cx="1682621" cy="508736"/>
              </a:xfrm>
              <a:prstGeom prst="rect">
                <a:avLst/>
              </a:prstGeom>
            </p:spPr>
            <p:txBody>
              <a:bodyPr wrap="none" lIns="127000" rIns="25400" tIns="0" bIns="0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sz="1150" b="0">
                    <a:solidFill>
                      <a:srgbClr val="000000"/>
                    </a:solidFill>
                    <a:latin typeface="Calibri Light"/>
                  </a:rPr>
                  <a:t>VH: 35,819 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  <p:sp>
            <p:nvSpPr>
              <p:cNvPr id="169" name="Rectangle 168"/>
              <p:cNvSpPr/>
              <p:nvPr/>
            </p:nvSpPr>
            <p:spPr>
              <a:xfrm>
                <a:off x="1192015" y="1136998"/>
                <a:ext cx="1682621" cy="508736"/>
              </a:xfrm>
              <a:prstGeom prst="rect">
                <a:avLst/>
              </a:prstGeom>
            </p:spPr>
            <p:txBody>
              <a:bodyPr wrap="none" lIns="127000" rIns="25400" tIns="0" bIns="0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sz="1150" b="0">
                    <a:solidFill>
                      <a:srgbClr val="000000"/>
                    </a:solidFill>
                    <a:latin typeface="Calibri Light"/>
                  </a:rPr>
                  <a:t>VH2: 26,824 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  <p:sp>
            <p:nvSpPr>
              <p:cNvPr id="170" name="Rectangle 169"/>
              <p:cNvSpPr/>
              <p:nvPr/>
            </p:nvSpPr>
            <p:spPr>
              <a:xfrm>
                <a:off x="1190958" y="1442170"/>
                <a:ext cx="1673557" cy="508736"/>
              </a:xfrm>
              <a:prstGeom prst="rect">
                <a:avLst/>
              </a:prstGeom>
            </p:spPr>
            <p:txBody>
              <a:bodyPr wrap="none" lIns="127000" rIns="25400" tIns="0" bIns="0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sz="1150" b="0">
                    <a:solidFill>
                      <a:srgbClr val="000000"/>
                    </a:solidFill>
                    <a:latin typeface="Calibri Light"/>
                  </a:rPr>
                  <a:t>JV: 9,379 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  <p:sp>
            <p:nvSpPr>
              <p:cNvPr id="171" name="Rectangle 170"/>
              <p:cNvSpPr/>
              <p:nvPr/>
            </p:nvSpPr>
            <p:spPr>
              <a:xfrm>
                <a:off x="1083299" y="1729075"/>
                <a:ext cx="1739267" cy="508736"/>
              </a:xfrm>
              <a:prstGeom prst="rect">
                <a:avLst/>
              </a:prstGeom>
            </p:spPr>
            <p:txBody>
              <a:bodyPr wrap="none" lIns="127000" rIns="25400" tIns="0" bIns="0">
                <a:spAutoFit/>
              </a:bodyPr>
              <a:lstStyle/>
              <a:p>
                <a:pPr marL="285750" indent="-182880">
                  <a:buFont typeface="Arial" panose="020B0604020202020204" pitchFamily="34" charset="0"/>
                  <a:buChar char="•"/>
                </a:pPr>
                <a:r>
                  <a:rPr sz="1150" b="0">
                    <a:solidFill>
                      <a:srgbClr val="000000"/>
                    </a:solidFill>
                    <a:latin typeface="Calibri Light"/>
                  </a:rPr>
                  <a:t>JV2: 5,475 prs</a:t>
                </a:r>
                <a:endParaRPr lang="en-US" sz="1300" dirty="0">
                  <a:solidFill>
                    <a:prstClr val="black"/>
                  </a:solidFill>
                  <a:latin typeface="Calibri Light" panose="020F0302020204030204"/>
                  <a:cs typeface="Calibri Light" panose="020F0302020204030204" pitchFamily="34" charset="0"/>
                </a:endParaRPr>
              </a:p>
            </p:txBody>
          </p:sp>
        </p:grpSp>
        <p:sp>
          <p:nvSpPr>
            <p:cNvPr id="165" name="Oval 164"/>
            <p:cNvSpPr/>
            <p:nvPr/>
          </p:nvSpPr>
          <p:spPr>
            <a:xfrm>
              <a:off x="428913" y="838274"/>
              <a:ext cx="914400" cy="123540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prstClr val="white"/>
                </a:solidFill>
              </a:endParaRPr>
            </a:p>
          </p:txBody>
        </p:sp>
        <p:sp>
          <p:nvSpPr>
            <p:cNvPr id="166" name="Oval 165">
              <a:hlinkClick r:id="rId16"/>
            </p:cNvPr>
            <p:cNvSpPr/>
            <p:nvPr/>
          </p:nvSpPr>
          <p:spPr>
            <a:xfrm>
              <a:off x="590701" y="894548"/>
              <a:ext cx="732324" cy="1194287"/>
            </a:xfrm>
            <a:prstGeom prst="ellipse">
              <a:avLst/>
            </a:prstGeom>
            <a:solidFill>
              <a:srgbClr val="3868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wrap="none"/>
            <a:lstStyle/>
            <a:p>
              <a:pPr algn="ctr"/>
              <a:r>
                <a:rPr sz="850" b="1">
                  <a:solidFill>
                    <a:srgbClr val="FFFFFF"/>
                  </a:solidFill>
                  <a:latin typeface="Calibri"/>
                </a:rPr>
                <a:t>Defective</a:t>
              </a:r>
              <a:endParaRPr lang="en-US" sz="900" b="1" dirty="0">
                <a:solidFill>
                  <a:prstClr val="white"/>
                </a:solidFill>
              </a:endParaRPr>
            </a:p>
            <a:p>
              <a:pPr algn="ctr"/>
              <a:r>
                <a:rPr sz="1600" b="1">
                  <a:solidFill>
                    <a:srgbClr val="FFFFFF"/>
                  </a:solidFill>
                  <a:latin typeface="Calibri"/>
                </a:rPr>
                <a:t>~77K</a:t>
              </a:r>
            </a:p>
          </p:txBody>
        </p:sp>
      </p:grpSp>
      <p:sp>
        <p:nvSpPr>
          <p:cNvPr id="172" name="Pentagon 39">
            <a:hlinkClick r:id="rId16"/>
          </p:cNvPr>
          <p:cNvSpPr/>
          <p:nvPr/>
        </p:nvSpPr>
        <p:spPr>
          <a:xfrm>
            <a:off x="4295643" y="1780790"/>
            <a:ext cx="484632" cy="176693"/>
          </a:xfrm>
          <a:prstGeom prst="homePlate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 wrap="non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VH</a:t>
            </a:r>
            <a:endParaRPr lang="en-US" sz="2400" b="1" dirty="0">
              <a:solidFill>
                <a:prstClr val="black"/>
              </a:solidFill>
            </a:endParaRPr>
          </a:p>
        </p:txBody>
      </p:sp>
      <p:cxnSp>
        <p:nvCxnSpPr>
          <p:cNvPr id="173" name="Straight Connector 172"/>
          <p:cNvCxnSpPr/>
          <p:nvPr/>
        </p:nvCxnSpPr>
        <p:spPr>
          <a:xfrm>
            <a:off x="15240" y="4129220"/>
            <a:ext cx="121615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>
            <a:off x="-12077" y="5425299"/>
            <a:ext cx="121615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Pentagon 156">
            <a:hlinkClick r:id="rId16"/>
          </p:cNvPr>
          <p:cNvSpPr/>
          <p:nvPr/>
        </p:nvSpPr>
        <p:spPr>
          <a:xfrm>
            <a:off x="4307001" y="5677595"/>
            <a:ext cx="457200" cy="182880"/>
          </a:xfrm>
          <a:prstGeom prst="homePlate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 wrap="non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JV2</a:t>
            </a:r>
            <a:endParaRPr lang="en-US" sz="2400" b="1" dirty="0">
              <a:solidFill>
                <a:prstClr val="black"/>
              </a:solidFill>
            </a:endParaRPr>
          </a:p>
        </p:txBody>
      </p:sp>
      <p:cxnSp>
        <p:nvCxnSpPr>
          <p:cNvPr id="176" name="Straight Connector 175"/>
          <p:cNvCxnSpPr/>
          <p:nvPr/>
        </p:nvCxnSpPr>
        <p:spPr>
          <a:xfrm>
            <a:off x="0" y="2796399"/>
            <a:ext cx="121615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Rectangle 176">
            <a:hlinkClick r:id="rId15"/>
          </p:cNvPr>
          <p:cNvSpPr/>
          <p:nvPr/>
        </p:nvSpPr>
        <p:spPr>
          <a:xfrm>
            <a:off x="4282487" y="2052366"/>
            <a:ext cx="640080" cy="365760"/>
          </a:xfrm>
          <a:prstGeom prst="rect">
            <a:avLst/>
          </a:prstGeom>
          <a:solidFill>
            <a:srgbClr val="66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2700" rIns="12700" tIns="12700" bIns="12700"/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000000"/>
                </a:solidFill>
                <a:latin typeface="Calibri"/>
              </a:rPr>
              <a:t>HFPA DR:</a:t>
            </a:r>
            <a:endParaRPr lang="en-US" sz="1000" b="1" dirty="0">
              <a:solidFill>
                <a:prstClr val="black"/>
              </a:solidFill>
            </a:endParaRPr>
          </a:p>
          <a:p>
            <a:pPr algn="ctr">
              <a:spcBef>
                <a:spcPts val="0"/>
              </a:spcBef>
            </a:pPr>
            <a:r>
              <a:rPr sz="950" b="1">
                <a:solidFill>
                  <a:srgbClr val="000000"/>
                </a:solidFill>
                <a:latin typeface="Calibri"/>
              </a:rPr>
              <a:t>15.60%</a:t>
            </a:r>
          </a:p>
        </p:txBody>
      </p:sp>
      <p:sp>
        <p:nvSpPr>
          <p:cNvPr id="178" name="Pentagon 151">
            <a:hlinkClick r:id="rId16"/>
          </p:cNvPr>
          <p:cNvSpPr/>
          <p:nvPr/>
        </p:nvSpPr>
        <p:spPr>
          <a:xfrm>
            <a:off x="4295643" y="3011178"/>
            <a:ext cx="457200" cy="182880"/>
          </a:xfrm>
          <a:prstGeom prst="homePlat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 wrap="non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VH2</a:t>
            </a:r>
            <a:endParaRPr lang="en-US" sz="2400" b="1" dirty="0">
              <a:solidFill>
                <a:prstClr val="black"/>
              </a:solidFill>
            </a:endParaRPr>
          </a:p>
        </p:txBody>
      </p:sp>
      <p:sp>
        <p:nvSpPr>
          <p:cNvPr id="179" name="Rectangle 178">
            <a:hlinkClick r:id="rId15"/>
          </p:cNvPr>
          <p:cNvSpPr/>
          <p:nvPr/>
        </p:nvSpPr>
        <p:spPr>
          <a:xfrm>
            <a:off x="4282487" y="3269501"/>
            <a:ext cx="640080" cy="365760"/>
          </a:xfrm>
          <a:prstGeom prst="rect">
            <a:avLst/>
          </a:prstGeom>
          <a:solidFill>
            <a:srgbClr val="FBE5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2700" rIns="12700" tIns="12700" bIns="12700"/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000000"/>
                </a:solidFill>
                <a:latin typeface="Calibri"/>
              </a:rPr>
              <a:t>HFPA DR:</a:t>
            </a:r>
            <a:endParaRPr lang="en-US" sz="1000" b="1" dirty="0">
              <a:solidFill>
                <a:prstClr val="black"/>
              </a:solidFill>
            </a:endParaRPr>
          </a:p>
          <a:p>
            <a:pPr algn="ctr">
              <a:spcBef>
                <a:spcPts val="0"/>
              </a:spcBef>
            </a:pPr>
            <a:r>
              <a:rPr sz="950" b="1">
                <a:solidFill>
                  <a:srgbClr val="000000"/>
                </a:solidFill>
                <a:latin typeface="Calibri"/>
              </a:rPr>
              <a:t>14.30%</a:t>
            </a:r>
          </a:p>
        </p:txBody>
      </p:sp>
      <p:sp>
        <p:nvSpPr>
          <p:cNvPr id="180" name="Pentagon 152">
            <a:hlinkClick r:id="rId16"/>
          </p:cNvPr>
          <p:cNvSpPr/>
          <p:nvPr/>
        </p:nvSpPr>
        <p:spPr>
          <a:xfrm>
            <a:off x="4295643" y="4397194"/>
            <a:ext cx="457200" cy="180644"/>
          </a:xfrm>
          <a:prstGeom prst="homePlate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 wrap="non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JV</a:t>
            </a:r>
            <a:endParaRPr lang="en-US" sz="2400" b="1" dirty="0">
              <a:solidFill>
                <a:prstClr val="black"/>
              </a:solidFill>
            </a:endParaRPr>
          </a:p>
        </p:txBody>
      </p:sp>
      <p:sp>
        <p:nvSpPr>
          <p:cNvPr id="181" name="Rectangle 180">
            <a:hlinkClick r:id="rId15"/>
          </p:cNvPr>
          <p:cNvSpPr/>
          <p:nvPr/>
        </p:nvSpPr>
        <p:spPr>
          <a:xfrm>
            <a:off x="4282487" y="4682806"/>
            <a:ext cx="64008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2700" rIns="12700" tIns="12700" bIns="12700"/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000000"/>
                </a:solidFill>
                <a:latin typeface="Calibri"/>
              </a:rPr>
              <a:t>HFPA DR:</a:t>
            </a:r>
            <a:endParaRPr lang="en-US" sz="1000" b="1" dirty="0">
              <a:solidFill>
                <a:prstClr val="black"/>
              </a:solidFill>
            </a:endParaRPr>
          </a:p>
          <a:p>
            <a:pPr algn="ctr">
              <a:spcBef>
                <a:spcPts val="0"/>
              </a:spcBef>
            </a:pPr>
            <a:r>
              <a:rPr sz="950" b="1">
                <a:solidFill>
                  <a:srgbClr val="000000"/>
                </a:solidFill>
                <a:latin typeface="Calibri"/>
              </a:rPr>
              <a:t>10.24%</a:t>
            </a:r>
          </a:p>
        </p:txBody>
      </p:sp>
      <p:sp>
        <p:nvSpPr>
          <p:cNvPr id="182" name="Rectangle 181">
            <a:hlinkClick r:id="rId15"/>
          </p:cNvPr>
          <p:cNvSpPr/>
          <p:nvPr/>
        </p:nvSpPr>
        <p:spPr>
          <a:xfrm>
            <a:off x="4279092" y="5933055"/>
            <a:ext cx="640080" cy="3657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2700" rIns="12700" tIns="12700" bIns="12700"/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000000"/>
                </a:solidFill>
                <a:latin typeface="Calibri"/>
              </a:rPr>
              <a:t>HFPA DR:</a:t>
            </a:r>
            <a:endParaRPr lang="en-US" sz="1000" b="1" dirty="0">
              <a:solidFill>
                <a:prstClr val="black"/>
              </a:solidFill>
            </a:endParaRPr>
          </a:p>
          <a:p>
            <a:pPr algn="ctr">
              <a:spcBef>
                <a:spcPts val="0"/>
              </a:spcBef>
            </a:pPr>
            <a:r>
              <a:rPr sz="950" b="1">
                <a:solidFill>
                  <a:srgbClr val="000000"/>
                </a:solidFill>
                <a:latin typeface="Calibri"/>
              </a:rPr>
              <a:t>5.87%</a:t>
            </a:r>
          </a:p>
        </p:txBody>
      </p:sp>
      <p:sp>
        <p:nvSpPr>
          <p:cNvPr id="183" name="Isosceles Triangle 182"/>
          <p:cNvSpPr/>
          <p:nvPr/>
        </p:nvSpPr>
        <p:spPr>
          <a:xfrm rot="5400000">
            <a:off x="1312118" y="738156"/>
            <a:ext cx="241787" cy="348218"/>
          </a:xfrm>
          <a:prstGeom prst="triangle">
            <a:avLst>
              <a:gd name="adj" fmla="val 53487"/>
            </a:avLst>
          </a:prstGeom>
          <a:solidFill>
            <a:schemeClr val="accent6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184" name="Rectangle 183">
            <a:hlinkClick r:id="rId17"/>
          </p:cNvPr>
          <p:cNvSpPr/>
          <p:nvPr/>
        </p:nvSpPr>
        <p:spPr>
          <a:xfrm>
            <a:off x="328756" y="636656"/>
            <a:ext cx="105786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  <a:cs typeface="Calibri" panose="020F0502020204030204" pitchFamily="34" charset="0"/>
              </a:rPr>
              <a:t>HFPA</a:t>
            </a:r>
            <a:endParaRPr lang="en-US" sz="2800" dirty="0">
              <a:solidFill>
                <a:prstClr val="black"/>
              </a:solidFill>
              <a:cs typeface="Calibri" panose="020F0502020204030204" pitchFamily="34" charset="0"/>
            </a:endParaRPr>
          </a:p>
        </p:txBody>
      </p:sp>
      <p:sp>
        <p:nvSpPr>
          <p:cNvPr id="185" name="Rectangle 184">
            <a:hlinkClick r:id="rId17"/>
          </p:cNvPr>
          <p:cNvSpPr/>
          <p:nvPr/>
        </p:nvSpPr>
        <p:spPr>
          <a:xfrm>
            <a:off x="62155" y="1046661"/>
            <a:ext cx="193995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solidFill>
                  <a:prstClr val="black"/>
                </a:solidFill>
              </a:rPr>
              <a:t>High Frequency Product Audit</a:t>
            </a:r>
            <a:endParaRPr lang="en-US" sz="1100" dirty="0">
              <a:solidFill>
                <a:prstClr val="black"/>
              </a:solidFill>
              <a:latin typeface="Calibri Light" panose="020F0302020204030204"/>
            </a:endParaRPr>
          </a:p>
        </p:txBody>
      </p:sp>
      <p:graphicFrame>
        <p:nvGraphicFramePr>
          <p:cNvPr id="195" name="Chart 194"/>
          <p:cNvGraphicFramePr/>
          <p:nvPr/>
        </p:nvGraphicFramePr>
        <p:xfrm>
          <a:off x="4985468" y="1527048"/>
          <a:ext cx="3125260" cy="12214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96" name="Chart 195"/>
          <p:cNvGraphicFramePr/>
          <p:nvPr/>
        </p:nvGraphicFramePr>
        <p:xfrm>
          <a:off x="4983480" y="2862072"/>
          <a:ext cx="3127248" cy="1188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97" name="Chart 196"/>
          <p:cNvGraphicFramePr/>
          <p:nvPr/>
        </p:nvGraphicFramePr>
        <p:xfrm>
          <a:off x="5003736" y="4181702"/>
          <a:ext cx="3127248" cy="1188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98" name="Chart 197"/>
          <p:cNvGraphicFramePr/>
          <p:nvPr/>
        </p:nvGraphicFramePr>
        <p:xfrm>
          <a:off x="5018990" y="5468645"/>
          <a:ext cx="3127248" cy="1225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2" name="Chart 51"/>
          <p:cNvGraphicFramePr/>
          <p:nvPr/>
        </p:nvGraphicFramePr>
        <p:xfrm>
          <a:off x="91440" y="1527048"/>
          <a:ext cx="4118707" cy="1225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3" name="Chart 52"/>
          <p:cNvGraphicFramePr/>
          <p:nvPr/>
        </p:nvGraphicFramePr>
        <p:xfrm>
          <a:off x="91440" y="2862072"/>
          <a:ext cx="4118707" cy="1188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54" name="Chart 53"/>
          <p:cNvGraphicFramePr/>
          <p:nvPr/>
        </p:nvGraphicFramePr>
        <p:xfrm>
          <a:off x="91440" y="4178808"/>
          <a:ext cx="4118707" cy="1188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55" name="Chart 54"/>
          <p:cNvGraphicFramePr/>
          <p:nvPr/>
        </p:nvGraphicFramePr>
        <p:xfrm>
          <a:off x="91440" y="5486400"/>
          <a:ext cx="4118707" cy="1225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64" name="Chart 63"/>
          <p:cNvGraphicFramePr/>
          <p:nvPr/>
        </p:nvGraphicFramePr>
        <p:xfrm>
          <a:off x="8268674" y="1529828"/>
          <a:ext cx="3923326" cy="12276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65" name="Chart 64"/>
          <p:cNvGraphicFramePr/>
          <p:nvPr/>
        </p:nvGraphicFramePr>
        <p:xfrm>
          <a:off x="8268674" y="2862072"/>
          <a:ext cx="3923326" cy="11911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66" name="Chart 65"/>
          <p:cNvGraphicFramePr/>
          <p:nvPr/>
        </p:nvGraphicFramePr>
        <p:xfrm>
          <a:off x="8268674" y="4178808"/>
          <a:ext cx="3923326" cy="11911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67" name="Chart 66"/>
          <p:cNvGraphicFramePr/>
          <p:nvPr/>
        </p:nvGraphicFramePr>
        <p:xfrm>
          <a:off x="8268674" y="5458119"/>
          <a:ext cx="3923326" cy="12276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sp>
        <p:nvSpPr>
          <p:cNvPr id="56" name="Rectangle 55"/>
          <p:cNvSpPr/>
          <p:nvPr/>
        </p:nvSpPr>
        <p:spPr>
          <a:xfrm>
            <a:off x="12192000" y="1491916"/>
            <a:ext cx="1581752" cy="13186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lang="en-US" sz="950">
                <a:latin typeface="Calibri"/>
              </a:rPr>
              <a:t>Lưu ý về mức độ ưu tiên cải thiện lỗi: ưu tiên lỗi đó có nhiều model nhất sau đó sẽ xét tỷ lệ phần trăm</a:t>
            </a:r>
            <a:endParaRPr lang="vi-VN" sz="1400"/>
          </a:p>
        </p:txBody>
      </p:sp>
      <p:pic>
        <p:nvPicPr>
          <p:cNvPr id="199" name="Picture 2" descr="defect_legend_render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88371" y="580000"/>
            <a:ext cx="2855916" cy="76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400</Words>
  <Application>WPS Presentation</Application>
  <PresentationFormat>Widescreen</PresentationFormat>
  <Paragraphs>48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8" baseType="lpstr">
      <vt:lpstr>Arial</vt:lpstr>
      <vt:lpstr>SimSun</vt:lpstr>
      <vt:lpstr>Wingdings</vt:lpstr>
      <vt:lpstr>Neo Sans Std</vt:lpstr>
      <vt:lpstr>Raavi</vt:lpstr>
      <vt:lpstr>Open Sans Light</vt:lpstr>
      <vt:lpstr>Yu Gothic UI Light</vt:lpstr>
      <vt:lpstr>Helvetica</vt:lpstr>
      <vt:lpstr>Roboto</vt:lpstr>
      <vt:lpstr>Wide Latin</vt:lpstr>
      <vt:lpstr>Calibri Light</vt:lpstr>
      <vt:lpstr>Microsoft JhengHei</vt:lpstr>
      <vt:lpstr>Calibri Light</vt:lpstr>
      <vt:lpstr>Calibri</vt:lpstr>
      <vt:lpstr>Microsoft YaHei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Le, Thanh-Truc</dc:creator>
  <cp:lastModifiedBy>thinhphat.nguyen</cp:lastModifiedBy>
  <cp:revision>264</cp:revision>
  <dcterms:created xsi:type="dcterms:W3CDTF">2026-03-27T03:14:00Z</dcterms:created>
  <dcterms:modified xsi:type="dcterms:W3CDTF">2026-09-22T09:26:32Z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9B7D405B00274A5AA0001360A5065F74</vt:lpwstr>
  </property>
  <property fmtid="{D5CDD505-2E9C-101B-9397-08002B2CF9AE}" pid="3" name="KSOProductBuildVer">
    <vt:lpwstr>1033-11.2.0.11440</vt:lpwstr>
  </property>
</Properties>
</file>