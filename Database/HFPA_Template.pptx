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7FBD"/>
    <a:srgbClr val="6D597A"/>
    <a:srgbClr val="5F9EA0"/>
    <a:srgbClr val="B09360"/>
    <a:srgbClr val="F6FF9F"/>
    <a:srgbClr val="543C90"/>
    <a:srgbClr val="EBBAFE"/>
    <a:srgbClr val="F3AFAF"/>
    <a:srgbClr val="998AF2"/>
    <a:srgbClr val="C7B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3690" autoAdjust="0"/>
  </p:normalViewPr>
  <p:slideViewPr>
    <p:cSldViewPr snapToGrid="0">
      <p:cViewPr varScale="1">
        <p:scale>
          <a:sx n="66" d="100"/>
          <a:sy n="66" d="100"/>
        </p:scale>
        <p:origin x="6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5.xml"/><Relationship Id="rId4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6.xml"/><Relationship Id="rId4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7.xml"/><Relationship Id="rId4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4.xml"/><Relationship Id="rId3" Type="http://schemas.microsoft.com/office/2011/relationships/chartStyle" Target="style8.xml"/><Relationship Id="rId4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5.xml"/><Relationship Id="rId3" Type="http://schemas.microsoft.com/office/2011/relationships/chartStyle" Target="style9.xml"/><Relationship Id="rId4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6.xml"/><Relationship Id="rId3" Type="http://schemas.microsoft.com/office/2011/relationships/chartStyle" Target="style10.xml"/><Relationship Id="rId4" Type="http://schemas.microsoft.com/office/2011/relationships/chartColorStyle" Target="colors10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7.xml"/><Relationship Id="rId3" Type="http://schemas.microsoft.com/office/2011/relationships/chartStyle" Target="style11.xml"/><Relationship Id="rId4" Type="http://schemas.microsoft.com/office/2011/relationships/chartColorStyle" Target="colors11.xm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../Output/HFPA_Template_Updated_Sep_2026.xlsx" TargetMode="External"/><Relationship Id="rId2" Type="http://schemas.openxmlformats.org/officeDocument/2006/relationships/themeOverride" Target="../theme/themeOverride8.xml"/><Relationship Id="rId3" Type="http://schemas.microsoft.com/office/2011/relationships/chartStyle" Target="style12.xml"/><Relationship Id="rId4" Type="http://schemas.microsoft.com/office/2011/relationships/chartColorStyle" Target="colors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402336318120547"/>
          <c:y val="0.019564000083185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153254449229824"/>
          <c:y val="0.285"/>
          <c:w val="0.978512827732733"/>
          <c:h val="0.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month'!$G$21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'Current month'!$D$22:$D$26</c:f>
              <c:strCache>
                <c:ptCount val="5"/>
                <c:pt idx="0">
                  <c:v>NIKE SB FORCE 58</c:v>
                </c:pt>
                <c:pt idx="1">
                  <c:v>NIKE MANOA LEATHER</c:v>
                </c:pt>
                <c:pt idx="2">
                  <c:v>WMNS BENASSI JDI</c:v>
                </c:pt>
                <c:pt idx="3">
                  <c:v>JORDAN TRUE FLIGHT (MS)</c:v>
                </c:pt>
                <c:pt idx="4">
                  <c:v>AIR JORDAN 1 LOW SE (MS/WS)</c:v>
                </c:pt>
              </c:strCache>
            </c:strRef>
          </c:cat>
          <c:val>
            <c:numRef>
              <c:f>'Current month'!$G$22:$G$26</c:f>
              <c:numCache>
                <c:formatCode>0.00%</c:formatCode>
                <c:ptCount val="5"/>
                <c:pt idx="0">
                  <c:v>0.010361</c:v>
                </c:pt>
                <c:pt idx="1">
                  <c:v>0.009336</c:v>
                </c:pt>
                <c:pt idx="2">
                  <c:v>0.007919</c:v>
                </c:pt>
                <c:pt idx="3">
                  <c:v>0.006843</c:v>
                </c:pt>
                <c:pt idx="4">
                  <c:v>0.006665</c:v>
                </c:pt>
              </c:numCache>
            </c:numRef>
          </c:val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/>
              <a:lstStyle/>
              <a:p>
                <a:pPr>
                  <a:defRPr lang="en-US" sz="75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outEnd"/>
            <c:showVal val="1"/>
            <c:showLegendKey val="0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46592"/>
        <c:axId val="-1252538976"/>
      </c:barChart>
      <c:catAx>
        <c:axId val="-125254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38976"/>
        <c:crosses val="autoZero"/>
        <c:auto val="1"/>
        <c:lblAlgn val="ctr"/>
        <c:lblOffset val="100"/>
        <c:noMultiLvlLbl val="0"/>
      </c:catAx>
      <c:valAx>
        <c:axId val="-1252538976"/>
        <c:scaling>
          <c:orientation val="minMax"/>
          <c:max val="0.05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46592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600645231846019"/>
          <c:y val="0.0259601924759405"/>
          <c:w val="0.166229780473715"/>
          <c:h val="0.1650724060562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396222318505681"/>
          <c:y val="0.029346000124778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07243579846637"/>
          <c:y val="0.285"/>
          <c:w val="0.971250836292522"/>
          <c:h val="0.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month'!$G$27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'Current month'!$D$28:$D$32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AIR MAX SC (MS/WS)</c:v>
                </c:pt>
                <c:pt idx="3">
                  <c:v>NIKE AIR WINFLO 12 (MS/WS)</c:v>
                </c:pt>
                <c:pt idx="4">
                  <c:v>NIKE UPLIFT SC (MS/WS)</c:v>
                </c:pt>
              </c:strCache>
            </c:strRef>
          </c:cat>
          <c:val>
            <c:numRef>
              <c:f>'Current month'!$G$28:$G$32</c:f>
              <c:numCache>
                <c:formatCode>0.00%</c:formatCode>
                <c:ptCount val="5"/>
                <c:pt idx="0">
                  <c:v>0.030009</c:v>
                </c:pt>
                <c:pt idx="1">
                  <c:v>0.017235</c:v>
                </c:pt>
                <c:pt idx="2">
                  <c:v>0.013725</c:v>
                </c:pt>
                <c:pt idx="3">
                  <c:v>0.012472</c:v>
                </c:pt>
                <c:pt idx="4">
                  <c:v>0.012187</c:v>
                </c:pt>
              </c:numCache>
            </c:numRef>
          </c:val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/>
              <a:lstStyle/>
              <a:p>
                <a:pPr>
                  <a:defRPr lang="en-US" sz="75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outEnd"/>
            <c:showVal val="1"/>
            <c:showLegendKey val="0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43872"/>
        <c:axId val="-1252567808"/>
      </c:barChart>
      <c:catAx>
        <c:axId val="-125254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67808"/>
        <c:crosses val="autoZero"/>
        <c:auto val="1"/>
        <c:lblAlgn val="ctr"/>
        <c:lblOffset val="100"/>
        <c:noMultiLvlLbl val="0"/>
      </c:catAx>
      <c:valAx>
        <c:axId val="-1252567808"/>
        <c:scaling>
          <c:orientation val="minMax"/>
          <c:max val="0.05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43872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600645231846019"/>
          <c:y val="0.0259601924759405"/>
          <c:w val="0.166350867760473"/>
          <c:h val="0.167411886014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399279318313114"/>
          <c:y val="0.019564000083185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11663929435721"/>
          <c:y val="0.285"/>
          <c:w val="0.973010635509768"/>
          <c:h val="0.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month'!$G$33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'Current month'!$D$34:$D$38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MOTION 2 (MS/WS)</c:v>
                </c:pt>
                <c:pt idx="3">
                  <c:v>NIKE STAR RUNNER 5 (PS)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'Current month'!$G$34:$G$38</c:f>
              <c:numCache>
                <c:formatCode>0.00%</c:formatCode>
                <c:ptCount val="5"/>
                <c:pt idx="0">
                  <c:v>0.054453</c:v>
                </c:pt>
                <c:pt idx="1">
                  <c:v>0.023969</c:v>
                </c:pt>
                <c:pt idx="2">
                  <c:v>0.012725</c:v>
                </c:pt>
                <c:pt idx="3">
                  <c:v>0.006618</c:v>
                </c:pt>
                <c:pt idx="4">
                  <c:v>0.006526</c:v>
                </c:pt>
              </c:numCache>
            </c:numRef>
          </c:val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/>
              <a:lstStyle/>
              <a:p>
                <a:pPr>
                  <a:defRPr lang="en-US" sz="75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outEnd"/>
            <c:showVal val="1"/>
            <c:showLegendKey val="0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64544"/>
        <c:axId val="-1252543328"/>
      </c:barChart>
      <c:catAx>
        <c:axId val="-1252564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43328"/>
        <c:crosses val="autoZero"/>
        <c:auto val="1"/>
        <c:lblAlgn val="ctr"/>
        <c:lblOffset val="100"/>
        <c:noMultiLvlLbl val="0"/>
      </c:catAx>
      <c:valAx>
        <c:axId val="-1252543328"/>
        <c:scaling>
          <c:orientation val="minMax"/>
          <c:max val="0.08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6454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600645231846019"/>
          <c:y val="0.0259601924759405"/>
          <c:w val="0.166350867760473"/>
          <c:h val="0.167411886014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40539331792798"/>
          <c:y val="0.029346000124778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116907901132242"/>
          <c:y val="0.285"/>
          <c:w val="0.977968488588049"/>
          <c:h val="0.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month'!$G$39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'Current month'!$D$40:$D$44</c:f>
              <c:strCache>
                <c:ptCount val="5"/>
                <c:pt idx="0">
                  <c:v>NIKE COURT VISION LOW (MS/WS)</c:v>
                </c:pt>
                <c:pt idx="1">
                  <c:v>NIKE INITIATOR (MS/WS)</c:v>
                </c:pt>
                <c:pt idx="2">
                  <c:v>JORDAN 1 MID SE (PS/TD)</c:v>
                </c:pt>
                <c:pt idx="3">
                  <c:v>AIR JORDAN 1 LOW (MS/WS)</c:v>
                </c:pt>
                <c:pt idx="4">
                  <c:v>AIR JORDAN 1 LOW SE (GS)</c:v>
                </c:pt>
              </c:strCache>
            </c:strRef>
          </c:cat>
          <c:val>
            <c:numRef>
              <c:f>'Current month'!$G$40:$G$44</c:f>
              <c:numCache>
                <c:formatCode>0.00%</c:formatCode>
                <c:ptCount val="5"/>
                <c:pt idx="0">
                  <c:v>0.010496</c:v>
                </c:pt>
                <c:pt idx="1">
                  <c:v>0.008397</c:v>
                </c:pt>
                <c:pt idx="2">
                  <c:v>0.004894</c:v>
                </c:pt>
                <c:pt idx="3">
                  <c:v>0.004350</c:v>
                </c:pt>
                <c:pt idx="4">
                  <c:v>0.003490</c:v>
                </c:pt>
              </c:numCache>
            </c:numRef>
          </c:val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/>
              <a:lstStyle/>
              <a:p>
                <a:pPr>
                  <a:defRPr lang="en-US" sz="75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outEnd"/>
            <c:showVal val="1"/>
            <c:showLegendKey val="0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51488"/>
        <c:axId val="-1252536256"/>
      </c:barChart>
      <c:catAx>
        <c:axId val="-1252551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36256"/>
        <c:crosses val="autoZero"/>
        <c:auto val="1"/>
        <c:lblAlgn val="ctr"/>
        <c:lblOffset val="100"/>
        <c:noMultiLvlLbl val="0"/>
      </c:catAx>
      <c:valAx>
        <c:axId val="-1252536256"/>
        <c:scaling>
          <c:orientation val="minMax"/>
          <c:max val="0.05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51488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600645231846019"/>
          <c:y val="0.0259601924759405"/>
          <c:w val="0.166350867760473"/>
          <c:h val="0.167411886014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27295025621797"/>
          <c:w val="0.993833016041199"/>
          <c:h val="0.6503786507124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month'!$B$2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month'!$C$2:$K$2</c:f>
              <c:numCache>
                <c:formatCode>#,##0</c:formatCode>
                <c:ptCount val="9"/>
                <c:pt idx="0">
                  <c:v>271598.0</c:v>
                </c:pt>
                <c:pt idx="1">
                  <c:v>187596.0</c:v>
                </c:pt>
                <c:pt idx="2">
                  <c:v>260599.0</c:v>
                </c:pt>
                <c:pt idx="3">
                  <c:v>237958.0</c:v>
                </c:pt>
                <c:pt idx="4">
                  <c:v>235755.0</c:v>
                </c:pt>
                <c:pt idx="5">
                  <c:v>229614.0</c:v>
                </c:pt>
                <c:pt idx="6">
                  <c:v>250538.0</c:v>
                </c:pt>
                <c:pt idx="7">
                  <c:v>252237.0</c:v>
                </c:pt>
                <c:pt idx="8">
                  <c:v>191303.0</c:v>
                </c:pt>
              </c:numCache>
            </c:numRef>
          </c:val>
        </c:ser>
        <c:ser>
          <c:idx val="1"/>
          <c:order val="1"/>
          <c:tx>
            <c:strRef>
              <c:f>'Current month'!$B$9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1483478489892e-7"/>
                  <c:y val="-0.054718964024246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960493827160494"/>
                      <c:h val="0.157268883056285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-0.07030229079744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month'!$C$9:$K$9</c:f>
              <c:numCache>
                <c:formatCode>#,##0</c:formatCode>
                <c:ptCount val="9"/>
                <c:pt idx="0">
                  <c:v>41519.0</c:v>
                </c:pt>
                <c:pt idx="1">
                  <c:v>28653.0</c:v>
                </c:pt>
                <c:pt idx="2">
                  <c:v>40780.0</c:v>
                </c:pt>
                <c:pt idx="3">
                  <c:v>37189.0</c:v>
                </c:pt>
                <c:pt idx="4">
                  <c:v>36868.0</c:v>
                </c:pt>
                <c:pt idx="5">
                  <c:v>35819.0</c:v>
                </c:pt>
                <c:pt idx="6">
                  <c:v>39321.0</c:v>
                </c:pt>
                <c:pt idx="7">
                  <c:v>40405.0</c:v>
                </c:pt>
                <c:pt idx="8">
                  <c:v>30535.0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month'!$B$16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smooth val="0"/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month'!$C$16:$K$16</c:f>
              <c:numCache>
                <c:formatCode>0.00%</c:formatCode>
                <c:ptCount val="9"/>
                <c:pt idx="0">
                  <c:v>0.8471306857929735</c:v>
                </c:pt>
                <c:pt idx="1">
                  <c:v>0.8472622017527026</c:v>
                </c:pt>
                <c:pt idx="2">
                  <c:v>0.8435143649822141</c:v>
                </c:pt>
                <c:pt idx="3">
                  <c:v>0.8437161179703981</c:v>
                </c:pt>
                <c:pt idx="4">
                  <c:v>0.8436173145850565</c:v>
                </c:pt>
                <c:pt idx="5">
                  <c:v>0.8440034144259496</c:v>
                </c:pt>
                <c:pt idx="6">
                  <c:v>0.8430537483335862</c:v>
                </c:pt>
                <c:pt idx="7">
                  <c:v>0.8398133501429211</c:v>
                </c:pt>
                <c:pt idx="8">
                  <c:v>0.8403841027061781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65000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noFill/>
        <a:ln>
          <a:noFill/>
        </a:ln>
        <a:effectLst>
          <a:glow rad="101600">
            <a:srgbClr val="A5A5A5">
              <a:satMod val="175000"/>
              <a:alpha val="40000"/>
            </a:srgbClr>
          </a:glow>
        </a:effectLst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188411653641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25837323394034"/>
          <c:w val="0.993833016041199"/>
          <c:h val="0.4722392439408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month'!$B$3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5B9BD5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month'!$C$3:$K$3</c:f>
              <c:numCache>
                <c:formatCode>#,##0</c:formatCode>
                <c:ptCount val="9"/>
                <c:pt idx="0">
                  <c:v>215017.0</c:v>
                </c:pt>
                <c:pt idx="1">
                  <c:v>142829.0</c:v>
                </c:pt>
                <c:pt idx="2">
                  <c:v>198311.0</c:v>
                </c:pt>
                <c:pt idx="3">
                  <c:v>197716.0</c:v>
                </c:pt>
                <c:pt idx="4">
                  <c:v>202479.0</c:v>
                </c:pt>
                <c:pt idx="5">
                  <c:v>187587.0</c:v>
                </c:pt>
                <c:pt idx="6">
                  <c:v>185739.0</c:v>
                </c:pt>
                <c:pt idx="7">
                  <c:v>187637.0</c:v>
                </c:pt>
                <c:pt idx="8">
                  <c:v>175514.0</c:v>
                </c:pt>
              </c:numCache>
            </c:numRef>
          </c:val>
        </c:ser>
        <c:ser>
          <c:idx val="1"/>
          <c:order val="1"/>
          <c:tx>
            <c:strRef>
              <c:f>'Current month'!$B$10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month'!$C$10:$K$10</c:f>
              <c:numCache>
                <c:formatCode>#,##0</c:formatCode>
                <c:ptCount val="9"/>
                <c:pt idx="0">
                  <c:v>20033.0</c:v>
                </c:pt>
                <c:pt idx="1">
                  <c:v>19126.0</c:v>
                </c:pt>
                <c:pt idx="2">
                  <c:v>27189.0</c:v>
                </c:pt>
                <c:pt idx="3">
                  <c:v>27481.0</c:v>
                </c:pt>
                <c:pt idx="4">
                  <c:v>29000.0</c:v>
                </c:pt>
                <c:pt idx="5">
                  <c:v>26824.0</c:v>
                </c:pt>
                <c:pt idx="6">
                  <c:v>26996.0</c:v>
                </c:pt>
                <c:pt idx="7">
                  <c:v>27355.0</c:v>
                </c:pt>
                <c:pt idx="8">
                  <c:v>25464.0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month'!$B$17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5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smooth val="0"/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month'!$C$17:$K$17</c:f>
              <c:numCache>
                <c:formatCode>0.00%</c:formatCode>
                <c:ptCount val="9"/>
                <c:pt idx="0">
                  <c:v>0.9068306226949497</c:v>
                </c:pt>
                <c:pt idx="1">
                  <c:v>0.8660916200491497</c:v>
                </c:pt>
                <c:pt idx="2">
                  <c:v>0.862897166571698</c:v>
                </c:pt>
                <c:pt idx="3">
                  <c:v>0.861007708025653</c:v>
                </c:pt>
                <c:pt idx="4">
                  <c:v>0.8567752705218813</c:v>
                </c:pt>
                <c:pt idx="5">
                  <c:v>0.8570050163390853</c:v>
                </c:pt>
                <c:pt idx="6">
                  <c:v>0.8546562649739688</c:v>
                </c:pt>
                <c:pt idx="7">
                  <c:v>0.8542131882304662</c:v>
                </c:pt>
                <c:pt idx="8">
                  <c:v>0.8549175564342446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650000"/>
          <c:min val="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1882504880246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84331474612494"/>
          <c:w val="0.990749524061799"/>
          <c:h val="0.4351302844579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month'!$B$4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month'!$C$4:$K$4</c:f>
              <c:numCache>
                <c:formatCode>#,##0</c:formatCode>
                <c:ptCount val="9"/>
                <c:pt idx="0">
                  <c:v>113263.0</c:v>
                </c:pt>
                <c:pt idx="1">
                  <c:v>109373.0</c:v>
                </c:pt>
                <c:pt idx="2">
                  <c:v>77577.0</c:v>
                </c:pt>
                <c:pt idx="3">
                  <c:v>128553.0</c:v>
                </c:pt>
                <c:pt idx="4">
                  <c:v>94006.0</c:v>
                </c:pt>
                <c:pt idx="5">
                  <c:v>91617.0</c:v>
                </c:pt>
                <c:pt idx="6">
                  <c:v>113846.0</c:v>
                </c:pt>
                <c:pt idx="7">
                  <c:v>92175.0</c:v>
                </c:pt>
                <c:pt idx="8">
                  <c:v>97919.0</c:v>
                </c:pt>
              </c:numCache>
            </c:numRef>
          </c:val>
        </c:ser>
        <c:ser>
          <c:idx val="1"/>
          <c:order val="1"/>
          <c:tx>
            <c:strRef>
              <c:f>'Current month'!$B$11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month'!$C$11:$K$11</c:f>
              <c:numCache>
                <c:formatCode>#,##0</c:formatCode>
                <c:ptCount val="9"/>
                <c:pt idx="0">
                  <c:v>7879.0</c:v>
                </c:pt>
                <c:pt idx="1">
                  <c:v>9713.0</c:v>
                </c:pt>
                <c:pt idx="2">
                  <c:v>6825.0</c:v>
                </c:pt>
                <c:pt idx="3">
                  <c:v>12512.0</c:v>
                </c:pt>
                <c:pt idx="4">
                  <c:v>9320.0</c:v>
                </c:pt>
                <c:pt idx="5">
                  <c:v>9379.0</c:v>
                </c:pt>
                <c:pt idx="6">
                  <c:v>11891.0</c:v>
                </c:pt>
                <c:pt idx="7">
                  <c:v>11421.0</c:v>
                </c:pt>
                <c:pt idx="8">
                  <c:v>12584.0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month'!$B$18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5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smooth val="0"/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month'!$C$18:$K$18</c:f>
              <c:numCache>
                <c:formatCode>0.00%</c:formatCode>
                <c:ptCount val="9"/>
                <c:pt idx="0">
                  <c:v>0.9304362413144628</c:v>
                </c:pt>
                <c:pt idx="1">
                  <c:v>0.9111938046867143</c:v>
                </c:pt>
                <c:pt idx="2">
                  <c:v>0.9120228933833482</c:v>
                </c:pt>
                <c:pt idx="3">
                  <c:v>0.9026704938819008</c:v>
                </c:pt>
                <c:pt idx="4">
                  <c:v>0.9008573920813565</c:v>
                </c:pt>
                <c:pt idx="5">
                  <c:v>0.8976281694445354</c:v>
                </c:pt>
                <c:pt idx="6">
                  <c:v>0.8955518858809268</c:v>
                </c:pt>
                <c:pt idx="7">
                  <c:v>0.8760943856794141</c:v>
                </c:pt>
                <c:pt idx="8">
                  <c:v>0.8714856156619246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310000"/>
          <c:min val="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solidFill>
          <a:sysClr val="window" lastClr="FFFFFF"/>
        </a:solidFill>
        <a:ln>
          <a:solidFill>
            <a:sysClr val="window" lastClr="FFFFFF"/>
          </a:solidFill>
        </a:ln>
        <a:effectLst/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2073213232946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64745300898347"/>
          <c:w val="0.993833016041199"/>
          <c:h val="0.44161166158089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month'!$B$5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month'!$C$5:$K$5</c:f>
              <c:numCache>
                <c:formatCode>#,##0</c:formatCode>
                <c:ptCount val="9"/>
                <c:pt idx="0">
                  <c:v>104684.0</c:v>
                </c:pt>
                <c:pt idx="1">
                  <c:v>104216.0</c:v>
                </c:pt>
                <c:pt idx="2">
                  <c:v>81867.0</c:v>
                </c:pt>
                <c:pt idx="3">
                  <c:v>116571.0</c:v>
                </c:pt>
                <c:pt idx="4">
                  <c:v>96194.0</c:v>
                </c:pt>
                <c:pt idx="5">
                  <c:v>93287.0</c:v>
                </c:pt>
                <c:pt idx="6">
                  <c:v>111473.0</c:v>
                </c:pt>
                <c:pt idx="7">
                  <c:v>76104.0</c:v>
                </c:pt>
                <c:pt idx="8">
                  <c:v>79079.0</c:v>
                </c:pt>
              </c:numCache>
            </c:numRef>
          </c:val>
        </c:ser>
        <c:ser>
          <c:idx val="1"/>
          <c:order val="1"/>
          <c:tx>
            <c:strRef>
              <c:f>'Current month'!$B$12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month'!$C$12:$K$12</c:f>
              <c:numCache>
                <c:formatCode>#,##0</c:formatCode>
                <c:ptCount val="9"/>
                <c:pt idx="0">
                  <c:v>6002.0</c:v>
                </c:pt>
                <c:pt idx="1">
                  <c:v>5889.0</c:v>
                </c:pt>
                <c:pt idx="2">
                  <c:v>4640.0</c:v>
                </c:pt>
                <c:pt idx="3">
                  <c:v>6632.0</c:v>
                </c:pt>
                <c:pt idx="4">
                  <c:v>5652.0</c:v>
                </c:pt>
                <c:pt idx="5">
                  <c:v>5475.0</c:v>
                </c:pt>
                <c:pt idx="6">
                  <c:v>6539.0</c:v>
                </c:pt>
                <c:pt idx="7">
                  <c:v>4503.0</c:v>
                </c:pt>
                <c:pt idx="8">
                  <c:v>4580.0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month'!$B$19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5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smooth val="0"/>
          <c:cat>
            <c:strRef>
              <c:f>'Current month'!$C$1:$K$1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'Current month'!$C$19:$K$19</c:f>
              <c:numCache>
                <c:formatCode>0.00%</c:formatCode>
                <c:ptCount val="9"/>
                <c:pt idx="0">
                  <c:v>0.9426655458331741</c:v>
                </c:pt>
                <c:pt idx="1">
                  <c:v>0.9434923620173485</c:v>
                </c:pt>
                <c:pt idx="2">
                  <c:v>0.9433227063407722</c:v>
                </c:pt>
                <c:pt idx="3">
                  <c:v>0.9431076339741445</c:v>
                </c:pt>
                <c:pt idx="4">
                  <c:v>0.9412437366155894</c:v>
                </c:pt>
                <c:pt idx="5">
                  <c:v>0.9413101503960895</c:v>
                </c:pt>
                <c:pt idx="6">
                  <c:v>0.9413400554394338</c:v>
                </c:pt>
                <c:pt idx="7">
                  <c:v>0.9408309681488489</c:v>
                </c:pt>
                <c:pt idx="8">
                  <c:v>0.9420832332224738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310000"/>
          <c:min val="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2170975012158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 dirty="0">
                <a:solidFill>
                  <a:sysClr val="windowText" lastClr="000000"/>
                </a:solidFill>
                <a:effectLst/>
              </a:rPr>
              <a:t>Top defect of top models </a:t>
            </a:r>
            <a:endParaRPr lang="en-US" sz="1000" dirty="0">
              <a:solidFill>
                <a:sysClr val="windowText" lastClr="000000"/>
              </a:solidFill>
              <a:effectLst/>
            </a:endParaRPr>
          </a:p>
        </c:rich>
      </c:tx>
      <c:layout>
        <c:manualLayout>
          <c:xMode val="edge"/>
          <c:yMode val="edge"/>
          <c:x val="0.324487934097756"/>
          <c:y val="0.040112173478315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173296840486873"/>
          <c:y val="0.167221369668416"/>
          <c:w val="1"/>
          <c:h val="0.6262987869842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'HFPA'!$M$21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'HFPA'!$L$22:$L$26</c:f>
              <c:strCache>
                <c:ptCount val="5"/>
                <c:pt idx="0">
                  <c:v>NIKE SB FORCE 58</c:v>
                </c:pt>
                <c:pt idx="1">
                  <c:v>NIKE MANOA LEATHER</c:v>
                </c:pt>
                <c:pt idx="2">
                  <c:v>WMNS BENASSI JDI</c:v>
                </c:pt>
                <c:pt idx="3">
                  <c:v>JORDAN TRUE FLIGHT (MS)</c:v>
                </c:pt>
                <c:pt idx="4">
                  <c:v>AIR JORDAN 1 LOW SE (MS/WS)</c:v>
                </c:pt>
              </c:strCache>
            </c:strRef>
          </c:cat>
          <c:val>
            <c:numRef>
              <c:f>'HFPA'!$M$22:$M$26</c:f>
              <c:numCache>
                <c:formatCode>0.00%</c:formatCode>
                <c:ptCount val="5"/>
                <c:pt idx="0">
                  <c:v>0.231505</c:v>
                </c:pt>
                <c:pt idx="1">
                  <c:v>0.174399</c:v>
                </c:pt>
                <c:pt idx="2">
                  <c:v>0.164248</c:v>
                </c:pt>
                <c:pt idx="3">
                  <c:v>0.156012</c:v>
                </c:pt>
                <c:pt idx="4">
                  <c:v>0.222048</c:v>
                </c:pt>
              </c:numCache>
            </c:numRef>
          </c:val>
        </c:ser>
        <c:ser>
          <c:idx val="1"/>
          <c:order val="1"/>
          <c:tx>
            <c:strRef>
              <c:f>'HFPA'!$N$21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'HFPA'!$L$22:$L$26</c:f>
              <c:strCache>
                <c:ptCount val="5"/>
                <c:pt idx="0">
                  <c:v>NIKE SB FORCE 58</c:v>
                </c:pt>
                <c:pt idx="1">
                  <c:v>NIKE MANOA LEATHER</c:v>
                </c:pt>
                <c:pt idx="2">
                  <c:v>WMNS BENASSI JDI</c:v>
                </c:pt>
                <c:pt idx="3">
                  <c:v>JORDAN TRUE FLIGHT (MS)</c:v>
                </c:pt>
                <c:pt idx="4">
                  <c:v>AIR JORDAN 1 LOW SE (MS/WS)</c:v>
                </c:pt>
              </c:strCache>
            </c:strRef>
          </c:cat>
          <c:val>
            <c:numRef>
              <c:f>'HFPA'!$N$22:$N$26</c:f>
              <c:numCache>
                <c:formatCode>0.00%</c:formatCode>
                <c:ptCount val="5"/>
                <c:pt idx="0">
                  <c:v>0.242073</c:v>
                </c:pt>
                <c:pt idx="1">
                  <c:v>0.137507</c:v>
                </c:pt>
                <c:pt idx="2">
                  <c:v>0.141821</c:v>
                </c:pt>
                <c:pt idx="3">
                  <c:v>0.110350</c:v>
                </c:pt>
                <c:pt idx="4">
                  <c:v>0.203284</c:v>
                </c:pt>
              </c:numCache>
            </c:numRef>
          </c:val>
        </c:ser>
        <c:ser>
          <c:idx val="2"/>
          <c:order val="2"/>
          <c:tx>
            <c:strRef>
              <c:f>'HFPA'!$O$21</c:f>
              <c:strCache>
                <c:ptCount val="1"/>
                <c:pt idx="0">
                  <c:v>Components inconsistent</c:v>
                </c:pt>
              </c:strCache>
            </c:strRef>
          </c:tx>
          <c:spPr>
            <a:solidFill>
              <a:srgbClr val="AC5C9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'HFPA'!$L$22:$L$26</c:f>
              <c:strCache>
                <c:ptCount val="5"/>
                <c:pt idx="0">
                  <c:v>NIKE SB FORCE 58</c:v>
                </c:pt>
                <c:pt idx="1">
                  <c:v>NIKE MANOA LEATHER</c:v>
                </c:pt>
                <c:pt idx="2">
                  <c:v>WMNS BENASSI JDI</c:v>
                </c:pt>
                <c:pt idx="3">
                  <c:v>JORDAN TRUE FLIGHT (MS)</c:v>
                </c:pt>
                <c:pt idx="4">
                  <c:v>AIR JORDAN 1 LOW SE (MS/WS)</c:v>
                </c:pt>
              </c:strCache>
            </c:strRef>
          </c:cat>
          <c:val>
            <c:numRef>
              <c:f>'HFPA'!$O$22:$O$26</c:f>
              <c:numCache>
                <c:formatCode>0.00%</c:formatCode>
                <c:ptCount val="5"/>
                <c:pt idx="0">
                  <c:v>0.117262</c:v>
                </c:pt>
                <c:pt idx="4">
                  <c:v>0.148554</c:v>
                </c:pt>
              </c:numCache>
            </c:numRef>
          </c:val>
        </c:ser>
        <c:ser>
          <c:idx val="3"/>
          <c:order val="3"/>
          <c:tx>
            <c:strRef>
              <c:f>'HFPA'!$P$21</c:f>
              <c:strCache>
                <c:ptCount val="1"/>
                <c:pt idx="0">
                  <c:v>Heel/Tip height inconsistent</c:v>
                </c:pt>
              </c:strCache>
            </c:strRef>
          </c:tx>
          <c:spPr>
            <a:solidFill>
              <a:srgbClr val="336A4E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'HFPA'!$L$22:$L$26</c:f>
              <c:strCache>
                <c:ptCount val="5"/>
                <c:pt idx="0">
                  <c:v>NIKE SB FORCE 58</c:v>
                </c:pt>
                <c:pt idx="1">
                  <c:v>NIKE MANOA LEATHER</c:v>
                </c:pt>
                <c:pt idx="2">
                  <c:v>WMNS BENASSI JDI</c:v>
                </c:pt>
                <c:pt idx="3">
                  <c:v>JORDAN TRUE FLIGHT (MS)</c:v>
                </c:pt>
                <c:pt idx="4">
                  <c:v>AIR JORDAN 1 LOW SE (MS/WS)</c:v>
                </c:pt>
              </c:strCache>
            </c:strRef>
          </c:cat>
          <c:val>
            <c:numRef>
              <c:f>'HFPA'!$P$22:$P$26</c:f>
              <c:numCache>
                <c:formatCode>0.00%</c:formatCode>
                <c:ptCount val="5"/>
                <c:pt idx="2">
                  <c:v>0.120712</c:v>
                </c:pt>
              </c:numCache>
            </c:numRef>
          </c:val>
        </c:ser>
        <c:ser>
          <c:idx val="4"/>
          <c:order val="4"/>
          <c:tx>
            <c:strRef>
              <c:f>'HFPA'!$Q$21</c:f>
              <c:strCache>
                <c:ptCount val="1"/>
                <c:pt idx="0">
                  <c:v>Wrinkle bottom</c:v>
                </c:pt>
              </c:strCache>
            </c:strRef>
          </c:tx>
          <c:spPr>
            <a:solidFill>
              <a:srgbClr val="FAC090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'HFPA'!$L$22:$L$26</c:f>
              <c:strCache>
                <c:ptCount val="5"/>
                <c:pt idx="0">
                  <c:v>NIKE SB FORCE 58</c:v>
                </c:pt>
                <c:pt idx="1">
                  <c:v>NIKE MANOA LEATHER</c:v>
                </c:pt>
                <c:pt idx="2">
                  <c:v>WMNS BENASSI JDI</c:v>
                </c:pt>
                <c:pt idx="3">
                  <c:v>JORDAN TRUE FLIGHT (MS)</c:v>
                </c:pt>
                <c:pt idx="4">
                  <c:v>AIR JORDAN 1 LOW SE (MS/WS)</c:v>
                </c:pt>
              </c:strCache>
            </c:strRef>
          </c:cat>
          <c:val>
            <c:numRef>
              <c:f>'HFPA'!$Q$22:$Q$26</c:f>
              <c:numCache>
                <c:formatCode>0.00%</c:formatCode>
                <c:ptCount val="5"/>
                <c:pt idx="3">
                  <c:v>0.101979</c:v>
                </c:pt>
              </c:numCache>
            </c:numRef>
          </c:val>
        </c:ser>
        <c:ser>
          <c:idx val="5"/>
          <c:order val="5"/>
          <c:tx>
            <c:strRef>
              <c:f>'HFPA'!$R$21</c:f>
              <c:strCache>
                <c:ptCount val="1"/>
                <c:pt idx="0">
                  <c:v>Over buffing</c:v>
                </c:pt>
              </c:strCache>
            </c:strRef>
          </c:tx>
          <c:spPr>
            <a:solidFill>
              <a:srgbClr val="95373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'HFPA'!$L$22:$L$26</c:f>
              <c:strCache>
                <c:ptCount val="5"/>
                <c:pt idx="0">
                  <c:v>NIKE SB FORCE 58</c:v>
                </c:pt>
                <c:pt idx="1">
                  <c:v>NIKE MANOA LEATHER</c:v>
                </c:pt>
                <c:pt idx="2">
                  <c:v>WMNS BENASSI JDI</c:v>
                </c:pt>
                <c:pt idx="3">
                  <c:v>JORDAN TRUE FLIGHT (MS)</c:v>
                </c:pt>
                <c:pt idx="4">
                  <c:v>AIR JORDAN 1 LOW SE (MS/WS)</c:v>
                </c:pt>
              </c:strCache>
            </c:strRef>
          </c:cat>
          <c:val>
            <c:numRef>
              <c:f>'HFPA'!$R$22:$R$26</c:f>
              <c:numCache>
                <c:formatCode>0.00%</c:formatCode>
                <c:ptCount val="5"/>
                <c:pt idx="1">
                  <c:v>0.098379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454369039"/>
        <c:axId val="1454382351"/>
      </c:barChart>
      <c:catAx>
        <c:axId val="14543690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b="0" i="0" u="sng" baseline="0">
                    <a:solidFill>
                      <a:schemeClr val="tx1"/>
                    </a:solidFill>
                    <a:latin typeface="+mn-lt"/>
                  </a:rPr>
                  <a:t>First priority: Cleanness</a:t>
                </a:r>
                <a:endParaRPr lang="en-US" sz="800" u="sng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366725379837851"/>
              <c:y val="0.150663979502562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1454382351"/>
        <c:crosses val="autoZero"/>
        <c:auto val="1"/>
        <c:lblAlgn val="ctr"/>
        <c:lblOffset val="100"/>
        <c:noMultiLvlLbl val="0"/>
      </c:catAx>
      <c:valAx>
        <c:axId val="145438235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5436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>
                <a:solidFill>
                  <a:schemeClr val="tx1"/>
                </a:solidFill>
                <a:effectLst/>
              </a:rPr>
              <a:t>Top defect of top models </a:t>
            </a:r>
            <a:endParaRPr lang="en-US" sz="100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0.324692477911602"/>
          <c:y val="0.02916243908926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3256424342306"/>
          <c:y val="0.288907713580728"/>
          <c:w val="0.990996256281918"/>
          <c:h val="0.4586472919729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'HFPA'!$M$27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'HFPA'!$L$28:$L$32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AIR MAX SC (MS/WS)</c:v>
                </c:pt>
                <c:pt idx="3">
                  <c:v>NIKE AIR WINFLO 12 (MS/WS)</c:v>
                </c:pt>
                <c:pt idx="4">
                  <c:v>NIKE UPLIFT SC (MS/WS)</c:v>
                </c:pt>
              </c:strCache>
            </c:strRef>
          </c:cat>
          <c:val>
            <c:numRef>
              <c:f>'HFPA'!$M$28:$M$32</c:f>
              <c:numCache>
                <c:formatCode>0.00%</c:formatCode>
                <c:ptCount val="5"/>
                <c:pt idx="0">
                  <c:v>0.177203</c:v>
                </c:pt>
                <c:pt idx="1">
                  <c:v>0.134142</c:v>
                </c:pt>
                <c:pt idx="2">
                  <c:v>0.150311</c:v>
                </c:pt>
                <c:pt idx="3">
                  <c:v>0.153706</c:v>
                </c:pt>
                <c:pt idx="4">
                  <c:v>0.135455</c:v>
                </c:pt>
              </c:numCache>
            </c:numRef>
          </c:val>
        </c:ser>
        <c:ser>
          <c:idx val="1"/>
          <c:order val="1"/>
          <c:tx>
            <c:strRef>
              <c:f>'HFPA'!$N$27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'HFPA'!$L$28:$L$32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AIR MAX SC (MS/WS)</c:v>
                </c:pt>
                <c:pt idx="3">
                  <c:v>NIKE AIR WINFLO 12 (MS/WS)</c:v>
                </c:pt>
                <c:pt idx="4">
                  <c:v>NIKE UPLIFT SC (MS/WS)</c:v>
                </c:pt>
              </c:strCache>
            </c:strRef>
          </c:cat>
          <c:val>
            <c:numRef>
              <c:f>'HFPA'!$N$28:$N$32</c:f>
              <c:numCache>
                <c:formatCode>0.00%</c:formatCode>
                <c:ptCount val="5"/>
                <c:pt idx="0">
                  <c:v>0.104737</c:v>
                </c:pt>
                <c:pt idx="1">
                  <c:v>0.115120</c:v>
                </c:pt>
                <c:pt idx="2">
                  <c:v>0.118012</c:v>
                </c:pt>
                <c:pt idx="3">
                  <c:v>0.114598</c:v>
                </c:pt>
                <c:pt idx="4">
                  <c:v>0.116818</c:v>
                </c:pt>
              </c:numCache>
            </c:numRef>
          </c:val>
        </c:ser>
        <c:ser>
          <c:idx val="2"/>
          <c:order val="2"/>
          <c:tx>
            <c:strRef>
              <c:f>'HFPA'!$O$27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'HFPA'!$L$28:$L$32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AIR MAX SC (MS/WS)</c:v>
                </c:pt>
                <c:pt idx="3">
                  <c:v>NIKE AIR WINFLO 12 (MS/WS)</c:v>
                </c:pt>
                <c:pt idx="4">
                  <c:v>NIKE UPLIFT SC (MS/WS)</c:v>
                </c:pt>
              </c:strCache>
            </c:strRef>
          </c:cat>
          <c:val>
            <c:numRef>
              <c:f>'HFPA'!$O$28:$O$32</c:f>
              <c:numCache>
                <c:formatCode>0.00%</c:formatCode>
                <c:ptCount val="5"/>
                <c:pt idx="0">
                  <c:v>0.143612</c:v>
                </c:pt>
                <c:pt idx="1">
                  <c:v>0.094785</c:v>
                </c:pt>
                <c:pt idx="2">
                  <c:v>0.143685</c:v>
                </c:pt>
                <c:pt idx="4">
                  <c:v>0.096818</c:v>
                </c:pt>
              </c:numCache>
            </c:numRef>
          </c:val>
        </c:ser>
        <c:ser>
          <c:idx val="3"/>
          <c:order val="3"/>
          <c:tx>
            <c:strRef>
              <c:f>'HFPA'!$P$27</c:f>
              <c:strCache>
                <c:ptCount val="1"/>
                <c:pt idx="0">
                  <c:v>Bottom Cosmetic</c:v>
                </c:pt>
              </c:strCache>
            </c:strRef>
          </c:tx>
          <c:spPr>
            <a:solidFill>
              <a:srgbClr val="D99694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'HFPA'!$L$28:$L$32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AIR MAX SC (MS/WS)</c:v>
                </c:pt>
                <c:pt idx="3">
                  <c:v>NIKE AIR WINFLO 12 (MS/WS)</c:v>
                </c:pt>
                <c:pt idx="4">
                  <c:v>NIKE UPLIFT SC (MS/WS)</c:v>
                </c:pt>
              </c:strCache>
            </c:strRef>
          </c:cat>
          <c:val>
            <c:numRef>
              <c:f>'HFPA'!$P$28:$P$32</c:f>
              <c:numCache>
                <c:formatCode>0.00%</c:formatCode>
                <c:ptCount val="5"/>
                <c:pt idx="3">
                  <c:v>0.109141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232910879"/>
        <c:axId val="1232909215"/>
      </c:barChart>
      <c:catAx>
        <c:axId val="12329108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b="0" i="0" u="sng" baseline="0">
                    <a:solidFill>
                      <a:schemeClr val="tx1"/>
                    </a:solidFill>
                    <a:latin typeface="+mn-lt"/>
                  </a:rPr>
                  <a:t>First priority: Cleanness</a:t>
                </a:r>
                <a:endParaRPr lang="en-US" sz="800">
                  <a:solidFill>
                    <a:schemeClr val="tx1"/>
                  </a:solidFill>
                  <a:effectLst/>
                </a:endParaRPr>
              </a:p>
            </c:rich>
          </c:tx>
          <c:layout>
            <c:manualLayout>
              <c:xMode val="edge"/>
              <c:yMode val="edge"/>
              <c:x val="0.367197973013834"/>
              <c:y val="0.15166381009448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1232909215"/>
        <c:crosses val="autoZero"/>
        <c:auto val="1"/>
        <c:lblAlgn val="ctr"/>
        <c:lblOffset val="100"/>
        <c:noMultiLvlLbl val="0"/>
      </c:catAx>
      <c:valAx>
        <c:axId val="123290921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32910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>
                <a:solidFill>
                  <a:schemeClr val="tx1"/>
                </a:solidFill>
                <a:effectLst/>
              </a:rPr>
              <a:t>Top defect of top models </a:t>
            </a:r>
            <a:endParaRPr lang="en-US" sz="100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0.331620166421929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0951998380965538"/>
          <c:y val="0.251524842016712"/>
          <c:w val="0.983528912083664"/>
          <c:h val="0.53565464731548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'HFPA'!$M$33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'HFPA'!$L$34:$L$38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MOTION 2 (MS/WS)</c:v>
                </c:pt>
                <c:pt idx="3">
                  <c:v>NIKE STAR RUNNER 5 (PS)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'HFPA'!$M$34:$M$38</c:f>
              <c:numCache>
                <c:formatCode>0.00%</c:formatCode>
                <c:ptCount val="5"/>
                <c:pt idx="0">
                  <c:v>0.167945</c:v>
                </c:pt>
                <c:pt idx="1">
                  <c:v>0.129422</c:v>
                </c:pt>
                <c:pt idx="2">
                  <c:v>0.151807</c:v>
                </c:pt>
                <c:pt idx="3">
                  <c:v>0.114206</c:v>
                </c:pt>
                <c:pt idx="4">
                  <c:v>0.342723</c:v>
                </c:pt>
              </c:numCache>
            </c:numRef>
          </c:val>
        </c:ser>
        <c:ser>
          <c:idx val="1"/>
          <c:order val="1"/>
          <c:tx>
            <c:strRef>
              <c:f>'HFPA'!$N$33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'HFPA'!$L$34:$L$38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MOTION 2 (MS/WS)</c:v>
                </c:pt>
                <c:pt idx="3">
                  <c:v>NIKE STAR RUNNER 5 (PS)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'HFPA'!$N$34:$N$38</c:f>
              <c:numCache>
                <c:formatCode>0.00%</c:formatCode>
                <c:ptCount val="5"/>
                <c:pt idx="0">
                  <c:v>0.150365</c:v>
                </c:pt>
                <c:pt idx="1">
                  <c:v>0.152310</c:v>
                </c:pt>
                <c:pt idx="3">
                  <c:v>0.175487</c:v>
                </c:pt>
                <c:pt idx="4">
                  <c:v>0.258216</c:v>
                </c:pt>
              </c:numCache>
            </c:numRef>
          </c:val>
        </c:ser>
        <c:ser>
          <c:idx val="2"/>
          <c:order val="2"/>
          <c:tx>
            <c:strRef>
              <c:f>'HFPA'!$O$33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'HFPA'!$L$34:$L$38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MOTION 2 (MS/WS)</c:v>
                </c:pt>
                <c:pt idx="3">
                  <c:v>NIKE STAR RUNNER 5 (PS)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'HFPA'!$O$34:$O$38</c:f>
              <c:numCache>
                <c:formatCode>0.00%</c:formatCode>
                <c:ptCount val="5"/>
                <c:pt idx="0">
                  <c:v>0.100991</c:v>
                </c:pt>
                <c:pt idx="1">
                  <c:v>0.108198</c:v>
                </c:pt>
                <c:pt idx="2">
                  <c:v>0.120482</c:v>
                </c:pt>
                <c:pt idx="3">
                  <c:v>0.112813</c:v>
                </c:pt>
                <c:pt idx="4">
                  <c:v>0.097027</c:v>
                </c:pt>
              </c:numCache>
            </c:numRef>
          </c:val>
        </c:ser>
        <c:ser>
          <c:idx val="3"/>
          <c:order val="3"/>
          <c:tx>
            <c:strRef>
              <c:f>'HFPA'!$P$33</c:f>
              <c:strCache>
                <c:ptCount val="1"/>
                <c:pt idx="0">
                  <c:v>Bottom Cosmetic</c:v>
                </c:pt>
              </c:strCache>
            </c:strRef>
          </c:tx>
          <c:spPr>
            <a:solidFill>
              <a:srgbClr val="D99694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'HFPA'!$L$34:$L$38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MOTION 2 (MS/WS)</c:v>
                </c:pt>
                <c:pt idx="3">
                  <c:v>NIKE STAR RUNNER 5 (PS)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'HFPA'!$P$34:$P$38</c:f>
              <c:numCache>
                <c:formatCode>0.00%</c:formatCode>
                <c:ptCount val="5"/>
                <c:pt idx="2">
                  <c:v>0.135743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454365295"/>
        <c:axId val="1454383183"/>
      </c:barChart>
      <c:catAx>
        <c:axId val="14543652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b="0" i="0" u="sng" baseline="0">
                    <a:solidFill>
                      <a:schemeClr val="tx1"/>
                    </a:solidFill>
                    <a:latin typeface="+mn-lt"/>
                  </a:rPr>
                  <a:t>First priority: Over cement</a:t>
                </a:r>
                <a:endParaRPr lang="vi-VN" sz="800">
                  <a:effectLst/>
                </a:endParaRPr>
              </a:p>
            </c:rich>
          </c:tx>
          <c:layout>
            <c:manualLayout>
              <c:xMode val="edge"/>
              <c:yMode val="edge"/>
              <c:x val="0.371296915109743"/>
              <c:y val="0.12262167967565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1454383183"/>
        <c:crosses val="autoZero"/>
        <c:auto val="1"/>
        <c:lblAlgn val="ctr"/>
        <c:lblOffset val="100"/>
        <c:noMultiLvlLbl val="0"/>
      </c:catAx>
      <c:valAx>
        <c:axId val="145438318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54365295"/>
        <c:crosses val="autoZero"/>
        <c:crossBetween val="between"/>
      </c:valAx>
      <c:spPr>
        <a:noFill/>
        <a:ln>
          <a:noFill/>
        </a:ln>
        <a:effectLst>
          <a:glow rad="101600">
            <a:srgbClr val="A5A5A5">
              <a:satMod val="175000"/>
              <a:alpha val="40000"/>
            </a:srgbClr>
          </a:glow>
        </a:effectLst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>
                <a:solidFill>
                  <a:schemeClr val="tx1"/>
                </a:solidFill>
                <a:effectLst/>
              </a:rPr>
              <a:t>Top defect of top models </a:t>
            </a:r>
            <a:endParaRPr lang="en-US" sz="100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0.328817343287481"/>
          <c:y val="0.0099703088911603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144869429662485"/>
          <c:y val="0.237927675199807"/>
          <c:w val="0.985128613097355"/>
          <c:h val="0.5458440445586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'HFPA'!$M$39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'HFPA'!$L$40:$L$44</c:f>
              <c:strCache>
                <c:ptCount val="5"/>
                <c:pt idx="0">
                  <c:v>NIKE COURT VISION LOW (MS/WS)</c:v>
                </c:pt>
                <c:pt idx="1">
                  <c:v>NIKE INITIATOR (MS/WS)</c:v>
                </c:pt>
                <c:pt idx="2">
                  <c:v>JORDAN 1 MID SE (PS/TD)</c:v>
                </c:pt>
                <c:pt idx="3">
                  <c:v>AIR JORDAN 1 LOW (MS/WS)</c:v>
                </c:pt>
                <c:pt idx="4">
                  <c:v>AIR JORDAN 1 LOW SE (GS)</c:v>
                </c:pt>
              </c:strCache>
            </c:strRef>
          </c:cat>
          <c:val>
            <c:numRef>
              <c:f>'HFPA'!$M$40:$M$44</c:f>
              <c:numCache>
                <c:formatCode>0.00%</c:formatCode>
                <c:ptCount val="5"/>
                <c:pt idx="0">
                  <c:v>0.160398</c:v>
                </c:pt>
                <c:pt idx="1">
                  <c:v>0.091716</c:v>
                </c:pt>
                <c:pt idx="2">
                  <c:v>0.168724</c:v>
                </c:pt>
                <c:pt idx="3">
                  <c:v>0.205069</c:v>
                </c:pt>
                <c:pt idx="4">
                  <c:v>0.185759</c:v>
                </c:pt>
              </c:numCache>
            </c:numRef>
          </c:val>
        </c:ser>
        <c:ser>
          <c:idx val="1"/>
          <c:order val="1"/>
          <c:tx>
            <c:strRef>
              <c:f>'HFPA'!$N$39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'HFPA'!$L$40:$L$44</c:f>
              <c:strCache>
                <c:ptCount val="5"/>
                <c:pt idx="0">
                  <c:v>NIKE COURT VISION LOW (MS/WS)</c:v>
                </c:pt>
                <c:pt idx="1">
                  <c:v>NIKE INITIATOR (MS/WS)</c:v>
                </c:pt>
                <c:pt idx="2">
                  <c:v>JORDAN 1 MID SE (PS/TD)</c:v>
                </c:pt>
                <c:pt idx="3">
                  <c:v>AIR JORDAN 1 LOW (MS/WS)</c:v>
                </c:pt>
                <c:pt idx="4">
                  <c:v>AIR JORDAN 1 LOW SE (GS)</c:v>
                </c:pt>
              </c:strCache>
            </c:strRef>
          </c:cat>
          <c:val>
            <c:numRef>
              <c:f>'HFPA'!$N$40:$N$44</c:f>
              <c:numCache>
                <c:formatCode>0.00%</c:formatCode>
                <c:ptCount val="5"/>
                <c:pt idx="0">
                  <c:v>0.141593</c:v>
                </c:pt>
                <c:pt idx="1">
                  <c:v>0.115385</c:v>
                </c:pt>
                <c:pt idx="2">
                  <c:v>0.137860</c:v>
                </c:pt>
                <c:pt idx="3">
                  <c:v>0.170507</c:v>
                </c:pt>
                <c:pt idx="4">
                  <c:v>0.195046</c:v>
                </c:pt>
              </c:numCache>
            </c:numRef>
          </c:val>
        </c:ser>
        <c:ser>
          <c:idx val="2"/>
          <c:order val="2"/>
          <c:tx>
            <c:strRef>
              <c:f>'HFPA'!$O$39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'HFPA'!$L$40:$L$44</c:f>
              <c:strCache>
                <c:ptCount val="5"/>
                <c:pt idx="0">
                  <c:v>NIKE COURT VISION LOW (MS/WS)</c:v>
                </c:pt>
                <c:pt idx="1">
                  <c:v>NIKE INITIATOR (MS/WS)</c:v>
                </c:pt>
                <c:pt idx="2">
                  <c:v>JORDAN 1 MID SE (PS/TD)</c:v>
                </c:pt>
                <c:pt idx="3">
                  <c:v>AIR JORDAN 1 LOW (MS/WS)</c:v>
                </c:pt>
                <c:pt idx="4">
                  <c:v>AIR JORDAN 1 LOW SE (GS)</c:v>
                </c:pt>
              </c:strCache>
            </c:strRef>
          </c:cat>
          <c:val>
            <c:numRef>
              <c:f>'HFPA'!$O$40:$O$44</c:f>
              <c:numCache>
                <c:formatCode>0.00%</c:formatCode>
                <c:ptCount val="5"/>
                <c:pt idx="3">
                  <c:v>0.085253</c:v>
                </c:pt>
                <c:pt idx="4">
                  <c:v>0.117647</c:v>
                </c:pt>
              </c:numCache>
            </c:numRef>
          </c:val>
        </c:ser>
        <c:ser>
          <c:idx val="3"/>
          <c:order val="3"/>
          <c:tx>
            <c:strRef>
              <c:f>'HFPA'!$P$39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'HFPA'!$L$40:$L$44</c:f>
              <c:strCache>
                <c:ptCount val="5"/>
                <c:pt idx="0">
                  <c:v>NIKE COURT VISION LOW (MS/WS)</c:v>
                </c:pt>
                <c:pt idx="1">
                  <c:v>NIKE INITIATOR (MS/WS)</c:v>
                </c:pt>
                <c:pt idx="2">
                  <c:v>JORDAN 1 MID SE (PS/TD)</c:v>
                </c:pt>
                <c:pt idx="3">
                  <c:v>AIR JORDAN 1 LOW (MS/WS)</c:v>
                </c:pt>
                <c:pt idx="4">
                  <c:v>AIR JORDAN 1 LOW SE (GS)</c:v>
                </c:pt>
              </c:strCache>
            </c:strRef>
          </c:cat>
          <c:val>
            <c:numRef>
              <c:f>'HFPA'!$P$40:$P$44</c:f>
              <c:numCache>
                <c:formatCode>0.00%</c:formatCode>
                <c:ptCount val="5"/>
                <c:pt idx="1">
                  <c:v>0.112426</c:v>
                </c:pt>
              </c:numCache>
            </c:numRef>
          </c:val>
        </c:ser>
        <c:ser>
          <c:idx val="4"/>
          <c:order val="4"/>
          <c:tx>
            <c:strRef>
              <c:f>'HFPA'!$Q$39</c:f>
              <c:strCache>
                <c:ptCount val="1"/>
                <c:pt idx="0">
                  <c:v>Toe off center</c:v>
                </c:pt>
              </c:strCache>
            </c:strRef>
          </c:tx>
          <c:spPr>
            <a:solidFill>
              <a:srgbClr val="403152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'HFPA'!$L$40:$L$44</c:f>
              <c:strCache>
                <c:ptCount val="5"/>
                <c:pt idx="0">
                  <c:v>NIKE COURT VISION LOW (MS/WS)</c:v>
                </c:pt>
                <c:pt idx="1">
                  <c:v>NIKE INITIATOR (MS/WS)</c:v>
                </c:pt>
                <c:pt idx="2">
                  <c:v>JORDAN 1 MID SE (PS/TD)</c:v>
                </c:pt>
                <c:pt idx="3">
                  <c:v>AIR JORDAN 1 LOW (MS/WS)</c:v>
                </c:pt>
                <c:pt idx="4">
                  <c:v>AIR JORDAN 1 LOW SE (GS)</c:v>
                </c:pt>
              </c:strCache>
            </c:strRef>
          </c:cat>
          <c:val>
            <c:numRef>
              <c:f>'HFPA'!$Q$40:$Q$44</c:f>
              <c:numCache>
                <c:formatCode>0.00%</c:formatCode>
                <c:ptCount val="5"/>
                <c:pt idx="0">
                  <c:v>0.105088</c:v>
                </c:pt>
              </c:numCache>
            </c:numRef>
          </c:val>
        </c:ser>
        <c:ser>
          <c:idx val="5"/>
          <c:order val="5"/>
          <c:tx>
            <c:strRef>
              <c:f>'HFPA'!$R$39</c:f>
              <c:strCache>
                <c:ptCount val="1"/>
                <c:pt idx="0">
                  <c:v>Over buffing</c:v>
                </c:pt>
              </c:strCache>
            </c:strRef>
          </c:tx>
          <c:spPr>
            <a:solidFill>
              <a:srgbClr val="95373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rot="0" spcFirstLastPara="1" vertOverflow="ellipsis" vert="horz" wrap="square" lIns="19050" tIns="9525" rIns="19050" bIns="9525" anchor="ctr" anchorCtr="1">
                <a:spAutoFit/>
              </a:bodyPr>
              <a:lstStyle/>
              <a:p>
                <a:pPr>
                  <a:defRPr lang="en-US" sz="700" b="1" i="0" baseline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numFmt formatCode="0.00%" sourceLinked="0"/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'HFPA'!$L$40:$L$44</c:f>
              <c:strCache>
                <c:ptCount val="5"/>
                <c:pt idx="0">
                  <c:v>NIKE COURT VISION LOW (MS/WS)</c:v>
                </c:pt>
                <c:pt idx="1">
                  <c:v>NIKE INITIATOR (MS/WS)</c:v>
                </c:pt>
                <c:pt idx="2">
                  <c:v>JORDAN 1 MID SE (PS/TD)</c:v>
                </c:pt>
                <c:pt idx="3">
                  <c:v>AIR JORDAN 1 LOW (MS/WS)</c:v>
                </c:pt>
                <c:pt idx="4">
                  <c:v>AIR JORDAN 1 LOW SE (GS)</c:v>
                </c:pt>
              </c:strCache>
            </c:strRef>
          </c:cat>
          <c:val>
            <c:numRef>
              <c:f>'HFPA'!$R$40:$R$44</c:f>
              <c:numCache>
                <c:formatCode>0.00%</c:formatCode>
                <c:ptCount val="5"/>
                <c:pt idx="2">
                  <c:v>0.096708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805357231"/>
        <c:axId val="1805349743"/>
      </c:barChart>
      <c:catAx>
        <c:axId val="18053572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en-US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b="0" i="0" u="sng" baseline="0">
                    <a:solidFill>
                      <a:schemeClr val="tx1"/>
                    </a:solidFill>
                    <a:latin typeface="+mn-lt"/>
                  </a:rPr>
                  <a:t>First priority: Over cement</a:t>
                </a:r>
                <a:endParaRPr lang="en-US" sz="800">
                  <a:solidFill>
                    <a:sysClr val="windowText" lastClr="000000"/>
                  </a:solidFill>
                  <a:effectLst/>
                  <a:latin typeface="+mn-lt"/>
                </a:endParaRPr>
              </a:p>
            </c:rich>
          </c:tx>
          <c:layout>
            <c:manualLayout>
              <c:xMode val="edge"/>
              <c:yMode val="edge"/>
              <c:x val="0.366850992647612"/>
              <c:y val="0.12309048760674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805349743"/>
        <c:crosses val="autoZero"/>
        <c:auto val="1"/>
        <c:lblAlgn val="ctr"/>
        <c:lblOffset val="100"/>
        <c:noMultiLvlLbl val="0"/>
      </c:catAx>
      <c:valAx>
        <c:axId val="180534974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05357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284" y="0"/>
            <a:ext cx="2680716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10" y="308885"/>
            <a:ext cx="1563831" cy="30487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4DA0"/>
                </a:solidFill>
              </a:defRPr>
            </a:lvl1pPr>
          </a:lstStyle>
          <a:p>
            <a:r>
              <a:rPr lang="en-ID" dirty="0"/>
              <a:t>MAKE IT RIGHT</a:t>
            </a:r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5E283A-E5DF-404F-88FE-649AD4D2791B}" type="slidenum">
              <a:rPr lang="en-ID" smtClean="0">
                <a:solidFill>
                  <a:prstClr val="white"/>
                </a:solidFill>
              </a:rPr>
            </a:fld>
            <a:endParaRPr lang="en-ID">
              <a:solidFill>
                <a:prstClr val="white"/>
              </a:solidFill>
            </a:endParaRPr>
          </a:p>
        </p:txBody>
      </p:sp>
      <p:sp>
        <p:nvSpPr>
          <p:cNvPr id="15" name="Title 6"/>
          <p:cNvSpPr>
            <a:spLocks noGrp="1"/>
          </p:cNvSpPr>
          <p:nvPr>
            <p:ph type="title"/>
          </p:nvPr>
        </p:nvSpPr>
        <p:spPr>
          <a:xfrm>
            <a:off x="522914" y="398029"/>
            <a:ext cx="5573086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522914" y="993883"/>
            <a:ext cx="5573086" cy="2222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22914" y="1533765"/>
            <a:ext cx="5573086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chart" Target="../charts/chart8.xml"/><Relationship Id="rId9" Type="http://schemas.openxmlformats.org/officeDocument/2006/relationships/chart" Target="../charts/chart9.xml"/><Relationship Id="rId10" Type="http://schemas.openxmlformats.org/officeDocument/2006/relationships/chart" Target="../charts/chart10.xml"/><Relationship Id="rId11" Type="http://schemas.openxmlformats.org/officeDocument/2006/relationships/chart" Target="../charts/chart11.xml"/><Relationship Id="rId12" Type="http://schemas.openxmlformats.org/officeDocument/2006/relationships/chart" Target="../charts/chart12.xml"/><Relationship Id="rId13" Type="http://schemas.openxmlformats.org/officeDocument/2006/relationships/image" Target="../media/image3.emf"/><Relationship Id="rId14" Type="http://schemas.openxmlformats.org/officeDocument/2006/relationships/slideLayout" Target="../slideLayouts/slideLayout12.xml"/><Relationship Id="rId15" Type="http://schemas.openxmlformats.org/officeDocument/2006/relationships/hyperlink" Target="../Output/QAStation_HFPA_Analysis_Report_Sep_2026.xlsx" TargetMode="External"/><Relationship Id="rId16" Type="http://schemas.openxmlformats.org/officeDocument/2006/relationships/hyperlink" Target="../Output/HFPA_Template_Updated_Sep_2026.xlsx" TargetMode="External"/><Relationship Id="rId17" Type="http://schemas.openxmlformats.org/officeDocument/2006/relationships/hyperlink" Target="../Output/HFPA_FTT_Combined_Master_Sep_2026.xlsx" TargetMode="External"/><Relationship Id="rId1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/>
          <p:cNvSpPr/>
          <p:nvPr/>
        </p:nvSpPr>
        <p:spPr>
          <a:xfrm>
            <a:off x="158518" y="-832"/>
            <a:ext cx="390334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2600" b="1">
                <a:solidFill>
                  <a:srgbClr val="002060"/>
                </a:solidFill>
                <a:latin typeface="Calibri Light"/>
              </a:rPr>
              <a:t>HFPA Performance </a:t>
            </a:r>
            <a:r>
              <a:rPr sz="1400" b="1">
                <a:solidFill>
                  <a:srgbClr val="ED7D31"/>
                </a:solidFill>
                <a:latin typeface="Arial"/>
              </a:rPr>
              <a:t>Sep, 2026</a:t>
            </a:r>
            <a:endParaRPr lang="en-US" sz="2400" b="1" dirty="0">
              <a:solidFill>
                <a:srgbClr val="ED7D31">
                  <a:lumMod val="50000"/>
                </a:srgbClr>
              </a:solidFill>
              <a:latin typeface="Arial" panose="020B0604020202020204" pitchFamily="34" charset="0"/>
              <a:ea typeface="Microsoft JhengHei" panose="020B0604030504040204" charset="-120"/>
              <a:cs typeface="Arial" panose="020B0604020202020204" pitchFamily="34" charset="0"/>
            </a:endParaRPr>
          </a:p>
        </p:txBody>
      </p:sp>
      <p:grpSp>
        <p:nvGrpSpPr>
          <p:cNvPr id="102" name="组合 11"/>
          <p:cNvGrpSpPr/>
          <p:nvPr/>
        </p:nvGrpSpPr>
        <p:grpSpPr>
          <a:xfrm>
            <a:off x="0" y="430886"/>
            <a:ext cx="9490509" cy="45719"/>
            <a:chOff x="0" y="709127"/>
            <a:chExt cx="12192000" cy="0"/>
          </a:xfrm>
        </p:grpSpPr>
        <p:cxnSp>
          <p:nvCxnSpPr>
            <p:cNvPr id="103" name="直接连接符 8"/>
            <p:cNvCxnSpPr/>
            <p:nvPr/>
          </p:nvCxnSpPr>
          <p:spPr>
            <a:xfrm>
              <a:off x="0" y="709127"/>
              <a:ext cx="12192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"/>
            <p:cNvCxnSpPr/>
            <p:nvPr/>
          </p:nvCxnSpPr>
          <p:spPr>
            <a:xfrm>
              <a:off x="195939" y="709127"/>
              <a:ext cx="877078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ectangle 104">
            <a:hlinkClick r:id="rId15"/>
          </p:cNvPr>
          <p:cNvSpPr/>
          <p:nvPr/>
        </p:nvSpPr>
        <p:spPr>
          <a:xfrm>
            <a:off x="11119247" y="36695"/>
            <a:ext cx="10422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>
                <a:solidFill>
                  <a:schemeClr val="bg1"/>
                </a:solidFill>
                <a:latin typeface="Calibri Light" panose="020F0302020204030204" pitchFamily="34" charset="0"/>
                <a:ea typeface="Microsoft JhengHei" panose="020B0604030504040204" charset="-120"/>
                <a:cs typeface="Calibri Light" panose="020F0302020204030204" pitchFamily="34" charset="0"/>
              </a:rPr>
              <a:t>Analysis by Site</a:t>
            </a:r>
            <a:endParaRPr lang="en-US" sz="1100" i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07" name="组合 14"/>
          <p:cNvGrpSpPr/>
          <p:nvPr/>
        </p:nvGrpSpPr>
        <p:grpSpPr>
          <a:xfrm>
            <a:off x="2299013" y="546444"/>
            <a:ext cx="2468946" cy="837402"/>
            <a:chOff x="3168446" y="526711"/>
            <a:chExt cx="2468946" cy="905524"/>
          </a:xfrm>
        </p:grpSpPr>
        <p:grpSp>
          <p:nvGrpSpPr>
            <p:cNvPr id="108" name="Group 107"/>
            <p:cNvGrpSpPr/>
            <p:nvPr/>
          </p:nvGrpSpPr>
          <p:grpSpPr>
            <a:xfrm>
              <a:off x="3759914" y="526711"/>
              <a:ext cx="1877478" cy="905524"/>
              <a:chOff x="1031954" y="784458"/>
              <a:chExt cx="1842309" cy="1365075"/>
            </a:xfrm>
          </p:grpSpPr>
          <p:sp>
            <p:nvSpPr>
              <p:cNvPr id="116" name="Rectangle 115"/>
              <p:cNvSpPr/>
              <p:nvPr/>
            </p:nvSpPr>
            <p:spPr>
              <a:xfrm>
                <a:off x="1073017" y="827174"/>
                <a:ext cx="1794543" cy="12819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1066315" y="784458"/>
                <a:ext cx="1515028" cy="476631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VH: 191,303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1182989" y="1072086"/>
                <a:ext cx="1691274" cy="476631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VH2: 175,514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1" name="Rectangle 160"/>
              <p:cNvSpPr/>
              <p:nvPr/>
            </p:nvSpPr>
            <p:spPr>
              <a:xfrm>
                <a:off x="1168981" y="1366503"/>
                <a:ext cx="1705281" cy="476631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JV: 97,919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1031954" y="1672902"/>
                <a:ext cx="1794543" cy="476631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JV2: 79,079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09" name="Oval 108"/>
            <p:cNvSpPr/>
            <p:nvPr/>
          </p:nvSpPr>
          <p:spPr>
            <a:xfrm>
              <a:off x="3211367" y="583402"/>
              <a:ext cx="817004" cy="773647"/>
            </a:xfrm>
            <a:prstGeom prst="ellipse">
              <a:avLst/>
            </a:prstGeom>
            <a:solidFill>
              <a:srgbClr val="3757B0"/>
            </a:solidFill>
            <a:ln w="136525" cap="sq" cmpd="thickThin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0" name="Oval 109">
              <a:hlinkClick r:id="rId16"/>
            </p:cNvPr>
            <p:cNvSpPr/>
            <p:nvPr/>
          </p:nvSpPr>
          <p:spPr>
            <a:xfrm>
              <a:off x="3168446" y="566256"/>
              <a:ext cx="859926" cy="81899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Calibri"/>
                </a:rPr>
                <a:t>Total pair</a:t>
              </a:r>
              <a:endParaRPr lang="en-US" sz="900" b="1" dirty="0">
                <a:solidFill>
                  <a:prstClr val="white"/>
                </a:solidFill>
              </a:endParaRPr>
            </a:p>
            <a:p>
              <a:pPr algn="ctr">
                <a:spcBef>
                  <a:spcPts val="0"/>
                </a:spcBef>
                <a:spcAft>
                  <a:spcPts val="100"/>
                </a:spcAft>
              </a:pPr>
              <a:r>
                <a:rPr sz="800" b="1">
                  <a:solidFill>
                    <a:srgbClr val="FFFFFF"/>
                  </a:solidFill>
                  <a:latin typeface="Calibri"/>
                </a:rPr>
                <a:t>produced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FFFFFF"/>
                  </a:solidFill>
                  <a:latin typeface="Calibri"/>
                </a:rPr>
                <a:t>~544K</a:t>
              </a:r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5245791" y="561658"/>
            <a:ext cx="2443037" cy="818525"/>
            <a:chOff x="428913" y="813631"/>
            <a:chExt cx="2445722" cy="1424181"/>
          </a:xfrm>
        </p:grpSpPr>
        <p:grpSp>
          <p:nvGrpSpPr>
            <p:cNvPr id="164" name="Group 163"/>
            <p:cNvGrpSpPr/>
            <p:nvPr/>
          </p:nvGrpSpPr>
          <p:grpSpPr>
            <a:xfrm>
              <a:off x="1081736" y="813631"/>
              <a:ext cx="1792899" cy="1424181"/>
              <a:chOff x="1081736" y="813631"/>
              <a:chExt cx="1792900" cy="1424180"/>
            </a:xfrm>
          </p:grpSpPr>
          <p:sp>
            <p:nvSpPr>
              <p:cNvPr id="167" name="Rectangle 166"/>
              <p:cNvSpPr/>
              <p:nvPr/>
            </p:nvSpPr>
            <p:spPr>
              <a:xfrm>
                <a:off x="1081736" y="833778"/>
                <a:ext cx="1739271" cy="1368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68" name="Rectangle 167"/>
              <p:cNvSpPr/>
              <p:nvPr/>
            </p:nvSpPr>
            <p:spPr>
              <a:xfrm>
                <a:off x="1113995" y="813631"/>
                <a:ext cx="1682621" cy="508736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VH: 30,535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1192015" y="1136998"/>
                <a:ext cx="1682621" cy="508736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VH2: 25,464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1190958" y="1442170"/>
                <a:ext cx="1673557" cy="508736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JV: 12,584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71" name="Rectangle 170"/>
              <p:cNvSpPr/>
              <p:nvPr/>
            </p:nvSpPr>
            <p:spPr>
              <a:xfrm>
                <a:off x="1083299" y="1729075"/>
                <a:ext cx="1739267" cy="508736"/>
              </a:xfrm>
              <a:prstGeom prst="rect">
                <a:avLst/>
              </a:prstGeom>
            </p:spPr>
            <p:txBody>
              <a:bodyPr wrap="none" lIns="127000" rIns="25400" tIns="0" bIns="0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sz="1150" b="0">
                    <a:solidFill>
                      <a:srgbClr val="000000"/>
                    </a:solidFill>
                    <a:latin typeface="Calibri Light"/>
                  </a:rPr>
                  <a:t>JV2: 4,580 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65" name="Oval 164"/>
            <p:cNvSpPr/>
            <p:nvPr/>
          </p:nvSpPr>
          <p:spPr>
            <a:xfrm>
              <a:off x="428913" y="838274"/>
              <a:ext cx="914400" cy="12354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66" name="Oval 165">
              <a:hlinkClick r:id="rId16"/>
            </p:cNvPr>
            <p:cNvSpPr/>
            <p:nvPr/>
          </p:nvSpPr>
          <p:spPr>
            <a:xfrm>
              <a:off x="590701" y="894548"/>
              <a:ext cx="732324" cy="1194287"/>
            </a:xfrm>
            <a:prstGeom prst="ellipse">
              <a:avLst/>
            </a:prstGeom>
            <a:solidFill>
              <a:srgbClr val="3868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wrap="none"/>
            <a:lstStyle/>
            <a:p>
              <a:pPr algn="ctr"/>
              <a:r>
                <a:rPr sz="850" b="1">
                  <a:solidFill>
                    <a:srgbClr val="FFFFFF"/>
                  </a:solidFill>
                  <a:latin typeface="Calibri"/>
                </a:rPr>
                <a:t>Defective</a:t>
              </a:r>
              <a:endParaRPr lang="en-US" sz="900" b="1" dirty="0">
                <a:solidFill>
                  <a:prstClr val="white"/>
                </a:solidFill>
              </a:endParaRPr>
            </a:p>
            <a:p>
              <a:pPr algn="ctr"/>
              <a:r>
                <a:rPr sz="1600" b="1">
                  <a:solidFill>
                    <a:srgbClr val="FFFFFF"/>
                  </a:solidFill>
                  <a:latin typeface="Calibri"/>
                </a:rPr>
                <a:t>~73K</a:t>
              </a:r>
            </a:p>
          </p:txBody>
        </p:sp>
      </p:grpSp>
      <p:sp>
        <p:nvSpPr>
          <p:cNvPr id="172" name="Pentagon 39">
            <a:hlinkClick r:id="rId16"/>
          </p:cNvPr>
          <p:cNvSpPr/>
          <p:nvPr/>
        </p:nvSpPr>
        <p:spPr>
          <a:xfrm>
            <a:off x="4295643" y="1780790"/>
            <a:ext cx="484632" cy="176693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 wrap="non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VH</a:t>
            </a:r>
            <a:endParaRPr lang="en-US" sz="2400" b="1" dirty="0">
              <a:solidFill>
                <a:prstClr val="black"/>
              </a:solidFill>
            </a:endParaRPr>
          </a:p>
        </p:txBody>
      </p:sp>
      <p:cxnSp>
        <p:nvCxnSpPr>
          <p:cNvPr id="173" name="Straight Connector 172"/>
          <p:cNvCxnSpPr/>
          <p:nvPr/>
        </p:nvCxnSpPr>
        <p:spPr>
          <a:xfrm>
            <a:off x="15240" y="4129220"/>
            <a:ext cx="12161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>
            <a:off x="-12077" y="5425299"/>
            <a:ext cx="12161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Pentagon 156">
            <a:hlinkClick r:id="rId16"/>
          </p:cNvPr>
          <p:cNvSpPr/>
          <p:nvPr/>
        </p:nvSpPr>
        <p:spPr>
          <a:xfrm>
            <a:off x="4307001" y="5677595"/>
            <a:ext cx="457200" cy="182880"/>
          </a:xfrm>
          <a:prstGeom prst="homePlat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 wrap="non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JV2</a:t>
            </a:r>
            <a:endParaRPr lang="en-US" sz="2400" b="1" dirty="0">
              <a:solidFill>
                <a:prstClr val="black"/>
              </a:solidFill>
            </a:endParaRPr>
          </a:p>
        </p:txBody>
      </p:sp>
      <p:cxnSp>
        <p:nvCxnSpPr>
          <p:cNvPr id="176" name="Straight Connector 175"/>
          <p:cNvCxnSpPr/>
          <p:nvPr/>
        </p:nvCxnSpPr>
        <p:spPr>
          <a:xfrm>
            <a:off x="0" y="2796399"/>
            <a:ext cx="12161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hlinkClick r:id="rId15"/>
          </p:cNvPr>
          <p:cNvSpPr/>
          <p:nvPr/>
        </p:nvSpPr>
        <p:spPr>
          <a:xfrm>
            <a:off x="4282487" y="2052366"/>
            <a:ext cx="640080" cy="365760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HFPA DR:</a:t>
            </a:r>
            <a:endParaRPr lang="en-US" sz="1000" b="1" dirty="0">
              <a:solidFill>
                <a:prstClr val="black"/>
              </a:solidFill>
            </a:endParaRPr>
          </a:p>
          <a:p>
            <a:pPr algn="ctr">
              <a:spcBef>
                <a:spcPts val="0"/>
              </a:spcBef>
            </a:pPr>
            <a:r>
              <a:rPr sz="950" b="1">
                <a:solidFill>
                  <a:srgbClr val="000000"/>
                </a:solidFill>
                <a:latin typeface="Calibri"/>
              </a:rPr>
              <a:t>15.96%</a:t>
            </a:r>
          </a:p>
        </p:txBody>
      </p:sp>
      <p:sp>
        <p:nvSpPr>
          <p:cNvPr id="178" name="Pentagon 151">
            <a:hlinkClick r:id="rId16"/>
          </p:cNvPr>
          <p:cNvSpPr/>
          <p:nvPr/>
        </p:nvSpPr>
        <p:spPr>
          <a:xfrm>
            <a:off x="4295643" y="3011178"/>
            <a:ext cx="457200" cy="182880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 wrap="non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VH2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179" name="Rectangle 178">
            <a:hlinkClick r:id="rId15"/>
          </p:cNvPr>
          <p:cNvSpPr/>
          <p:nvPr/>
        </p:nvSpPr>
        <p:spPr>
          <a:xfrm>
            <a:off x="4282487" y="3269501"/>
            <a:ext cx="640080" cy="36576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HFPA DR:</a:t>
            </a:r>
            <a:endParaRPr lang="en-US" sz="1000" b="1" dirty="0">
              <a:solidFill>
                <a:prstClr val="black"/>
              </a:solidFill>
            </a:endParaRPr>
          </a:p>
          <a:p>
            <a:pPr algn="ctr">
              <a:spcBef>
                <a:spcPts val="0"/>
              </a:spcBef>
            </a:pPr>
            <a:r>
              <a:rPr sz="950" b="1">
                <a:solidFill>
                  <a:srgbClr val="000000"/>
                </a:solidFill>
                <a:latin typeface="Calibri"/>
              </a:rPr>
              <a:t>14.51%</a:t>
            </a:r>
          </a:p>
        </p:txBody>
      </p:sp>
      <p:sp>
        <p:nvSpPr>
          <p:cNvPr id="180" name="Pentagon 152">
            <a:hlinkClick r:id="rId16"/>
          </p:cNvPr>
          <p:cNvSpPr/>
          <p:nvPr/>
        </p:nvSpPr>
        <p:spPr>
          <a:xfrm>
            <a:off x="4295643" y="4397194"/>
            <a:ext cx="457200" cy="180644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 wrap="non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JV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181" name="Rectangle 180">
            <a:hlinkClick r:id="rId15"/>
          </p:cNvPr>
          <p:cNvSpPr/>
          <p:nvPr/>
        </p:nvSpPr>
        <p:spPr>
          <a:xfrm>
            <a:off x="4282487" y="4682806"/>
            <a:ext cx="6400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HFPA DR:</a:t>
            </a:r>
            <a:endParaRPr lang="en-US" sz="1000" b="1" dirty="0">
              <a:solidFill>
                <a:prstClr val="black"/>
              </a:solidFill>
            </a:endParaRPr>
          </a:p>
          <a:p>
            <a:pPr algn="ctr">
              <a:spcBef>
                <a:spcPts val="0"/>
              </a:spcBef>
            </a:pPr>
            <a:r>
              <a:rPr sz="950" b="1">
                <a:solidFill>
                  <a:srgbClr val="000000"/>
                </a:solidFill>
                <a:latin typeface="Calibri"/>
              </a:rPr>
              <a:t>12.85%</a:t>
            </a:r>
          </a:p>
        </p:txBody>
      </p:sp>
      <p:sp>
        <p:nvSpPr>
          <p:cNvPr id="182" name="Rectangle 181">
            <a:hlinkClick r:id="rId15"/>
          </p:cNvPr>
          <p:cNvSpPr/>
          <p:nvPr/>
        </p:nvSpPr>
        <p:spPr>
          <a:xfrm>
            <a:off x="4279092" y="5933055"/>
            <a:ext cx="640080" cy="3657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HFPA DR:</a:t>
            </a:r>
            <a:endParaRPr lang="en-US" sz="1000" b="1" dirty="0">
              <a:solidFill>
                <a:prstClr val="black"/>
              </a:solidFill>
            </a:endParaRPr>
          </a:p>
          <a:p>
            <a:pPr algn="ctr">
              <a:spcBef>
                <a:spcPts val="0"/>
              </a:spcBef>
            </a:pPr>
            <a:r>
              <a:rPr sz="950" b="1">
                <a:solidFill>
                  <a:srgbClr val="000000"/>
                </a:solidFill>
                <a:latin typeface="Calibri"/>
              </a:rPr>
              <a:t>5.79%</a:t>
            </a:r>
          </a:p>
        </p:txBody>
      </p:sp>
      <p:sp>
        <p:nvSpPr>
          <p:cNvPr id="183" name="Isosceles Triangle 182"/>
          <p:cNvSpPr/>
          <p:nvPr/>
        </p:nvSpPr>
        <p:spPr>
          <a:xfrm rot="5400000">
            <a:off x="1312118" y="738156"/>
            <a:ext cx="241787" cy="348218"/>
          </a:xfrm>
          <a:prstGeom prst="triangle">
            <a:avLst>
              <a:gd name="adj" fmla="val 5348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4" name="Rectangle 183">
            <a:hlinkClick r:id="rId17"/>
          </p:cNvPr>
          <p:cNvSpPr/>
          <p:nvPr/>
        </p:nvSpPr>
        <p:spPr>
          <a:xfrm>
            <a:off x="328756" y="636656"/>
            <a:ext cx="1057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cs typeface="Calibri" panose="020F0502020204030204" pitchFamily="34" charset="0"/>
              </a:rPr>
              <a:t>HFPA</a:t>
            </a:r>
            <a:endParaRPr lang="en-US" sz="2800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185" name="Rectangle 184">
            <a:hlinkClick r:id="rId17"/>
          </p:cNvPr>
          <p:cNvSpPr/>
          <p:nvPr/>
        </p:nvSpPr>
        <p:spPr>
          <a:xfrm>
            <a:off x="62155" y="1046661"/>
            <a:ext cx="1939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</a:rPr>
              <a:t>High Frequency Product Audit</a:t>
            </a:r>
            <a:endParaRPr lang="en-US" sz="11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graphicFrame>
        <p:nvGraphicFramePr>
          <p:cNvPr id="195" name="Chart 194"/>
          <p:cNvGraphicFramePr/>
          <p:nvPr/>
        </p:nvGraphicFramePr>
        <p:xfrm>
          <a:off x="4985468" y="1527048"/>
          <a:ext cx="3125260" cy="122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6" name="Chart 195"/>
          <p:cNvGraphicFramePr/>
          <p:nvPr/>
        </p:nvGraphicFramePr>
        <p:xfrm>
          <a:off x="4983480" y="2862072"/>
          <a:ext cx="3127248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7" name="Chart 196"/>
          <p:cNvGraphicFramePr/>
          <p:nvPr/>
        </p:nvGraphicFramePr>
        <p:xfrm>
          <a:off x="5003736" y="4181702"/>
          <a:ext cx="3127248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8" name="Chart 197"/>
          <p:cNvGraphicFramePr/>
          <p:nvPr/>
        </p:nvGraphicFramePr>
        <p:xfrm>
          <a:off x="5018990" y="5468645"/>
          <a:ext cx="3127248" cy="1225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2" name="Chart 51"/>
          <p:cNvGraphicFramePr/>
          <p:nvPr/>
        </p:nvGraphicFramePr>
        <p:xfrm>
          <a:off x="91440" y="1527048"/>
          <a:ext cx="4118707" cy="1225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Chart 52"/>
          <p:cNvGraphicFramePr/>
          <p:nvPr/>
        </p:nvGraphicFramePr>
        <p:xfrm>
          <a:off x="91440" y="2862072"/>
          <a:ext cx="4118707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Chart 53"/>
          <p:cNvGraphicFramePr/>
          <p:nvPr/>
        </p:nvGraphicFramePr>
        <p:xfrm>
          <a:off x="91440" y="4178808"/>
          <a:ext cx="4118707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5" name="Chart 54"/>
          <p:cNvGraphicFramePr/>
          <p:nvPr/>
        </p:nvGraphicFramePr>
        <p:xfrm>
          <a:off x="91440" y="5486400"/>
          <a:ext cx="4118707" cy="1225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4" name="Chart 63"/>
          <p:cNvGraphicFramePr/>
          <p:nvPr/>
        </p:nvGraphicFramePr>
        <p:xfrm>
          <a:off x="8268674" y="1529828"/>
          <a:ext cx="3923326" cy="1227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65" name="Chart 64"/>
          <p:cNvGraphicFramePr/>
          <p:nvPr/>
        </p:nvGraphicFramePr>
        <p:xfrm>
          <a:off x="8268674" y="2862072"/>
          <a:ext cx="3923326" cy="1191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66" name="Chart 65"/>
          <p:cNvGraphicFramePr/>
          <p:nvPr/>
        </p:nvGraphicFramePr>
        <p:xfrm>
          <a:off x="8268674" y="4178808"/>
          <a:ext cx="3923326" cy="1191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67" name="Chart 66"/>
          <p:cNvGraphicFramePr/>
          <p:nvPr/>
        </p:nvGraphicFramePr>
        <p:xfrm>
          <a:off x="8268674" y="5458119"/>
          <a:ext cx="3923326" cy="1227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199" name="Picture 2" descr="defect_legend_render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88371" y="580000"/>
            <a:ext cx="2855916" cy="7343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WPS Presentation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SimSun</vt:lpstr>
      <vt:lpstr>Wingdings</vt:lpstr>
      <vt:lpstr>Neo Sans Std</vt:lpstr>
      <vt:lpstr>Raavi</vt:lpstr>
      <vt:lpstr>Open Sans Light</vt:lpstr>
      <vt:lpstr>Yu Gothic UI Light</vt:lpstr>
      <vt:lpstr>Helvetica</vt:lpstr>
      <vt:lpstr>Roboto</vt:lpstr>
      <vt:lpstr>Wide Latin</vt:lpstr>
      <vt:lpstr>Calibri Light</vt:lpstr>
      <vt:lpstr>Microsoft JhengHei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Le, Thanh-Truc</dc:creator>
  <cp:lastModifiedBy>thinhphat.nguyen</cp:lastModifiedBy>
  <cp:revision>265</cp:revision>
  <dcterms:created xsi:type="dcterms:W3CDTF">2026-03-27T03:14:00Z</dcterms:created>
  <dcterms:modified xsi:type="dcterms:W3CDTF">2026-09-25T02:14:43Z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9B7D405B00274A5AA0001360A5065F74</vt:lpwstr>
  </property>
  <property fmtid="{D5CDD505-2E9C-101B-9397-08002B2CF9AE}" pid="3" name="KSOProductBuildVer">
    <vt:lpwstr>1033-11.2.0.11440</vt:lpwstr>
  </property>
</Properties>
</file>