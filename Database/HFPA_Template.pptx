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57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7FBD"/>
    <a:srgbClr val="6D597A"/>
    <a:srgbClr val="5F9EA0"/>
    <a:srgbClr val="B09360"/>
    <a:srgbClr val="F6FF9F"/>
    <a:srgbClr val="543C90"/>
    <a:srgbClr val="EBBAFE"/>
    <a:srgbClr val="F3AFAF"/>
    <a:srgbClr val="998AF2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3690" autoAdjust="0"/>
  </p:normalViewPr>
  <p:slideViewPr>
    <p:cSldViewPr snapToGrid="0">
      <p:cViewPr varScale="1">
        <p:scale>
          <a:sx n="66" d="100"/>
          <a:sy n="66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microsoft.com/office/2011/relationships/chartStyle" Target="style4.xml"/><Relationship Id="rId3" Type="http://schemas.microsoft.com/office/2011/relationships/chartColorStyle" Target="colors4.xm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1.xml"/><Relationship Id="rId3" Type="http://schemas.microsoft.com/office/2011/relationships/chartStyle" Target="style5.xml"/><Relationship Id="rId4" Type="http://schemas.microsoft.com/office/2011/relationships/chartColorStyle" Target="colors5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2.xml"/><Relationship Id="rId3" Type="http://schemas.microsoft.com/office/2011/relationships/chartStyle" Target="style6.xml"/><Relationship Id="rId4" Type="http://schemas.microsoft.com/office/2011/relationships/chartColorStyle" Target="colors6.xm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3.xml"/><Relationship Id="rId3" Type="http://schemas.microsoft.com/office/2011/relationships/chartStyle" Target="style7.xml"/><Relationship Id="rId4" Type="http://schemas.microsoft.com/office/2011/relationships/chartColorStyle" Target="colors7.xml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4.xml"/><Relationship Id="rId3" Type="http://schemas.microsoft.com/office/2011/relationships/chartStyle" Target="style8.xml"/><Relationship Id="rId4" Type="http://schemas.microsoft.com/office/2011/relationships/chartColorStyle" Target="colors8.xm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5.xml"/><Relationship Id="rId3" Type="http://schemas.microsoft.com/office/2011/relationships/chartStyle" Target="style9.xml"/><Relationship Id="rId4" Type="http://schemas.microsoft.com/office/2011/relationships/chartColorStyle" Target="colors9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6.xml"/><Relationship Id="rId3" Type="http://schemas.microsoft.com/office/2011/relationships/chartStyle" Target="style10.xml"/><Relationship Id="rId4" Type="http://schemas.microsoft.com/office/2011/relationships/chartColorStyle" Target="colors10.xm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7.xml"/><Relationship Id="rId3" Type="http://schemas.microsoft.com/office/2011/relationships/chartStyle" Target="style11.xml"/><Relationship Id="rId4" Type="http://schemas.microsoft.com/office/2011/relationships/chartColorStyle" Target="colors11.xm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_Jun_2026.xlsx" TargetMode="External"/><Relationship Id="rId2" Type="http://schemas.openxmlformats.org/officeDocument/2006/relationships/themeOverride" Target="../theme/themeOverride8.xml"/><Relationship Id="rId3" Type="http://schemas.microsoft.com/office/2011/relationships/chartStyle" Target="style12.xml"/><Relationship Id="rId4" Type="http://schemas.microsoft.com/office/2011/relationships/chartColorStyle" Target="colors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2336318120547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53254449229824"/>
          <c:y val="0.289477691612413"/>
          <c:w val="0.978512827732733"/>
          <c:h val="0.44226165524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month'!$G$21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month'!$D$22:$D$26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month'!$G$22:$G$26</c:f>
              <c:numCache>
                <c:formatCode>0.00%</c:formatCode>
                <c:ptCount val="5"/>
                <c:pt idx="0">
                  <c:v>0.015295</c:v>
                </c:pt>
                <c:pt idx="1">
                  <c:v>0.010361</c:v>
                </c:pt>
                <c:pt idx="2">
                  <c:v>0.009455</c:v>
                </c:pt>
                <c:pt idx="3">
                  <c:v>0.007190</c:v>
                </c:pt>
                <c:pt idx="4">
                  <c:v>0.006136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6592"/>
        <c:axId val="-1252538976"/>
      </c:barChart>
      <c:catAx>
        <c:axId val="-1252546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8976"/>
        <c:crosses val="autoZero"/>
        <c:auto val="1"/>
        <c:lblAlgn val="ctr"/>
        <c:lblOffset val="100"/>
        <c:noMultiLvlLbl val="0"/>
      </c:catAx>
      <c:valAx>
        <c:axId val="-125253897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659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229780473715"/>
          <c:h val="0.1650724060562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6222318505681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243579846637"/>
          <c:y val="0.289732533433321"/>
          <c:w val="0.971250836292522"/>
          <c:h val="0.4187605155124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month'!$G$27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month'!$D$28:$D$32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month'!$G$28:$G$32</c:f>
              <c:numCache>
                <c:formatCode>0.00%</c:formatCode>
                <c:ptCount val="5"/>
                <c:pt idx="0">
                  <c:v>0.030866</c:v>
                </c:pt>
                <c:pt idx="1">
                  <c:v>0.020998</c:v>
                </c:pt>
                <c:pt idx="2">
                  <c:v>0.019276</c:v>
                </c:pt>
                <c:pt idx="3">
                  <c:v>0.009009</c:v>
                </c:pt>
                <c:pt idx="4">
                  <c:v>0.007890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3872"/>
        <c:axId val="-1252567808"/>
      </c:barChart>
      <c:catAx>
        <c:axId val="-1252543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67808"/>
        <c:crosses val="autoZero"/>
        <c:auto val="1"/>
        <c:lblAlgn val="ctr"/>
        <c:lblOffset val="100"/>
        <c:noMultiLvlLbl val="0"/>
      </c:catAx>
      <c:valAx>
        <c:axId val="-125256780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387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9279318313114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11663929435721"/>
          <c:y val="0.191288949458241"/>
          <c:w val="0.973010635509768"/>
          <c:h val="0.517204219664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month'!$G$33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month'!$D$34:$D$38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month'!$G$34:$G$38</c:f>
              <c:numCache>
                <c:formatCode>0.00%</c:formatCode>
                <c:ptCount val="5"/>
                <c:pt idx="0">
                  <c:v>0.031774</c:v>
                </c:pt>
                <c:pt idx="1">
                  <c:v>0.019854</c:v>
                </c:pt>
                <c:pt idx="2">
                  <c:v>0.013731</c:v>
                </c:pt>
                <c:pt idx="3">
                  <c:v>0.007499</c:v>
                </c:pt>
                <c:pt idx="4">
                  <c:v>0.006691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64544"/>
        <c:axId val="-1252543328"/>
      </c:barChart>
      <c:catAx>
        <c:axId val="-1252564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43328"/>
        <c:crosses val="autoZero"/>
        <c:auto val="1"/>
        <c:lblAlgn val="ctr"/>
        <c:lblOffset val="100"/>
        <c:noMultiLvlLbl val="0"/>
      </c:catAx>
      <c:valAx>
        <c:axId val="-125254332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6454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560035532839097"/>
          <c:y val="0.0152760952957803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539331792798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16907901132242"/>
          <c:y val="0.329859070787793"/>
          <c:w val="0.977968488588049"/>
          <c:h val="0.3873357947793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month'!$G$39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month'!$D$40:$D$44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month'!$G$40:$G$44</c:f>
              <c:numCache>
                <c:formatCode>0.00%</c:formatCode>
                <c:ptCount val="5"/>
                <c:pt idx="0">
                  <c:v>0.009948</c:v>
                </c:pt>
                <c:pt idx="1">
                  <c:v>0.006282</c:v>
                </c:pt>
                <c:pt idx="2">
                  <c:v>0.006121</c:v>
                </c:pt>
                <c:pt idx="3">
                  <c:v>0.006035</c:v>
                </c:pt>
                <c:pt idx="4">
                  <c:v>0.004717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51488"/>
        <c:axId val="-1252536256"/>
      </c:barChart>
      <c:catAx>
        <c:axId val="-1252551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6256"/>
        <c:crosses val="autoZero"/>
        <c:auto val="1"/>
        <c:lblAlgn val="ctr"/>
        <c:lblOffset val="100"/>
        <c:noMultiLvlLbl val="0"/>
      </c:catAx>
      <c:valAx>
        <c:axId val="-125253625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51488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7295025621797"/>
          <c:w val="0.993833016041199"/>
          <c:h val="0.6503786507124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month'!$B$2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month'!$C$2:$H$2</c:f>
              <c:numCache>
                <c:formatCode>#,##0</c:formatCode>
                <c:ptCount val="6"/>
                <c:pt idx="0">
                  <c:v>271598.0</c:v>
                </c:pt>
                <c:pt idx="1">
                  <c:v>187596.0</c:v>
                </c:pt>
                <c:pt idx="2">
                  <c:v>260599.0</c:v>
                </c:pt>
                <c:pt idx="3">
                  <c:v>237958.0</c:v>
                </c:pt>
                <c:pt idx="4">
                  <c:v>235755.0</c:v>
                </c:pt>
                <c:pt idx="5">
                  <c:v>229614.0</c:v>
                </c:pt>
              </c:numCache>
            </c:numRef>
          </c:val>
        </c:ser>
        <c:ser>
          <c:idx val="1"/>
          <c:order val="1"/>
          <c:tx>
            <c:strRef>
              <c:f>'Current month'!$B$9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1483478489892e-7"/>
                  <c:y val="-0.0547189640242462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960493827160494"/>
                      <c:h val="0.157268883056285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-0.070302290797449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month'!$C$9:$H$9</c:f>
              <c:numCache>
                <c:formatCode>#,##0</c:formatCode>
                <c:ptCount val="6"/>
                <c:pt idx="0">
                  <c:v>41519.0</c:v>
                </c:pt>
                <c:pt idx="1">
                  <c:v>28653.0</c:v>
                </c:pt>
                <c:pt idx="2">
                  <c:v>40780.0</c:v>
                </c:pt>
                <c:pt idx="3">
                  <c:v>37189.0</c:v>
                </c:pt>
                <c:pt idx="4">
                  <c:v>36868.0</c:v>
                </c:pt>
                <c:pt idx="5">
                  <c:v>35819.0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month'!$B$16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month'!$C$16:$H$16</c:f>
              <c:numCache>
                <c:formatCode>0.00%</c:formatCode>
                <c:ptCount val="6"/>
                <c:pt idx="0">
                  <c:v>0.8471306857929735</c:v>
                </c:pt>
                <c:pt idx="1">
                  <c:v>0.8472622017527026</c:v>
                </c:pt>
                <c:pt idx="2">
                  <c:v>0.8435143649822141</c:v>
                </c:pt>
                <c:pt idx="3">
                  <c:v>0.8437161179703981</c:v>
                </c:pt>
                <c:pt idx="4">
                  <c:v>0.8436173145850565</c:v>
                </c:pt>
                <c:pt idx="5">
                  <c:v>0.8440034144259496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4116536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5837323394034"/>
          <c:w val="0.993833016041199"/>
          <c:h val="0.4722392439408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month'!$B$3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5B9BD5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month'!$C$3:$H$3</c:f>
              <c:numCache>
                <c:formatCode>#,##0</c:formatCode>
                <c:ptCount val="6"/>
                <c:pt idx="0">
                  <c:v>215017.0</c:v>
                </c:pt>
                <c:pt idx="1">
                  <c:v>142829.0</c:v>
                </c:pt>
                <c:pt idx="2">
                  <c:v>198311.0</c:v>
                </c:pt>
                <c:pt idx="3">
                  <c:v>197716.0</c:v>
                </c:pt>
                <c:pt idx="4">
                  <c:v>202479.0</c:v>
                </c:pt>
                <c:pt idx="5">
                  <c:v>187587.0</c:v>
                </c:pt>
              </c:numCache>
            </c:numRef>
          </c:val>
        </c:ser>
        <c:ser>
          <c:idx val="1"/>
          <c:order val="1"/>
          <c:tx>
            <c:strRef>
              <c:f>'Current month'!$B$10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month'!$C$10:$H$10</c:f>
              <c:numCache>
                <c:formatCode>#,##0</c:formatCode>
                <c:ptCount val="6"/>
                <c:pt idx="0">
                  <c:v>20033.0</c:v>
                </c:pt>
                <c:pt idx="1">
                  <c:v>19126.0</c:v>
                </c:pt>
                <c:pt idx="2">
                  <c:v>27189.0</c:v>
                </c:pt>
                <c:pt idx="3">
                  <c:v>27481.0</c:v>
                </c:pt>
                <c:pt idx="4">
                  <c:v>29000.0</c:v>
                </c:pt>
                <c:pt idx="5">
                  <c:v>26824.0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month'!$B$17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month'!$C$17:$H$17</c:f>
              <c:numCache>
                <c:formatCode>0.00%</c:formatCode>
                <c:ptCount val="6"/>
                <c:pt idx="0">
                  <c:v>0.9068306226949497</c:v>
                </c:pt>
                <c:pt idx="1">
                  <c:v>0.8660916200491497</c:v>
                </c:pt>
                <c:pt idx="2">
                  <c:v>0.862897166571698</c:v>
                </c:pt>
                <c:pt idx="3">
                  <c:v>0.861007708025653</c:v>
                </c:pt>
                <c:pt idx="4">
                  <c:v>0.8567752705218813</c:v>
                </c:pt>
                <c:pt idx="5">
                  <c:v>0.8570050163390853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25048802461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84331474612494"/>
          <c:w val="0.990749524061799"/>
          <c:h val="0.4351302844579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month'!$B$4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month'!$C$4:$H$4</c:f>
              <c:numCache>
                <c:formatCode>#,##0</c:formatCode>
                <c:ptCount val="6"/>
                <c:pt idx="0">
                  <c:v>113263.0</c:v>
                </c:pt>
                <c:pt idx="1">
                  <c:v>109373.0</c:v>
                </c:pt>
                <c:pt idx="2">
                  <c:v>77577.0</c:v>
                </c:pt>
                <c:pt idx="3">
                  <c:v>128553.0</c:v>
                </c:pt>
                <c:pt idx="4">
                  <c:v>94006.0</c:v>
                </c:pt>
                <c:pt idx="5">
                  <c:v>91617.0</c:v>
                </c:pt>
              </c:numCache>
            </c:numRef>
          </c:val>
        </c:ser>
        <c:ser>
          <c:idx val="1"/>
          <c:order val="1"/>
          <c:tx>
            <c:strRef>
              <c:f>'Current month'!$B$11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month'!$C$11:$H$11</c:f>
              <c:numCache>
                <c:formatCode>#,##0</c:formatCode>
                <c:ptCount val="6"/>
                <c:pt idx="0">
                  <c:v>7879.0</c:v>
                </c:pt>
                <c:pt idx="1">
                  <c:v>9713.0</c:v>
                </c:pt>
                <c:pt idx="2">
                  <c:v>6825.0</c:v>
                </c:pt>
                <c:pt idx="3">
                  <c:v>12512.0</c:v>
                </c:pt>
                <c:pt idx="4">
                  <c:v>9320.0</c:v>
                </c:pt>
                <c:pt idx="5">
                  <c:v>9379.0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month'!$B$18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month'!$C$18:$H$18</c:f>
              <c:numCache>
                <c:formatCode>0.00%</c:formatCode>
                <c:ptCount val="6"/>
                <c:pt idx="0">
                  <c:v>0.9304362413144628</c:v>
                </c:pt>
                <c:pt idx="1">
                  <c:v>0.9111938046867143</c:v>
                </c:pt>
                <c:pt idx="2">
                  <c:v>0.9120228933833482</c:v>
                </c:pt>
                <c:pt idx="3">
                  <c:v>0.9026704938819008</c:v>
                </c:pt>
                <c:pt idx="4">
                  <c:v>0.9008573920813565</c:v>
                </c:pt>
                <c:pt idx="5">
                  <c:v>0.8976281694445354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solidFill>
          <a:sysClr val="window" lastClr="FFFFFF"/>
        </a:solidFill>
        <a:ln>
          <a:solidFill>
            <a:sysClr val="window" lastClr="FFFFFF"/>
          </a:solidFill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073213232946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64745300898347"/>
          <c:w val="0.993833016041199"/>
          <c:h val="0.44161166158089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month'!$B$5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month'!$C$5:$H$5</c:f>
              <c:numCache>
                <c:formatCode>#,##0</c:formatCode>
                <c:ptCount val="6"/>
                <c:pt idx="0">
                  <c:v>104684.0</c:v>
                </c:pt>
                <c:pt idx="1">
                  <c:v>104216.0</c:v>
                </c:pt>
                <c:pt idx="2">
                  <c:v>81867.0</c:v>
                </c:pt>
                <c:pt idx="3">
                  <c:v>116571.0</c:v>
                </c:pt>
                <c:pt idx="4">
                  <c:v>96194.0</c:v>
                </c:pt>
                <c:pt idx="5">
                  <c:v>93287.0</c:v>
                </c:pt>
              </c:numCache>
            </c:numRef>
          </c:val>
        </c:ser>
        <c:ser>
          <c:idx val="1"/>
          <c:order val="1"/>
          <c:tx>
            <c:strRef>
              <c:f>'Current month'!$B$12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month'!$C$12:$H$12</c:f>
              <c:numCache>
                <c:formatCode>#,##0</c:formatCode>
                <c:ptCount val="6"/>
                <c:pt idx="0">
                  <c:v>6002.0</c:v>
                </c:pt>
                <c:pt idx="1">
                  <c:v>5889.0</c:v>
                </c:pt>
                <c:pt idx="2">
                  <c:v>4640.0</c:v>
                </c:pt>
                <c:pt idx="3">
                  <c:v>6632.0</c:v>
                </c:pt>
                <c:pt idx="4">
                  <c:v>5652.0</c:v>
                </c:pt>
                <c:pt idx="5">
                  <c:v>5475.0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month'!$B$19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month'!$C$19:$H$19</c:f>
              <c:numCache>
                <c:formatCode>0.00%</c:formatCode>
                <c:ptCount val="6"/>
                <c:pt idx="0">
                  <c:v>0.9426655458331741</c:v>
                </c:pt>
                <c:pt idx="1">
                  <c:v>0.9434923620173485</c:v>
                </c:pt>
                <c:pt idx="2">
                  <c:v>0.9433227063407722</c:v>
                </c:pt>
                <c:pt idx="3">
                  <c:v>0.9431076339741445</c:v>
                </c:pt>
                <c:pt idx="4">
                  <c:v>0.9412437366155894</c:v>
                </c:pt>
                <c:pt idx="5">
                  <c:v>0.9413101503960895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170975012158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 dirty="0">
                <a:solidFill>
                  <a:sysClr val="windowText" lastClr="000000"/>
                </a:solidFill>
                <a:effectLst/>
              </a:rPr>
              <a:t>Top defect of top models </a:t>
            </a:r>
            <a:endParaRPr lang="en-US" sz="1000" dirty="0">
              <a:solidFill>
                <a:sysClr val="windowText" lastClr="000000"/>
              </a:solidFill>
              <a:effectLst/>
            </a:endParaRPr>
          </a:p>
        </c:rich>
      </c:tx>
      <c:layout>
        <c:manualLayout>
          <c:xMode val="edge"/>
          <c:yMode val="edge"/>
          <c:x val="0.324487934097756"/>
          <c:y val="0.040112173478315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173296840486873"/>
          <c:y val="0.167221369668416"/>
          <c:w val="1"/>
          <c:h val="0.62629878698427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month'!$M$22:$M$26</c:f>
              <c:numCache>
                <c:formatCode>0.00%</c:formatCode>
                <c:ptCount val="5"/>
                <c:pt idx="0">
                  <c:v>0.146748</c:v>
                </c:pt>
                <c:pt idx="1">
                  <c:v>0.180101</c:v>
                </c:pt>
                <c:pt idx="2">
                  <c:v>0.220952</c:v>
                </c:pt>
                <c:pt idx="3">
                  <c:v>0.172078</c:v>
                </c:pt>
                <c:pt idx="4">
                  <c:v>0.206529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month'!$N$22:$N$26</c:f>
              <c:numCache>
                <c:formatCode>0.00%</c:formatCode>
                <c:ptCount val="5"/>
                <c:pt idx="0">
                  <c:v>0.129491</c:v>
                </c:pt>
                <c:pt idx="1">
                  <c:v>0.143577</c:v>
                </c:pt>
                <c:pt idx="2">
                  <c:v>0.235130</c:v>
                </c:pt>
                <c:pt idx="3">
                  <c:v>0.168405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Rocking</c:v>
                </c:pt>
              </c:strCache>
            </c:strRef>
          </c:tx>
          <c:spPr>
            <a:solidFill>
              <a:srgbClr val="EAD700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month'!$O$22:$O$26</c:f>
              <c:numCache>
                <c:formatCode>0.00%</c:formatCode>
                <c:ptCount val="5"/>
                <c:pt idx="3">
                  <c:v>0.126276</c:v>
                </c:pt>
                <c:pt idx="4">
                  <c:v>0.149752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month'!$P$22:$P$26</c:f>
              <c:numCache>
                <c:formatCode>0.00%</c:formatCode>
                <c:ptCount val="5"/>
                <c:pt idx="0">
                  <c:v>0.097844</c:v>
                </c:pt>
                <c:pt idx="1">
                  <c:v>0.154912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Components inconsistent</c:v>
                </c:pt>
              </c:strCache>
            </c:strRef>
          </c:tx>
          <c:spPr>
            <a:solidFill>
              <a:srgbClr val="AC5C95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month'!$Q$22:$Q$26</c:f>
              <c:numCache>
                <c:formatCode>0.00%</c:formatCode>
                <c:ptCount val="5"/>
                <c:pt idx="2">
                  <c:v>0.126007</c:v>
                </c:pt>
              </c:numCache>
            </c:numRef>
          </c:val>
        </c:ser>
        <c:ser>
          <c:idx val="5"/>
          <c:order val="5"/>
          <c:tx>
            <c:strRef>
              <c:f>'Current month'!$R$21</c:f>
              <c:strCache>
                <c:ptCount val="1"/>
                <c:pt idx="0">
                  <c:v>Midsole/Outsole to upper bond gap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month'!$R$22:$R$26</c:f>
              <c:numCache>
                <c:formatCode>0.00%</c:formatCode>
                <c:ptCount val="5"/>
                <c:pt idx="4">
                  <c:v>0.125621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9039"/>
        <c:axId val="1454382351"/>
      </c:barChart>
      <c:catAx>
        <c:axId val="14543690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u="sng" dirty="0" err="1">
                    <a:solidFill>
                      <a:schemeClr val="tx1"/>
                    </a:solidFill>
                  </a:rPr>
                  <a:t>Firsty</a:t>
                </a:r>
                <a:r>
                  <a:rPr lang="en-US" sz="800" u="sng" baseline="0">
                    <a:solidFill>
                      <a:schemeClr val="tx1"/>
                    </a:solidFill>
                  </a:rPr>
                  <a:t> prority: Cleanness</a:t>
                </a:r>
                <a:endParaRPr lang="en-US" sz="800" u="sng">
                  <a:solidFill>
                    <a:schemeClr val="tx1"/>
                  </a:solidFill>
                </a:endParaRPr>
              </a:p>
            </c:rich>
          </c:tx>
          <c:layout>
            <c:manualLayout>
              <c:xMode val="edge"/>
              <c:yMode val="edge"/>
              <c:x val="0.366725379837851"/>
              <c:y val="0.150663979502562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2351"/>
        <c:crosses val="autoZero"/>
        <c:auto val="1"/>
        <c:lblAlgn val="ctr"/>
        <c:lblOffset val="100"/>
        <c:noMultiLvlLbl val="0"/>
      </c:catAx>
      <c:valAx>
        <c:axId val="1454382351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4692477911602"/>
          <c:y val="0.02916243908926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3256424342306"/>
          <c:y val="0.288907713580728"/>
          <c:w val="0.990996256281918"/>
          <c:h val="0.45864729197292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month'!$M$28:$M$32</c:f>
              <c:numCache>
                <c:formatCode>0.00%</c:formatCode>
                <c:ptCount val="5"/>
                <c:pt idx="0">
                  <c:v>0.139047</c:v>
                </c:pt>
                <c:pt idx="1">
                  <c:v>0.143290</c:v>
                </c:pt>
                <c:pt idx="2">
                  <c:v>0.185542</c:v>
                </c:pt>
                <c:pt idx="3">
                  <c:v>0.157343</c:v>
                </c:pt>
                <c:pt idx="4">
                  <c:v>0.120352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month'!$N$28:$N$32</c:f>
              <c:numCache>
                <c:formatCode>0.00%</c:formatCode>
                <c:ptCount val="5"/>
                <c:pt idx="0">
                  <c:v>0.093271</c:v>
                </c:pt>
                <c:pt idx="1">
                  <c:v>0.117513</c:v>
                </c:pt>
                <c:pt idx="2">
                  <c:v>0.138813</c:v>
                </c:pt>
                <c:pt idx="4">
                  <c:v>0.121028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month'!$O$28:$O$32</c:f>
              <c:numCache>
                <c:formatCode>0.00%</c:formatCode>
                <c:ptCount val="5"/>
                <c:pt idx="0">
                  <c:v>0.115815</c:v>
                </c:pt>
                <c:pt idx="1">
                  <c:v>0.112964</c:v>
                </c:pt>
                <c:pt idx="2">
                  <c:v>0.121495</c:v>
                </c:pt>
                <c:pt idx="3">
                  <c:v>0.096737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Airbag quality/stain</c:v>
                </c:pt>
              </c:strCache>
            </c:strRef>
          </c:tx>
          <c:spPr>
            <a:solidFill>
              <a:srgbClr val="59E4B4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month'!$P$28:$P$32</c:f>
              <c:numCache>
                <c:formatCode>0.00%</c:formatCode>
                <c:ptCount val="5"/>
                <c:pt idx="4">
                  <c:v>0.114943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Midsole/Outsole to upper bond gap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month'!$Q$28:$Q$32</c:f>
              <c:numCache>
                <c:formatCode>0.00%</c:formatCode>
                <c:ptCount val="5"/>
                <c:pt idx="3">
                  <c:v>0.088578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232910879"/>
        <c:axId val="1232909215"/>
      </c:barChart>
      <c:catAx>
        <c:axId val="123291087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chemeClr val="tx1"/>
                    </a:solidFill>
                    <a:effectLst/>
                  </a:rPr>
                  <a:t>First priority: Cleanness</a:t>
                </a:r>
                <a:endParaRPr lang="en-US" sz="800">
                  <a:solidFill>
                    <a:schemeClr val="tx1"/>
                  </a:solidFill>
                  <a:effectLst/>
                </a:endParaRPr>
              </a:p>
            </c:rich>
          </c:tx>
          <c:layout>
            <c:manualLayout>
              <c:xMode val="edge"/>
              <c:yMode val="edge"/>
              <c:x val="0.367197973013834"/>
              <c:y val="0.15166381009448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232909215"/>
        <c:crosses val="autoZero"/>
        <c:auto val="1"/>
        <c:lblAlgn val="ctr"/>
        <c:lblOffset val="100"/>
        <c:noMultiLvlLbl val="0"/>
      </c:catAx>
      <c:valAx>
        <c:axId val="1232909215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2329108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31620166421929"/>
          <c:y val="0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0951998380965538"/>
          <c:y val="0.251524842016712"/>
          <c:w val="0.983528912083664"/>
          <c:h val="0.53565464731548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month'!$M$34:$M$38</c:f>
              <c:numCache>
                <c:formatCode>0.00%</c:formatCode>
                <c:ptCount val="5"/>
                <c:pt idx="0">
                  <c:v>0.107877</c:v>
                </c:pt>
                <c:pt idx="1">
                  <c:v>0.166272</c:v>
                </c:pt>
                <c:pt idx="2">
                  <c:v>0.198728</c:v>
                </c:pt>
                <c:pt idx="3">
                  <c:v>0.126961</c:v>
                </c:pt>
                <c:pt idx="4">
                  <c:v>0.135179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month'!$N$34:$N$38</c:f>
              <c:numCache>
                <c:formatCode>0.00%</c:formatCode>
                <c:ptCount val="5"/>
                <c:pt idx="0">
                  <c:v>0.162329</c:v>
                </c:pt>
                <c:pt idx="1">
                  <c:v>0.135007</c:v>
                </c:pt>
                <c:pt idx="2">
                  <c:v>0.163752</c:v>
                </c:pt>
                <c:pt idx="3">
                  <c:v>0.111270</c:v>
                </c:pt>
                <c:pt idx="4">
                  <c:v>0.135179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month'!$O$34:$O$38</c:f>
              <c:numCache>
                <c:formatCode>0.00%</c:formatCode>
                <c:ptCount val="5"/>
                <c:pt idx="0">
                  <c:v>0.114726</c:v>
                </c:pt>
                <c:pt idx="1">
                  <c:v>0.092847</c:v>
                </c:pt>
                <c:pt idx="3">
                  <c:v>0.108417</c:v>
                </c:pt>
                <c:pt idx="4">
                  <c:v>0.153094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Sole attachment</c:v>
                </c:pt>
              </c:strCache>
            </c:strRef>
          </c:tx>
          <c:spPr>
            <a:solidFill>
              <a:srgbClr val="C3D4E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month'!$P$34:$P$38</c:f>
              <c:numCache>
                <c:formatCode>0.00%</c:formatCode>
                <c:ptCount val="5"/>
                <c:pt idx="2">
                  <c:v>0.082671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5295"/>
        <c:axId val="1454383183"/>
      </c:barChart>
      <c:catAx>
        <c:axId val="14543652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effectLst/>
                  </a:rPr>
                  <a:t>First priority: Cleanness</a:t>
                </a:r>
                <a:endParaRPr lang="vi-VN" sz="800">
                  <a:effectLst/>
                </a:endParaRPr>
              </a:p>
            </c:rich>
          </c:tx>
          <c:layout>
            <c:manualLayout>
              <c:xMode val="edge"/>
              <c:yMode val="edge"/>
              <c:x val="0.371296915109743"/>
              <c:y val="0.122621679675659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3183"/>
        <c:crosses val="autoZero"/>
        <c:auto val="1"/>
        <c:lblAlgn val="ctr"/>
        <c:lblOffset val="100"/>
        <c:noMultiLvlLbl val="0"/>
      </c:catAx>
      <c:valAx>
        <c:axId val="145438318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5295"/>
        <c:crosses val="autoZero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8817343287481"/>
          <c:y val="0.0099703088911603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44869429662485"/>
          <c:y val="0.237927675199807"/>
          <c:w val="0.985128613097355"/>
          <c:h val="0.54584404455869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month'!$M$40:$M$44</c:f>
              <c:numCache>
                <c:formatCode>0.00%</c:formatCode>
                <c:ptCount val="5"/>
                <c:pt idx="0">
                  <c:v>0.145022</c:v>
                </c:pt>
                <c:pt idx="1">
                  <c:v>0.249600</c:v>
                </c:pt>
                <c:pt idx="2">
                  <c:v>0.144737</c:v>
                </c:pt>
                <c:pt idx="3">
                  <c:v>0.117229</c:v>
                </c:pt>
                <c:pt idx="4">
                  <c:v>0.153565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month'!$N$40:$N$44</c:f>
              <c:numCache>
                <c:formatCode>0.00%</c:formatCode>
                <c:ptCount val="5"/>
                <c:pt idx="0">
                  <c:v>0.182900</c:v>
                </c:pt>
                <c:pt idx="1">
                  <c:v>0.113600</c:v>
                </c:pt>
                <c:pt idx="2">
                  <c:v>0.184211</c:v>
                </c:pt>
                <c:pt idx="3">
                  <c:v>0.111901</c:v>
                </c:pt>
                <c:pt idx="4">
                  <c:v>0.159049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month'!$O$40:$O$44</c:f>
              <c:numCache>
                <c:formatCode>0.00%</c:formatCode>
                <c:ptCount val="5"/>
                <c:pt idx="0">
                  <c:v>0.102814</c:v>
                </c:pt>
                <c:pt idx="2">
                  <c:v>0.086257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Toe off center</c:v>
                </c:pt>
              </c:strCache>
            </c:strRef>
          </c:tx>
          <c:spPr>
            <a:solidFill>
              <a:srgbClr val="403152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month'!$P$40:$P$44</c:f>
              <c:numCache>
                <c:formatCode>0.00%</c:formatCode>
                <c:ptCount val="5"/>
                <c:pt idx="3">
                  <c:v>0.094139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Heel/Tip height inconsistent</c:v>
                </c:pt>
              </c:strCache>
            </c:strRef>
          </c:tx>
          <c:spPr>
            <a:solidFill>
              <a:srgbClr val="336A4E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month'!$Q$40:$Q$44</c:f>
              <c:numCache>
                <c:formatCode>0.00%</c:formatCode>
                <c:ptCount val="5"/>
                <c:pt idx="1">
                  <c:v>0.091200</c:v>
                </c:pt>
              </c:numCache>
            </c:numRef>
          </c:val>
        </c:ser>
        <c:ser>
          <c:idx val="5"/>
          <c:order val="5"/>
          <c:tx>
            <c:strRef>
              <c:f>'Current month'!$R$21</c:f>
              <c:strCache>
                <c:ptCount val="1"/>
                <c:pt idx="0">
                  <c:v>Rocking</c:v>
                </c:pt>
              </c:strCache>
            </c:strRef>
          </c:tx>
          <c:spPr>
            <a:solidFill>
              <a:srgbClr val="EAD700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month'!$R$40:$R$44</c:f>
              <c:numCache>
                <c:formatCode>0.00%</c:formatCode>
                <c:ptCount val="5"/>
                <c:pt idx="4">
                  <c:v>0.084095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805357231"/>
        <c:axId val="1805349743"/>
      </c:barChart>
      <c:catAx>
        <c:axId val="18053572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ysClr val="windowText" lastClr="000000"/>
                    </a:solidFill>
                    <a:effectLst/>
                    <a:latin typeface="+mn-lt"/>
                  </a:rPr>
                  <a:t>First priority: Over cement</a:t>
                </a:r>
                <a:endParaRPr lang="en-US" sz="800">
                  <a:solidFill>
                    <a:sysClr val="windowText" lastClr="000000"/>
                  </a:solidFill>
                  <a:effectLst/>
                  <a:latin typeface="+mn-lt"/>
                </a:endParaRPr>
              </a:p>
            </c:rich>
          </c:tx>
          <c:layout>
            <c:manualLayout>
              <c:xMode val="edge"/>
              <c:yMode val="edge"/>
              <c:x val="0.366850992647612"/>
              <c:y val="0.12309048760674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805349743"/>
        <c:crosses val="autoZero"/>
        <c:auto val="1"/>
        <c:lblAlgn val="ctr"/>
        <c:lblOffset val="100"/>
        <c:noMultiLvlLbl val="0"/>
      </c:catAx>
      <c:valAx>
        <c:axId val="180534974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8053572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284" y="0"/>
            <a:ext cx="2680716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9210" y="308885"/>
            <a:ext cx="1563831" cy="30487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5E283A-E5DF-404F-88FE-649AD4D2791B}" type="slidenum">
              <a:rPr lang="en-ID" smtClean="0">
                <a:solidFill>
                  <a:prstClr val="white"/>
                </a:solidFill>
              </a:rPr>
            </a:fld>
            <a:endParaRPr lang="en-ID">
              <a:solidFill>
                <a:prstClr val="white"/>
              </a:solidFill>
            </a:endParaRP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522914" y="398029"/>
            <a:ext cx="5573086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522914" y="993883"/>
            <a:ext cx="5573086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22914" y="1533765"/>
            <a:ext cx="5573086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image" Target="../media/image3.emf"/><Relationship Id="rId14" Type="http://schemas.openxmlformats.org/officeDocument/2006/relationships/slideLayout" Target="../slideLayouts/slideLayout12.xml"/><Relationship Id="rId15" Type="http://schemas.openxmlformats.org/officeDocument/2006/relationships/hyperlink" Target="../Output/QAStation_HFPA_Analysis_Report_Jun_2026.xlsx" TargetMode="External"/><Relationship Id="rId16" Type="http://schemas.openxmlformats.org/officeDocument/2006/relationships/hyperlink" Target="../Output/HFPA_Template_Updated_Jun_2026.xlsx" TargetMode="External"/><Relationship Id="rId17" Type="http://schemas.openxmlformats.org/officeDocument/2006/relationships/hyperlink" Target="../Output/HFPA_FTT_Combined_Master_Jun_2026.xlsx" TargetMode="External"/><Relationship Id="rId18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/>
          <p:cNvSpPr/>
          <p:nvPr/>
        </p:nvSpPr>
        <p:spPr>
          <a:xfrm>
            <a:off x="158518" y="-832"/>
            <a:ext cx="3903343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sz="2600" b="1">
                <a:solidFill>
                  <a:srgbClr val="002060"/>
                </a:solidFill>
                <a:latin typeface="Calibri Light"/>
              </a:rPr>
              <a:t>HFPA Performance </a:t>
            </a:r>
            <a:r>
              <a:rPr sz="1400" b="1">
                <a:solidFill>
                  <a:srgbClr val="ED7D31"/>
                </a:solidFill>
                <a:latin typeface="Arial"/>
              </a:rPr>
              <a:t>Jun, 2026</a:t>
            </a:r>
            <a:endParaRPr lang="en-US" sz="2400" b="1" dirty="0">
              <a:solidFill>
                <a:srgbClr val="ED7D31">
                  <a:lumMod val="50000"/>
                </a:srgbClr>
              </a:solidFill>
              <a:latin typeface="Arial" panose="020B0604020202020204" pitchFamily="34" charset="0"/>
              <a:ea typeface="Microsoft JhengHei" panose="020B0604030504040204" charset="-120"/>
              <a:cs typeface="Arial" panose="020B0604020202020204" pitchFamily="34" charset="0"/>
            </a:endParaRPr>
          </a:p>
        </p:txBody>
      </p:sp>
      <p:grpSp>
        <p:nvGrpSpPr>
          <p:cNvPr id="102" name="组合 11"/>
          <p:cNvGrpSpPr/>
          <p:nvPr/>
        </p:nvGrpSpPr>
        <p:grpSpPr>
          <a:xfrm>
            <a:off x="0" y="430886"/>
            <a:ext cx="9490509" cy="45719"/>
            <a:chOff x="0" y="709127"/>
            <a:chExt cx="12192000" cy="0"/>
          </a:xfrm>
        </p:grpSpPr>
        <p:cxnSp>
          <p:nvCxnSpPr>
            <p:cNvPr id="103" name="直接连接符 8"/>
            <p:cNvCxnSpPr/>
            <p:nvPr/>
          </p:nvCxnSpPr>
          <p:spPr>
            <a:xfrm>
              <a:off x="0" y="709127"/>
              <a:ext cx="12192000" cy="0"/>
            </a:xfrm>
            <a:prstGeom prst="line">
              <a:avLst/>
            </a:prstGeom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"/>
            <p:cNvCxnSpPr/>
            <p:nvPr/>
          </p:nvCxnSpPr>
          <p:spPr>
            <a:xfrm>
              <a:off x="195939" y="709127"/>
              <a:ext cx="877078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04">
            <a:hlinkClick r:id="rId15"/>
          </p:cNvPr>
          <p:cNvSpPr/>
          <p:nvPr/>
        </p:nvSpPr>
        <p:spPr>
          <a:xfrm>
            <a:off x="11119247" y="36695"/>
            <a:ext cx="10422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i="1" dirty="0">
                <a:solidFill>
                  <a:schemeClr val="bg1"/>
                </a:solidFill>
                <a:latin typeface="Calibri Light" panose="020F0302020204030204" pitchFamily="34" charset="0"/>
                <a:ea typeface="Microsoft JhengHei" panose="020B0604030504040204" charset="-120"/>
                <a:cs typeface="Calibri Light" panose="020F0302020204030204" pitchFamily="34" charset="0"/>
              </a:rPr>
              <a:t>Analysis by Site</a:t>
            </a:r>
            <a:endParaRPr lang="en-US" sz="1100" i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107" name="组合 14"/>
          <p:cNvGrpSpPr/>
          <p:nvPr/>
        </p:nvGrpSpPr>
        <p:grpSpPr>
          <a:xfrm>
            <a:off x="2299013" y="546444"/>
            <a:ext cx="2468946" cy="837402"/>
            <a:chOff x="3168446" y="526711"/>
            <a:chExt cx="2468946" cy="905524"/>
          </a:xfrm>
        </p:grpSpPr>
        <p:grpSp>
          <p:nvGrpSpPr>
            <p:cNvPr id="108" name="Group 107"/>
            <p:cNvGrpSpPr/>
            <p:nvPr/>
          </p:nvGrpSpPr>
          <p:grpSpPr>
            <a:xfrm>
              <a:off x="3759914" y="526711"/>
              <a:ext cx="1877478" cy="905524"/>
              <a:chOff x="1031954" y="784458"/>
              <a:chExt cx="1842309" cy="1365075"/>
            </a:xfrm>
          </p:grpSpPr>
          <p:sp>
            <p:nvSpPr>
              <p:cNvPr id="116" name="Rectangle 115"/>
              <p:cNvSpPr/>
              <p:nvPr/>
            </p:nvSpPr>
            <p:spPr>
              <a:xfrm>
                <a:off x="1073017" y="827174"/>
                <a:ext cx="1794543" cy="12819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1066315" y="784458"/>
                <a:ext cx="1515028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VH: 229,614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0" name="Rectangle 159"/>
              <p:cNvSpPr/>
              <p:nvPr/>
            </p:nvSpPr>
            <p:spPr>
              <a:xfrm>
                <a:off x="1182989" y="1072086"/>
                <a:ext cx="1691274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VH2: 187,587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1" name="Rectangle 160"/>
              <p:cNvSpPr/>
              <p:nvPr/>
            </p:nvSpPr>
            <p:spPr>
              <a:xfrm>
                <a:off x="1168981" y="1366503"/>
                <a:ext cx="1705281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JV: 91,617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2" name="Rectangle 161"/>
              <p:cNvSpPr/>
              <p:nvPr/>
            </p:nvSpPr>
            <p:spPr>
              <a:xfrm>
                <a:off x="1031954" y="1672902"/>
                <a:ext cx="1794543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JV2: 93,287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09" name="Oval 108"/>
            <p:cNvSpPr/>
            <p:nvPr/>
          </p:nvSpPr>
          <p:spPr>
            <a:xfrm>
              <a:off x="3211367" y="583402"/>
              <a:ext cx="817004" cy="773647"/>
            </a:xfrm>
            <a:prstGeom prst="ellipse">
              <a:avLst/>
            </a:prstGeom>
            <a:solidFill>
              <a:srgbClr val="3757B0"/>
            </a:solidFill>
            <a:ln w="136525" cap="sq" cmpd="thickThin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10" name="Oval 109">
              <a:hlinkClick r:id="rId16"/>
            </p:cNvPr>
            <p:cNvSpPr/>
            <p:nvPr/>
          </p:nvSpPr>
          <p:spPr>
            <a:xfrm>
              <a:off x="3168446" y="566256"/>
              <a:ext cx="859926" cy="818999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Calibri"/>
                </a:rPr>
                <a:t>Total pair produced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~602K</a:t>
              </a:r>
            </a:p>
          </p:txBody>
        </p:sp>
      </p:grpSp>
      <p:grpSp>
        <p:nvGrpSpPr>
          <p:cNvPr id="163" name="Group 162"/>
          <p:cNvGrpSpPr/>
          <p:nvPr/>
        </p:nvGrpSpPr>
        <p:grpSpPr>
          <a:xfrm>
            <a:off x="5245791" y="561658"/>
            <a:ext cx="2443037" cy="818525"/>
            <a:chOff x="428913" y="813631"/>
            <a:chExt cx="2445722" cy="1424181"/>
          </a:xfrm>
        </p:grpSpPr>
        <p:grpSp>
          <p:nvGrpSpPr>
            <p:cNvPr id="164" name="Group 163"/>
            <p:cNvGrpSpPr/>
            <p:nvPr/>
          </p:nvGrpSpPr>
          <p:grpSpPr>
            <a:xfrm>
              <a:off x="1081736" y="813631"/>
              <a:ext cx="1792899" cy="1424181"/>
              <a:chOff x="1081736" y="813631"/>
              <a:chExt cx="1792900" cy="1424180"/>
            </a:xfrm>
          </p:grpSpPr>
          <p:sp>
            <p:nvSpPr>
              <p:cNvPr id="167" name="Rectangle 166"/>
              <p:cNvSpPr/>
              <p:nvPr/>
            </p:nvSpPr>
            <p:spPr>
              <a:xfrm>
                <a:off x="1081736" y="833778"/>
                <a:ext cx="1739271" cy="13682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68" name="Rectangle 167"/>
              <p:cNvSpPr/>
              <p:nvPr/>
            </p:nvSpPr>
            <p:spPr>
              <a:xfrm>
                <a:off x="1113995" y="813631"/>
                <a:ext cx="1682621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VH: 35,819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9" name="Rectangle 168"/>
              <p:cNvSpPr/>
              <p:nvPr/>
            </p:nvSpPr>
            <p:spPr>
              <a:xfrm>
                <a:off x="1192015" y="1136998"/>
                <a:ext cx="1682621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VH2: 26,824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0" name="Rectangle 169"/>
              <p:cNvSpPr/>
              <p:nvPr/>
            </p:nvSpPr>
            <p:spPr>
              <a:xfrm>
                <a:off x="1190958" y="1442170"/>
                <a:ext cx="1673557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JV: 9,379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1" name="Rectangle 170"/>
              <p:cNvSpPr/>
              <p:nvPr/>
            </p:nvSpPr>
            <p:spPr>
              <a:xfrm>
                <a:off x="1083299" y="1729075"/>
                <a:ext cx="1739267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JV2: 5,475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65" name="Oval 164"/>
            <p:cNvSpPr/>
            <p:nvPr/>
          </p:nvSpPr>
          <p:spPr>
            <a:xfrm>
              <a:off x="428913" y="838274"/>
              <a:ext cx="914400" cy="123540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66" name="Oval 165">
              <a:hlinkClick r:id="rId16"/>
            </p:cNvPr>
            <p:cNvSpPr/>
            <p:nvPr/>
          </p:nvSpPr>
          <p:spPr>
            <a:xfrm>
              <a:off x="590701" y="894548"/>
              <a:ext cx="732324" cy="1194287"/>
            </a:xfrm>
            <a:prstGeom prst="ellipse">
              <a:avLst/>
            </a:prstGeom>
            <a:solidFill>
              <a:srgbClr val="3868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wrap="none"/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Calibri"/>
                </a:rPr>
                <a:t>Defective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~77K</a:t>
              </a:r>
            </a:p>
          </p:txBody>
        </p:sp>
      </p:grpSp>
      <p:sp>
        <p:nvSpPr>
          <p:cNvPr id="172" name="Pentagon 39">
            <a:hlinkClick r:id="rId16"/>
          </p:cNvPr>
          <p:cNvSpPr/>
          <p:nvPr/>
        </p:nvSpPr>
        <p:spPr>
          <a:xfrm>
            <a:off x="4295643" y="1780790"/>
            <a:ext cx="484632" cy="176693"/>
          </a:xfrm>
          <a:prstGeom prst="homePlate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VH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3" name="Straight Connector 172"/>
          <p:cNvCxnSpPr/>
          <p:nvPr/>
        </p:nvCxnSpPr>
        <p:spPr>
          <a:xfrm>
            <a:off x="15240" y="4129220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-12077" y="54252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Pentagon 156">
            <a:hlinkClick r:id="rId16"/>
          </p:cNvPr>
          <p:cNvSpPr/>
          <p:nvPr/>
        </p:nvSpPr>
        <p:spPr>
          <a:xfrm>
            <a:off x="4307001" y="5677595"/>
            <a:ext cx="457200" cy="182880"/>
          </a:xfrm>
          <a:prstGeom prst="homePlate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JV2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6" name="Straight Connector 175"/>
          <p:cNvCxnSpPr/>
          <p:nvPr/>
        </p:nvCxnSpPr>
        <p:spPr>
          <a:xfrm>
            <a:off x="0" y="27963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 176">
            <a:hlinkClick r:id="rId15"/>
          </p:cNvPr>
          <p:cNvSpPr/>
          <p:nvPr/>
        </p:nvSpPr>
        <p:spPr>
          <a:xfrm>
            <a:off x="4282487" y="2052366"/>
            <a:ext cx="640080" cy="365760"/>
          </a:xfrm>
          <a:prstGeom prst="rect">
            <a:avLst/>
          </a:prstGeom>
          <a:solidFill>
            <a:srgbClr val="66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15.60%</a:t>
            </a:r>
          </a:p>
        </p:txBody>
      </p:sp>
      <p:sp>
        <p:nvSpPr>
          <p:cNvPr id="178" name="Pentagon 151">
            <a:hlinkClick r:id="rId16"/>
          </p:cNvPr>
          <p:cNvSpPr/>
          <p:nvPr/>
        </p:nvSpPr>
        <p:spPr>
          <a:xfrm>
            <a:off x="4295643" y="3011178"/>
            <a:ext cx="457200" cy="182880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VH2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79" name="Rectangle 178">
            <a:hlinkClick r:id="rId15"/>
          </p:cNvPr>
          <p:cNvSpPr/>
          <p:nvPr/>
        </p:nvSpPr>
        <p:spPr>
          <a:xfrm>
            <a:off x="4282487" y="3269501"/>
            <a:ext cx="640080" cy="36576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14.30%</a:t>
            </a:r>
          </a:p>
        </p:txBody>
      </p:sp>
      <p:sp>
        <p:nvSpPr>
          <p:cNvPr id="180" name="Pentagon 152">
            <a:hlinkClick r:id="rId16"/>
          </p:cNvPr>
          <p:cNvSpPr/>
          <p:nvPr/>
        </p:nvSpPr>
        <p:spPr>
          <a:xfrm>
            <a:off x="4295643" y="4397194"/>
            <a:ext cx="457200" cy="180644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JV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81" name="Rectangle 180">
            <a:hlinkClick r:id="rId15"/>
          </p:cNvPr>
          <p:cNvSpPr/>
          <p:nvPr/>
        </p:nvSpPr>
        <p:spPr>
          <a:xfrm>
            <a:off x="4282487" y="4682806"/>
            <a:ext cx="6400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10.24%</a:t>
            </a:r>
          </a:p>
        </p:txBody>
      </p:sp>
      <p:sp>
        <p:nvSpPr>
          <p:cNvPr id="182" name="Rectangle 181">
            <a:hlinkClick r:id="rId15"/>
          </p:cNvPr>
          <p:cNvSpPr/>
          <p:nvPr/>
        </p:nvSpPr>
        <p:spPr>
          <a:xfrm>
            <a:off x="4279092" y="5933055"/>
            <a:ext cx="640080" cy="3657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5.87%</a:t>
            </a:r>
          </a:p>
        </p:txBody>
      </p:sp>
      <p:sp>
        <p:nvSpPr>
          <p:cNvPr id="183" name="Isosceles Triangle 182"/>
          <p:cNvSpPr/>
          <p:nvPr/>
        </p:nvSpPr>
        <p:spPr>
          <a:xfrm rot="5400000">
            <a:off x="1312118" y="738156"/>
            <a:ext cx="241787" cy="348218"/>
          </a:xfrm>
          <a:prstGeom prst="triangle">
            <a:avLst>
              <a:gd name="adj" fmla="val 53487"/>
            </a:avLst>
          </a:prstGeom>
          <a:solidFill>
            <a:schemeClr val="accent6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184" name="Rectangle 183">
            <a:hlinkClick r:id="rId17"/>
          </p:cNvPr>
          <p:cNvSpPr/>
          <p:nvPr/>
        </p:nvSpPr>
        <p:spPr>
          <a:xfrm>
            <a:off x="328756" y="636656"/>
            <a:ext cx="105786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cs typeface="Calibri" panose="020F0502020204030204" pitchFamily="34" charset="0"/>
              </a:rPr>
              <a:t>HFPA</a:t>
            </a:r>
            <a:endParaRPr lang="en-US" sz="2800" dirty="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sp>
        <p:nvSpPr>
          <p:cNvPr id="185" name="Rectangle 184">
            <a:hlinkClick r:id="rId17"/>
          </p:cNvPr>
          <p:cNvSpPr/>
          <p:nvPr/>
        </p:nvSpPr>
        <p:spPr>
          <a:xfrm>
            <a:off x="62155" y="1046661"/>
            <a:ext cx="193995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prstClr val="black"/>
                </a:solidFill>
              </a:rPr>
              <a:t>High Frequency Product Audit</a:t>
            </a:r>
            <a:endParaRPr lang="en-US" sz="1100" dirty="0">
              <a:solidFill>
                <a:prstClr val="black"/>
              </a:solidFill>
              <a:latin typeface="Calibri Light" panose="020F0302020204030204"/>
            </a:endParaRPr>
          </a:p>
        </p:txBody>
      </p:sp>
      <p:graphicFrame>
        <p:nvGraphicFramePr>
          <p:cNvPr id="195" name="Chart 194"/>
          <p:cNvGraphicFramePr/>
          <p:nvPr/>
        </p:nvGraphicFramePr>
        <p:xfrm>
          <a:off x="4985468" y="1527048"/>
          <a:ext cx="3125260" cy="12214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6" name="Chart 195"/>
          <p:cNvGraphicFramePr/>
          <p:nvPr/>
        </p:nvGraphicFramePr>
        <p:xfrm>
          <a:off x="4983480" y="286207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7" name="Chart 196"/>
          <p:cNvGraphicFramePr/>
          <p:nvPr/>
        </p:nvGraphicFramePr>
        <p:xfrm>
          <a:off x="5003736" y="418170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8" name="Chart 197"/>
          <p:cNvGraphicFramePr/>
          <p:nvPr/>
        </p:nvGraphicFramePr>
        <p:xfrm>
          <a:off x="5018990" y="5468645"/>
          <a:ext cx="3127248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2" name="Chart 51"/>
          <p:cNvGraphicFramePr/>
          <p:nvPr/>
        </p:nvGraphicFramePr>
        <p:xfrm>
          <a:off x="91440" y="1527048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Chart 52"/>
          <p:cNvGraphicFramePr/>
          <p:nvPr/>
        </p:nvGraphicFramePr>
        <p:xfrm>
          <a:off x="91440" y="2862072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Chart 53"/>
          <p:cNvGraphicFramePr/>
          <p:nvPr/>
        </p:nvGraphicFramePr>
        <p:xfrm>
          <a:off x="91440" y="4178808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55" name="Chart 54"/>
          <p:cNvGraphicFramePr/>
          <p:nvPr/>
        </p:nvGraphicFramePr>
        <p:xfrm>
          <a:off x="91440" y="5486400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64" name="Chart 63"/>
          <p:cNvGraphicFramePr/>
          <p:nvPr/>
        </p:nvGraphicFramePr>
        <p:xfrm>
          <a:off x="8268674" y="1529828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65" name="Chart 64"/>
          <p:cNvGraphicFramePr/>
          <p:nvPr/>
        </p:nvGraphicFramePr>
        <p:xfrm>
          <a:off x="8268674" y="2862072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66" name="Chart 65"/>
          <p:cNvGraphicFramePr/>
          <p:nvPr/>
        </p:nvGraphicFramePr>
        <p:xfrm>
          <a:off x="8268674" y="4178808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67" name="Chart 66"/>
          <p:cNvGraphicFramePr/>
          <p:nvPr/>
        </p:nvGraphicFramePr>
        <p:xfrm>
          <a:off x="8268674" y="5458119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56" name="Rectangle 55"/>
          <p:cNvSpPr/>
          <p:nvPr/>
        </p:nvSpPr>
        <p:spPr>
          <a:xfrm>
            <a:off x="12192000" y="1491916"/>
            <a:ext cx="1581752" cy="13186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lang="en-US" sz="950">
                <a:latin typeface="Calibri"/>
              </a:rPr>
              <a:t>Lưu ý về mức độ ưu tiên cải thiện lỗi: ưu tiên lỗi đó có nhiều model nhất sau đó sẽ xét tỷ lệ phần trăm</a:t>
            </a:r>
            <a:endParaRPr lang="vi-VN" sz="1400"/>
          </a:p>
        </p:txBody>
      </p:sp>
      <p:pic>
        <p:nvPicPr>
          <p:cNvPr id="199" name="Picture 2" descr="defect_legend_render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88371" y="580000"/>
            <a:ext cx="2855916" cy="7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400</Words>
  <Application>WPS Presentation</Application>
  <PresentationFormat>Widescreen</PresentationFormat>
  <Paragraphs>48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Neo Sans Std</vt:lpstr>
      <vt:lpstr>Raavi</vt:lpstr>
      <vt:lpstr>Open Sans Light</vt:lpstr>
      <vt:lpstr>Yu Gothic UI Light</vt:lpstr>
      <vt:lpstr>Helvetica</vt:lpstr>
      <vt:lpstr>Roboto</vt:lpstr>
      <vt:lpstr>Wide Latin</vt:lpstr>
      <vt:lpstr>Calibri Light</vt:lpstr>
      <vt:lpstr>Microsoft JhengHei</vt:lpstr>
      <vt:lpstr>Calibri Light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264</cp:revision>
  <dcterms:created xsi:type="dcterms:W3CDTF">2026-03-27T03:14:00Z</dcterms:created>
  <dcterms:modified xsi:type="dcterms:W3CDTF">2026-09-22T09:26:32Z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9B7D405B00274A5AA0001360A5065F74</vt:lpwstr>
  </property>
  <property fmtid="{D5CDD505-2E9C-101B-9397-08002B2CF9AE}" pid="3" name="KSOProductBuildVer">
    <vt:lpwstr>1033-11.2.0.11440</vt:lpwstr>
  </property>
</Properties>
</file>