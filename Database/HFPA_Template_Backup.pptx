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7FBD"/>
    <a:srgbClr val="6D597A"/>
    <a:srgbClr val="5F9EA0"/>
    <a:srgbClr val="B09360"/>
    <a:srgbClr val="F6FF9F"/>
    <a:srgbClr val="543C90"/>
    <a:srgbClr val="EBBAFE"/>
    <a:srgbClr val="F3AFAF"/>
    <a:srgbClr val="998AF2"/>
    <a:srgbClr val="C7B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3690" autoAdjust="0"/>
  </p:normalViewPr>
  <p:slideViewPr>
    <p:cSldViewPr snapToGrid="0">
      <p:cViewPr varScale="1">
        <p:scale>
          <a:sx n="66" d="100"/>
          <a:sy n="66" d="100"/>
        </p:scale>
        <p:origin x="6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CHINGLUH\Downloads\QUALITY%20REPORT%20MONTH\2026%20HFPA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CHINGLUH\Downloads\QUALITY%20REPORT%20MONTH\2026%20HFPA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CHINGLUH\Downloads\QUALITY%20REPORT%20MONTH\2026%20HFPA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CHINGLUH\Downloads\QUALITY%20REPORT%20MONTH\2026%20HFPA.xlsx" TargetMode="External"/></Relationships>
</file>

<file path=ppt/charts/_rels/chart5.xml.rels><?xml version="1.0" encoding="UTF-8" standalone="yes"?>
<Relationships xmlns="http://schemas.openxmlformats.org/package/2006/relationships"><Relationship Id="rId4" Type="http://schemas.microsoft.com/office/2011/relationships/chartColorStyle" Target="colors5.xml"/><Relationship Id="rId3" Type="http://schemas.microsoft.com/office/2011/relationships/chartStyle" Target="style5.xml"/><Relationship Id="rId2" Type="http://schemas.openxmlformats.org/officeDocument/2006/relationships/themeOverride" Target="../theme/themeOverride1.xml"/><Relationship Id="rId1" Type="http://schemas.openxmlformats.org/officeDocument/2006/relationships/oleObject" Target="file:///C:\Users\CHINGLUH\Downloads\QUALITY%20REPORT%20MONTH\2026%20HFPA.xlsx" TargetMode="External"/></Relationships>
</file>

<file path=ppt/charts/_rels/chart6.xml.rels><?xml version="1.0" encoding="UTF-8" standalone="yes"?>
<Relationships xmlns="http://schemas.openxmlformats.org/package/2006/relationships"><Relationship Id="rId4" Type="http://schemas.microsoft.com/office/2011/relationships/chartColorStyle" Target="colors6.xml"/><Relationship Id="rId3" Type="http://schemas.microsoft.com/office/2011/relationships/chartStyle" Target="style6.xml"/><Relationship Id="rId2" Type="http://schemas.openxmlformats.org/officeDocument/2006/relationships/themeOverride" Target="../theme/themeOverride2.xml"/><Relationship Id="rId1" Type="http://schemas.openxmlformats.org/officeDocument/2006/relationships/oleObject" Target="file:///C:\Users\CHINGLUH\Downloads\QUALITY%20REPORT%20MONTH\2026%20HFPA.xlsx" TargetMode="External"/></Relationships>
</file>

<file path=ppt/charts/_rels/chart7.xml.rels><?xml version="1.0" encoding="UTF-8" standalone="yes"?>
<Relationships xmlns="http://schemas.openxmlformats.org/package/2006/relationships"><Relationship Id="rId4" Type="http://schemas.microsoft.com/office/2011/relationships/chartColorStyle" Target="colors7.xml"/><Relationship Id="rId3" Type="http://schemas.microsoft.com/office/2011/relationships/chartStyle" Target="style7.xml"/><Relationship Id="rId2" Type="http://schemas.openxmlformats.org/officeDocument/2006/relationships/themeOverride" Target="../theme/themeOverride3.xml"/><Relationship Id="rId1" Type="http://schemas.openxmlformats.org/officeDocument/2006/relationships/oleObject" Target="file:///C:\Users\CHINGLUH\Downloads\QUALITY%20REPORT%20MONTH\2026%20HFPA.xlsx" TargetMode="External"/></Relationships>
</file>

<file path=ppt/charts/_rels/chart8.xml.rels><?xml version="1.0" encoding="UTF-8" standalone="yes"?>
<Relationships xmlns="http://schemas.openxmlformats.org/package/2006/relationships"><Relationship Id="rId4" Type="http://schemas.microsoft.com/office/2011/relationships/chartColorStyle" Target="colors8.xml"/><Relationship Id="rId3" Type="http://schemas.microsoft.com/office/2011/relationships/chartStyle" Target="style8.xml"/><Relationship Id="rId2" Type="http://schemas.openxmlformats.org/officeDocument/2006/relationships/themeOverride" Target="../theme/themeOverride4.xml"/><Relationship Id="rId1" Type="http://schemas.openxmlformats.org/officeDocument/2006/relationships/oleObject" Target="file:///C:\Users\CHINGLUH\Downloads\QUALITY%20REPORT%20MONTH\2026%20HFPA.xlsx" TargetMode="External"/></Relationships>
</file>

<file path=ppt/charts/_rels/chart9.xml.rels><?xml version="1.0" encoding="UTF-8" standalone="yes"?>
<Relationships xmlns="http://schemas.openxmlformats.org/package/2006/relationships"><Relationship Id="rId4" Type="http://schemas.microsoft.com/office/2011/relationships/chartColorStyle" Target="colors9.xml"/><Relationship Id="rId3" Type="http://schemas.microsoft.com/office/2011/relationships/chartStyle" Target="style9.xml"/><Relationship Id="rId2" Type="http://schemas.openxmlformats.org/officeDocument/2006/relationships/themeOverride" Target="../theme/themeOverride5.xml"/><Relationship Id="rId1" Type="http://schemas.openxmlformats.org/officeDocument/2006/relationships/oleObject" Target="file:///C:\Users\CHINGLUH\Downloads\QUALITY%20REPORT%20MONTH\2026%20HFPA.xlsx" TargetMode="External"/></Relationships>
</file>

<file path=ppt/charts/_rels/chart10.xml.rels><?xml version="1.0" encoding="UTF-8" standalone="yes"?>
<Relationships xmlns="http://schemas.openxmlformats.org/package/2006/relationships"><Relationship Id="rId4" Type="http://schemas.microsoft.com/office/2011/relationships/chartColorStyle" Target="colors10.xml"/><Relationship Id="rId3" Type="http://schemas.microsoft.com/office/2011/relationships/chartStyle" Target="style10.xml"/><Relationship Id="rId2" Type="http://schemas.openxmlformats.org/officeDocument/2006/relationships/themeOverride" Target="../theme/themeOverride6.xml"/><Relationship Id="rId1" Type="http://schemas.openxmlformats.org/officeDocument/2006/relationships/oleObject" Target="file:///C:\Users\CHINGLUH\Downloads\QUALITY%20REPORT%20MONTH\2026%20HFPA.xlsx" TargetMode="External"/></Relationships>
</file>

<file path=ppt/charts/_rels/chart11.xml.rels><?xml version="1.0" encoding="UTF-8" standalone="yes"?>
<Relationships xmlns="http://schemas.openxmlformats.org/package/2006/relationships"><Relationship Id="rId4" Type="http://schemas.microsoft.com/office/2011/relationships/chartColorStyle" Target="colors11.xml"/><Relationship Id="rId3" Type="http://schemas.microsoft.com/office/2011/relationships/chartStyle" Target="style11.xml"/><Relationship Id="rId2" Type="http://schemas.openxmlformats.org/officeDocument/2006/relationships/themeOverride" Target="../theme/themeOverride7.xml"/><Relationship Id="rId1" Type="http://schemas.openxmlformats.org/officeDocument/2006/relationships/oleObject" Target="file:///C:\Users\CHINGLUH\Downloads\QUALITY%20REPORT%20MONTH\2026%20HFPA.xlsx" TargetMode="External"/></Relationships>
</file>

<file path=ppt/charts/_rels/chart12.xml.rels><?xml version="1.0" encoding="UTF-8" standalone="yes"?>
<Relationships xmlns="http://schemas.openxmlformats.org/package/2006/relationships"><Relationship Id="rId4" Type="http://schemas.microsoft.com/office/2011/relationships/chartColorStyle" Target="colors12.xml"/><Relationship Id="rId3" Type="http://schemas.microsoft.com/office/2011/relationships/chartStyle" Target="style12.xml"/><Relationship Id="rId2" Type="http://schemas.openxmlformats.org/officeDocument/2006/relationships/themeOverride" Target="../theme/themeOverride8.xml"/><Relationship Id="rId1" Type="http://schemas.openxmlformats.org/officeDocument/2006/relationships/oleObject" Target="file:///C:\Users\CHINGLUH\Downloads\QUALITY%20REPORT%20MONTH\2026%20HFP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ysClr val="windowText" lastClr="000000"/>
                </a:solidFill>
              </a:rPr>
              <a:t>Top</a:t>
            </a:r>
            <a:r>
              <a:rPr lang="en-US" sz="1000" b="1" baseline="0" dirty="0">
                <a:solidFill>
                  <a:sysClr val="windowText" lastClr="000000"/>
                </a:solidFill>
              </a:rPr>
              <a:t> 5  models</a:t>
            </a:r>
            <a:endParaRPr lang="en-US" sz="1000" b="1" dirty="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402336318120547"/>
          <c:y val="0.019564000083185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153254449229824"/>
          <c:y val="0.289477691612413"/>
          <c:w val="0.978512827732733"/>
          <c:h val="0.44226165524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'Current month'!$G$21</c:f>
              <c:strCache>
                <c:ptCount val="1"/>
                <c:pt idx="0">
                  <c:v>HFPA DR%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month'!$D$22:$D$26</c:f>
              <c:strCache>
                <c:ptCount val="5"/>
                <c:pt idx="0">
                  <c:v>AIR JORDAN 1 LOW SE (MS/WS)</c:v>
                </c:pt>
                <c:pt idx="1">
                  <c:v>NIKE SB FORCE 58</c:v>
                </c:pt>
                <c:pt idx="2">
                  <c:v>JORDAN SPIZIKE LOW (GS)</c:v>
                </c:pt>
                <c:pt idx="3">
                  <c:v>JORDAN SPIZIKE LOW (PS/TD)</c:v>
                </c:pt>
                <c:pt idx="4">
                  <c:v>NIKE MANOA LEATHER</c:v>
                </c:pt>
              </c:strCache>
            </c:strRef>
          </c:cat>
          <c:val>
            <c:numRef>
              <c:f>'Current month'!$G$22:$G$26</c:f>
              <c:numCache>
                <c:formatCode>0.00%</c:formatCode>
                <c:ptCount val="5"/>
                <c:pt idx="0">
                  <c:v>0.0134476702466331</c:v>
                </c:pt>
                <c:pt idx="1">
                  <c:v>0.0134080249923683</c:v>
                </c:pt>
                <c:pt idx="2">
                  <c:v>0.00857130397205802</c:v>
                </c:pt>
                <c:pt idx="3">
                  <c:v>0.00831360981933658</c:v>
                </c:pt>
                <c:pt idx="4">
                  <c:v>0.00807573829374755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-1252546592"/>
        <c:axId val="-1252538976"/>
      </c:barChart>
      <c:catAx>
        <c:axId val="-1252546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-1252538976"/>
        <c:crosses val="autoZero"/>
        <c:auto val="1"/>
        <c:lblAlgn val="ctr"/>
        <c:lblOffset val="100"/>
        <c:noMultiLvlLbl val="0"/>
      </c:catAx>
      <c:valAx>
        <c:axId val="-1252538976"/>
        <c:scaling>
          <c:orientation val="minMax"/>
          <c:max val="0.05"/>
          <c:min val="0"/>
        </c:scaling>
        <c:delete val="0"/>
        <c:axPos val="l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252546592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600645231846019"/>
          <c:y val="0.0259601924759405"/>
          <c:w val="0.166229780473715"/>
          <c:h val="0.1650724060562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>
      <a:solidFill>
        <a:schemeClr val="bg1">
          <a:lumMod val="95000"/>
        </a:schemeClr>
      </a:solidFill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ysClr val="windowText" lastClr="000000"/>
                </a:solidFill>
              </a:rPr>
              <a:t>Top</a:t>
            </a:r>
            <a:r>
              <a:rPr lang="en-US" sz="1000" b="1" baseline="0" dirty="0">
                <a:solidFill>
                  <a:sysClr val="windowText" lastClr="000000"/>
                </a:solidFill>
              </a:rPr>
              <a:t> 5  models</a:t>
            </a:r>
            <a:endParaRPr lang="en-US" sz="1000" b="1" dirty="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396222318505681"/>
          <c:y val="0.029346000124778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507243579846637"/>
          <c:y val="0.289732533433321"/>
          <c:w val="0.971250836292522"/>
          <c:h val="0.4187605155124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'Current month'!$G$27</c:f>
              <c:strCache>
                <c:ptCount val="1"/>
                <c:pt idx="0">
                  <c:v>HFPA DR%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month'!$D$28:$D$32</c:f>
              <c:strCache>
                <c:ptCount val="5"/>
                <c:pt idx="0">
                  <c:v>NIKE AIR MAX EXCEE (MS/WS)</c:v>
                </c:pt>
                <c:pt idx="1">
                  <c:v>NIKE INITIATOR (MS/WS)</c:v>
                </c:pt>
                <c:pt idx="2">
                  <c:v>NIKE UPLIFT SC (MS/WS)</c:v>
                </c:pt>
                <c:pt idx="3">
                  <c:v>NIKE AIR WINFLO 12 GTX (MS/WS)</c:v>
                </c:pt>
                <c:pt idx="4">
                  <c:v>NIKE AIR WINFLO 12 (MS/WS)</c:v>
                </c:pt>
              </c:strCache>
            </c:strRef>
          </c:cat>
          <c:val>
            <c:numRef>
              <c:f>'Current month'!$G$28:$G$32</c:f>
              <c:numCache>
                <c:formatCode>0.00%</c:formatCode>
                <c:ptCount val="5"/>
                <c:pt idx="0">
                  <c:v>0.0290934090824304</c:v>
                </c:pt>
                <c:pt idx="1">
                  <c:v>0.0197615608861792</c:v>
                </c:pt>
                <c:pt idx="2">
                  <c:v>0.0167077921731855</c:v>
                </c:pt>
                <c:pt idx="3">
                  <c:v>0.0148478178610828</c:v>
                </c:pt>
                <c:pt idx="4">
                  <c:v>0.0119379440089108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-1252543872"/>
        <c:axId val="-1252567808"/>
      </c:barChart>
      <c:catAx>
        <c:axId val="-1252543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-1252567808"/>
        <c:crosses val="autoZero"/>
        <c:auto val="1"/>
        <c:lblAlgn val="ctr"/>
        <c:lblOffset val="100"/>
        <c:noMultiLvlLbl val="0"/>
      </c:catAx>
      <c:valAx>
        <c:axId val="-1252567808"/>
        <c:scaling>
          <c:orientation val="minMax"/>
          <c:max val="0.05"/>
          <c:min val="0"/>
        </c:scaling>
        <c:delete val="0"/>
        <c:axPos val="l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252543872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600645231846019"/>
          <c:y val="0.0259601924759405"/>
          <c:w val="0.166350867760473"/>
          <c:h val="0.1674118860142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>
      <a:solidFill>
        <a:schemeClr val="bg1">
          <a:lumMod val="95000"/>
        </a:schemeClr>
      </a:solidFill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ysClr val="windowText" lastClr="000000"/>
                </a:solidFill>
              </a:rPr>
              <a:t>Top</a:t>
            </a:r>
            <a:r>
              <a:rPr lang="en-US" sz="1000" b="1" baseline="0" dirty="0">
                <a:solidFill>
                  <a:sysClr val="windowText" lastClr="000000"/>
                </a:solidFill>
              </a:rPr>
              <a:t> 5  models</a:t>
            </a:r>
            <a:endParaRPr lang="en-US" sz="1000" b="1" dirty="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399279318313114"/>
          <c:y val="0.019564000083185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511663929435721"/>
          <c:y val="0.191288949458241"/>
          <c:w val="0.973010635509768"/>
          <c:h val="0.517204219664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'Current month'!$G$33</c:f>
              <c:strCache>
                <c:ptCount val="1"/>
                <c:pt idx="0">
                  <c:v>HFPA DR%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month'!$D$34:$D$38</c:f>
              <c:strCache>
                <c:ptCount val="5"/>
                <c:pt idx="0">
                  <c:v>NIKE INITIATOR (MS/WS)</c:v>
                </c:pt>
                <c:pt idx="1">
                  <c:v>NIKE EBERNON LOW (MS/WS)</c:v>
                </c:pt>
                <c:pt idx="2">
                  <c:v>NIKE AIR MAX SC (MS/WS)</c:v>
                </c:pt>
                <c:pt idx="3">
                  <c:v>NIKE AIR MAX MOTION 2 (MS/WS)</c:v>
                </c:pt>
                <c:pt idx="4">
                  <c:v>NIKE COURT BOROUGH LOW RECRAFT (TD)</c:v>
                </c:pt>
              </c:strCache>
            </c:strRef>
          </c:cat>
          <c:val>
            <c:numRef>
              <c:f>'Current month'!$G$34:$G$38</c:f>
              <c:numCache>
                <c:formatCode>0.00%</c:formatCode>
                <c:ptCount val="5"/>
                <c:pt idx="0">
                  <c:v>0.0411499864388392</c:v>
                </c:pt>
                <c:pt idx="1">
                  <c:v>0.0411174396528343</c:v>
                </c:pt>
                <c:pt idx="2">
                  <c:v>0.01195551939246</c:v>
                </c:pt>
                <c:pt idx="3">
                  <c:v>0.0102522375915378</c:v>
                </c:pt>
                <c:pt idx="4">
                  <c:v>0.00647681041497152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-1252564544"/>
        <c:axId val="-1252543328"/>
      </c:barChart>
      <c:catAx>
        <c:axId val="-1252564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-1252543328"/>
        <c:crosses val="autoZero"/>
        <c:auto val="1"/>
        <c:lblAlgn val="ctr"/>
        <c:lblOffset val="100"/>
        <c:noMultiLvlLbl val="0"/>
      </c:catAx>
      <c:valAx>
        <c:axId val="-1252543328"/>
        <c:scaling>
          <c:orientation val="minMax"/>
          <c:max val="0.05"/>
          <c:min val="0"/>
        </c:scaling>
        <c:delete val="0"/>
        <c:axPos val="l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25256454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560035532839097"/>
          <c:y val="0.0152760952957803"/>
          <c:w val="0.166350867760473"/>
          <c:h val="0.1674118860142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>
      <a:solidFill>
        <a:schemeClr val="bg1">
          <a:lumMod val="95000"/>
        </a:schemeClr>
      </a:solidFill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ysClr val="windowText" lastClr="000000"/>
                </a:solidFill>
              </a:rPr>
              <a:t>Top</a:t>
            </a:r>
            <a:r>
              <a:rPr lang="en-US" sz="1000" b="1" baseline="0" dirty="0">
                <a:solidFill>
                  <a:sysClr val="windowText" lastClr="000000"/>
                </a:solidFill>
              </a:rPr>
              <a:t> 5  models</a:t>
            </a:r>
            <a:endParaRPr lang="en-US" sz="1000" b="1" dirty="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40539331792798"/>
          <c:y val="0.029346000124778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116907901132242"/>
          <c:y val="0.329859070787793"/>
          <c:w val="0.977968488588049"/>
          <c:h val="0.3873357947793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'Current month'!$G$39</c:f>
              <c:strCache>
                <c:ptCount val="1"/>
                <c:pt idx="0">
                  <c:v>HFPA DR%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month'!$D$40:$D$44</c:f>
              <c:strCache>
                <c:ptCount val="5"/>
                <c:pt idx="0">
                  <c:v>JORDAN 1 MID SE (PS/TD)</c:v>
                </c:pt>
                <c:pt idx="1">
                  <c:v>NIKE COURT VISION LOW (MS/WS)</c:v>
                </c:pt>
                <c:pt idx="2">
                  <c:v>AIR JORDAN 1 LOW (MS/WS)</c:v>
                </c:pt>
                <c:pt idx="3">
                  <c:v>NIKE INITIATOR (MS/WS)</c:v>
                </c:pt>
                <c:pt idx="4">
                  <c:v>AIR JORDAN 1 MID SE (GS)</c:v>
                </c:pt>
              </c:strCache>
            </c:strRef>
          </c:cat>
          <c:val>
            <c:numRef>
              <c:f>'Current month'!$G$40:$G$44</c:f>
              <c:numCache>
                <c:formatCode>0.00%</c:formatCode>
                <c:ptCount val="5"/>
                <c:pt idx="0">
                  <c:v>0.0131924734573741</c:v>
                </c:pt>
                <c:pt idx="1">
                  <c:v>0.0105513507831389</c:v>
                </c:pt>
                <c:pt idx="2">
                  <c:v>0.00868548302323137</c:v>
                </c:pt>
                <c:pt idx="3">
                  <c:v>0.00766056974666246</c:v>
                </c:pt>
                <c:pt idx="4">
                  <c:v>0.005479344055503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-1252551488"/>
        <c:axId val="-1252536256"/>
      </c:barChart>
      <c:catAx>
        <c:axId val="-1252551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-1252536256"/>
        <c:crosses val="autoZero"/>
        <c:auto val="1"/>
        <c:lblAlgn val="ctr"/>
        <c:lblOffset val="100"/>
        <c:noMultiLvlLbl val="0"/>
      </c:catAx>
      <c:valAx>
        <c:axId val="-1252536256"/>
        <c:scaling>
          <c:orientation val="minMax"/>
          <c:max val="0.05"/>
          <c:min val="0"/>
        </c:scaling>
        <c:delete val="0"/>
        <c:axPos val="l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1252551488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600645231846019"/>
          <c:y val="0.0259601924759405"/>
          <c:w val="0.166350867760473"/>
          <c:h val="0.1674118860142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6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>
      <a:solidFill>
        <a:schemeClr val="bg1">
          <a:lumMod val="95000"/>
        </a:schemeClr>
      </a:solidFill>
    </a:ln>
    <a:effectLst>
      <a:glow rad="63500">
        <a:schemeClr val="accent3">
          <a:satMod val="175000"/>
          <a:alpha val="40000"/>
        </a:scheme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chemeClr val="tx1"/>
                </a:solidFill>
              </a:rPr>
              <a:t>HFPA</a:t>
            </a:r>
            <a:r>
              <a:rPr lang="en-US" sz="1000" b="1" baseline="0" dirty="0">
                <a:solidFill>
                  <a:schemeClr val="tx1"/>
                </a:solidFill>
              </a:rPr>
              <a:t> Analysis</a:t>
            </a:r>
            <a:endParaRPr lang="en-US" sz="1000" b="1" dirty="0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327295025621797"/>
          <c:w val="0.993833016041199"/>
          <c:h val="0.6503786507124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month'!$B$2</c:f>
              <c:strCache>
                <c:ptCount val="1"/>
                <c:pt idx="0">
                  <c:v>Total pair produced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month'!$C$2:$J$2</c:f>
              <c:numCache>
                <c:formatCode>#,##0</c:formatCode>
                <c:ptCount val="8"/>
                <c:pt idx="0">
                  <c:v>271598</c:v>
                </c:pt>
                <c:pt idx="1">
                  <c:v>187596</c:v>
                </c:pt>
                <c:pt idx="2">
                  <c:v>260599</c:v>
                </c:pt>
                <c:pt idx="3">
                  <c:v>237958</c:v>
                </c:pt>
                <c:pt idx="4">
                  <c:v>235755</c:v>
                </c:pt>
                <c:pt idx="5">
                  <c:v>229614</c:v>
                </c:pt>
                <c:pt idx="6">
                  <c:v>250538</c:v>
                </c:pt>
                <c:pt idx="7">
                  <c:v>252237</c:v>
                </c:pt>
              </c:numCache>
            </c:numRef>
          </c:val>
        </c:ser>
        <c:ser>
          <c:idx val="1"/>
          <c:order val="1"/>
          <c:tx>
            <c:strRef>
              <c:f>'Current month'!$B$9</c:f>
              <c:strCache>
                <c:ptCount val="1"/>
                <c:pt idx="0">
                  <c:v>Defect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1483478489892e-7"/>
                  <c:y val="-0.0547189640242462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960493827160494"/>
                      <c:h val="0.157268883056285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"/>
                  <c:y val="-0.070302290797449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month'!$C$9:$J$9</c:f>
              <c:numCache>
                <c:formatCode>#,##0</c:formatCode>
                <c:ptCount val="8"/>
                <c:pt idx="0">
                  <c:v>41519</c:v>
                </c:pt>
                <c:pt idx="1">
                  <c:v>28653</c:v>
                </c:pt>
                <c:pt idx="2">
                  <c:v>40780</c:v>
                </c:pt>
                <c:pt idx="3">
                  <c:v>37189</c:v>
                </c:pt>
                <c:pt idx="4">
                  <c:v>36868</c:v>
                </c:pt>
                <c:pt idx="5">
                  <c:v>35819</c:v>
                </c:pt>
                <c:pt idx="6">
                  <c:v>39321</c:v>
                </c:pt>
                <c:pt idx="7">
                  <c:v>40405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36416543"/>
        <c:axId val="1736414879"/>
      </c:barChart>
      <c:lineChart>
        <c:grouping val="standard"/>
        <c:varyColors val="0"/>
        <c:ser>
          <c:idx val="2"/>
          <c:order val="2"/>
          <c:tx>
            <c:strRef>
              <c:f>'Current month'!$B$16</c:f>
              <c:strCache>
                <c:ptCount val="1"/>
                <c:pt idx="0">
                  <c:v>HFPA%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month'!$C$16:$J$16</c:f>
              <c:numCache>
                <c:formatCode>0.00%</c:formatCode>
                <c:ptCount val="8"/>
                <c:pt idx="0">
                  <c:v>0.847130685792973</c:v>
                </c:pt>
                <c:pt idx="1">
                  <c:v>0.847262201752703</c:v>
                </c:pt>
                <c:pt idx="2">
                  <c:v>0.843514364982214</c:v>
                </c:pt>
                <c:pt idx="3">
                  <c:v>0.843716117970398</c:v>
                </c:pt>
                <c:pt idx="4">
                  <c:v>0.843617314585057</c:v>
                </c:pt>
                <c:pt idx="5">
                  <c:v>0.84400341442595</c:v>
                </c:pt>
                <c:pt idx="6">
                  <c:v>0.843053748333586</c:v>
                </c:pt>
                <c:pt idx="7">
                  <c:v>0.839813350142921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36331263"/>
        <c:axId val="1736323775"/>
      </c:lineChart>
      <c:catAx>
        <c:axId val="173641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736414879"/>
        <c:crosses val="autoZero"/>
        <c:auto val="1"/>
        <c:lblAlgn val="ctr"/>
        <c:lblOffset val="100"/>
        <c:noMultiLvlLbl val="0"/>
      </c:catAx>
      <c:valAx>
        <c:axId val="1736414879"/>
        <c:scaling>
          <c:orientation val="minMax"/>
          <c:max val="65000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416543"/>
        <c:crosses val="autoZero"/>
        <c:crossBetween val="between"/>
      </c:valAx>
      <c:catAx>
        <c:axId val="17363312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23775"/>
        <c:crosses val="autoZero"/>
        <c:auto val="1"/>
        <c:lblAlgn val="ctr"/>
        <c:lblOffset val="100"/>
        <c:noMultiLvlLbl val="0"/>
      </c:catAx>
      <c:valAx>
        <c:axId val="1736323775"/>
        <c:scaling>
          <c:orientation val="minMax"/>
          <c:min val="0"/>
        </c:scaling>
        <c:delete val="0"/>
        <c:axPos val="r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31263"/>
        <c:crosses val="max"/>
        <c:crossBetween val="between"/>
      </c:valAx>
      <c:spPr>
        <a:noFill/>
        <a:ln>
          <a:noFill/>
        </a:ln>
        <a:effectLst>
          <a:glow rad="101600">
            <a:srgbClr val="A5A5A5">
              <a:satMod val="175000"/>
              <a:alpha val="40000"/>
            </a:srgbClr>
          </a:glow>
        </a:effectLst>
      </c:spPr>
    </c:plotArea>
    <c:legend>
      <c:legendPos val="b"/>
      <c:layout>
        <c:manualLayout>
          <c:xMode val="edge"/>
          <c:yMode val="edge"/>
          <c:x val="0.00836286089238847"/>
          <c:y val="0.0200414977771176"/>
          <c:w val="0.258274059492563"/>
          <c:h val="0.188411653641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chemeClr val="tx1"/>
                </a:solidFill>
              </a:rPr>
              <a:t>HFPA</a:t>
            </a:r>
            <a:r>
              <a:rPr lang="en-US" sz="1000" b="1" baseline="0" dirty="0">
                <a:solidFill>
                  <a:schemeClr val="tx1"/>
                </a:solidFill>
              </a:rPr>
              <a:t> Analysis</a:t>
            </a:r>
            <a:endParaRPr lang="en-US" sz="1000" b="1" dirty="0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325837323394034"/>
          <c:w val="0.993833016041199"/>
          <c:h val="0.47223924394088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month'!$B$3</c:f>
              <c:strCache>
                <c:ptCount val="1"/>
                <c:pt idx="0">
                  <c:v>Total pair produced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5B9BD5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month'!$C$3:$J$3</c:f>
              <c:numCache>
                <c:formatCode>#,##0</c:formatCode>
                <c:ptCount val="8"/>
                <c:pt idx="0">
                  <c:v>215017</c:v>
                </c:pt>
                <c:pt idx="1">
                  <c:v>142829</c:v>
                </c:pt>
                <c:pt idx="2">
                  <c:v>198311</c:v>
                </c:pt>
                <c:pt idx="3">
                  <c:v>197716</c:v>
                </c:pt>
                <c:pt idx="4">
                  <c:v>202479</c:v>
                </c:pt>
                <c:pt idx="5">
                  <c:v>187587</c:v>
                </c:pt>
                <c:pt idx="6">
                  <c:v>185739</c:v>
                </c:pt>
                <c:pt idx="7">
                  <c:v>187637</c:v>
                </c:pt>
              </c:numCache>
            </c:numRef>
          </c:val>
        </c:ser>
        <c:ser>
          <c:idx val="1"/>
          <c:order val="1"/>
          <c:tx>
            <c:strRef>
              <c:f>'Current month'!$B$10</c:f>
              <c:strCache>
                <c:ptCount val="1"/>
                <c:pt idx="0">
                  <c:v>Defect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month'!$C$10:$J$10</c:f>
              <c:numCache>
                <c:formatCode>#,##0</c:formatCode>
                <c:ptCount val="8"/>
                <c:pt idx="0">
                  <c:v>20033</c:v>
                </c:pt>
                <c:pt idx="1">
                  <c:v>19126</c:v>
                </c:pt>
                <c:pt idx="2">
                  <c:v>27189</c:v>
                </c:pt>
                <c:pt idx="3">
                  <c:v>27481</c:v>
                </c:pt>
                <c:pt idx="4">
                  <c:v>29000</c:v>
                </c:pt>
                <c:pt idx="5">
                  <c:v>26824</c:v>
                </c:pt>
                <c:pt idx="6">
                  <c:v>26996</c:v>
                </c:pt>
                <c:pt idx="7">
                  <c:v>27355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36416543"/>
        <c:axId val="1736414879"/>
      </c:barChart>
      <c:lineChart>
        <c:grouping val="standard"/>
        <c:varyColors val="0"/>
        <c:ser>
          <c:idx val="2"/>
          <c:order val="2"/>
          <c:tx>
            <c:strRef>
              <c:f>'Current month'!$B$17</c:f>
              <c:strCache>
                <c:ptCount val="1"/>
                <c:pt idx="0">
                  <c:v>HFPA%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month'!$C$17:$J$17</c:f>
              <c:numCache>
                <c:formatCode>0.00%</c:formatCode>
                <c:ptCount val="8"/>
                <c:pt idx="0">
                  <c:v>0.90683062269495</c:v>
                </c:pt>
                <c:pt idx="1">
                  <c:v>0.86609162004915</c:v>
                </c:pt>
                <c:pt idx="2">
                  <c:v>0.862897166571698</c:v>
                </c:pt>
                <c:pt idx="3">
                  <c:v>0.861007708025653</c:v>
                </c:pt>
                <c:pt idx="4">
                  <c:v>0.856775270521881</c:v>
                </c:pt>
                <c:pt idx="5">
                  <c:v>0.857005016339085</c:v>
                </c:pt>
                <c:pt idx="6">
                  <c:v>0.854656264973969</c:v>
                </c:pt>
                <c:pt idx="7">
                  <c:v>0.854213188230466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36331263"/>
        <c:axId val="1736323775"/>
      </c:lineChart>
      <c:catAx>
        <c:axId val="173641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736414879"/>
        <c:crosses val="autoZero"/>
        <c:auto val="1"/>
        <c:lblAlgn val="ctr"/>
        <c:lblOffset val="100"/>
        <c:noMultiLvlLbl val="0"/>
      </c:catAx>
      <c:valAx>
        <c:axId val="1736414879"/>
        <c:scaling>
          <c:orientation val="minMax"/>
          <c:max val="650000"/>
          <c:min val="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416543"/>
        <c:crosses val="autoZero"/>
        <c:crossBetween val="between"/>
      </c:valAx>
      <c:catAx>
        <c:axId val="17363312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23775"/>
        <c:crosses val="autoZero"/>
        <c:auto val="1"/>
        <c:lblAlgn val="ctr"/>
        <c:lblOffset val="100"/>
        <c:noMultiLvlLbl val="0"/>
      </c:catAx>
      <c:valAx>
        <c:axId val="1736323775"/>
        <c:scaling>
          <c:orientation val="minMax"/>
          <c:min val="0"/>
        </c:scaling>
        <c:delete val="0"/>
        <c:axPos val="r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3126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0836286089238847"/>
          <c:y val="0.0200414977771176"/>
          <c:w val="0.258274059492563"/>
          <c:h val="0.1882504880246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5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chemeClr val="tx1"/>
                </a:solidFill>
              </a:rPr>
              <a:t>HFPA</a:t>
            </a:r>
            <a:r>
              <a:rPr lang="en-US" sz="1000" b="1" baseline="0" dirty="0">
                <a:solidFill>
                  <a:schemeClr val="tx1"/>
                </a:solidFill>
              </a:rPr>
              <a:t> Analysis</a:t>
            </a:r>
            <a:endParaRPr lang="en-US" sz="1000" b="1" dirty="0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384331474612494"/>
          <c:w val="0.990749524061799"/>
          <c:h val="0.43513028445798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month'!$B$4</c:f>
              <c:strCache>
                <c:ptCount val="1"/>
                <c:pt idx="0">
                  <c:v>Total pair produced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month'!$C$4:$J$4</c:f>
              <c:numCache>
                <c:formatCode>#,##0</c:formatCode>
                <c:ptCount val="8"/>
                <c:pt idx="0">
                  <c:v>113263</c:v>
                </c:pt>
                <c:pt idx="1">
                  <c:v>109373</c:v>
                </c:pt>
                <c:pt idx="2">
                  <c:v>77577</c:v>
                </c:pt>
                <c:pt idx="3">
                  <c:v>128553</c:v>
                </c:pt>
                <c:pt idx="4">
                  <c:v>94006</c:v>
                </c:pt>
                <c:pt idx="5">
                  <c:v>91617</c:v>
                </c:pt>
                <c:pt idx="6">
                  <c:v>113846</c:v>
                </c:pt>
                <c:pt idx="7">
                  <c:v>92175</c:v>
                </c:pt>
              </c:numCache>
            </c:numRef>
          </c:val>
        </c:ser>
        <c:ser>
          <c:idx val="1"/>
          <c:order val="1"/>
          <c:tx>
            <c:strRef>
              <c:f>'Current month'!$B$11</c:f>
              <c:strCache>
                <c:ptCount val="1"/>
                <c:pt idx="0">
                  <c:v>Defect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month'!$C$11:$J$11</c:f>
              <c:numCache>
                <c:formatCode>#,##0</c:formatCode>
                <c:ptCount val="8"/>
                <c:pt idx="0">
                  <c:v>7879</c:v>
                </c:pt>
                <c:pt idx="1">
                  <c:v>9713</c:v>
                </c:pt>
                <c:pt idx="2">
                  <c:v>6825</c:v>
                </c:pt>
                <c:pt idx="3">
                  <c:v>12512</c:v>
                </c:pt>
                <c:pt idx="4">
                  <c:v>9320</c:v>
                </c:pt>
                <c:pt idx="5">
                  <c:v>9379</c:v>
                </c:pt>
                <c:pt idx="6">
                  <c:v>11891</c:v>
                </c:pt>
                <c:pt idx="7">
                  <c:v>11421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36416543"/>
        <c:axId val="1736414879"/>
      </c:barChart>
      <c:lineChart>
        <c:grouping val="standard"/>
        <c:varyColors val="0"/>
        <c:ser>
          <c:idx val="2"/>
          <c:order val="2"/>
          <c:tx>
            <c:strRef>
              <c:f>'Current month'!$B$18</c:f>
              <c:strCache>
                <c:ptCount val="1"/>
                <c:pt idx="0">
                  <c:v>HFPA%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month'!$C$18:$J$18</c:f>
              <c:numCache>
                <c:formatCode>0.00%</c:formatCode>
                <c:ptCount val="8"/>
                <c:pt idx="0">
                  <c:v>0.930436241314463</c:v>
                </c:pt>
                <c:pt idx="1">
                  <c:v>0.911193804686714</c:v>
                </c:pt>
                <c:pt idx="2">
                  <c:v>0.912022893383348</c:v>
                </c:pt>
                <c:pt idx="3">
                  <c:v>0.902670493881901</c:v>
                </c:pt>
                <c:pt idx="4">
                  <c:v>0.900857392081357</c:v>
                </c:pt>
                <c:pt idx="5">
                  <c:v>0.897628169444535</c:v>
                </c:pt>
                <c:pt idx="6">
                  <c:v>0.895551885880927</c:v>
                </c:pt>
                <c:pt idx="7">
                  <c:v>0.876094385679414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36331263"/>
        <c:axId val="1736323775"/>
      </c:lineChart>
      <c:catAx>
        <c:axId val="173641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736414879"/>
        <c:crosses val="autoZero"/>
        <c:auto val="1"/>
        <c:lblAlgn val="ctr"/>
        <c:lblOffset val="100"/>
        <c:noMultiLvlLbl val="0"/>
      </c:catAx>
      <c:valAx>
        <c:axId val="1736414879"/>
        <c:scaling>
          <c:orientation val="minMax"/>
          <c:max val="310000"/>
          <c:min val="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416543"/>
        <c:crosses val="autoZero"/>
        <c:crossBetween val="between"/>
      </c:valAx>
      <c:catAx>
        <c:axId val="17363312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23775"/>
        <c:crosses val="autoZero"/>
        <c:auto val="1"/>
        <c:lblAlgn val="ctr"/>
        <c:lblOffset val="100"/>
        <c:noMultiLvlLbl val="0"/>
      </c:catAx>
      <c:valAx>
        <c:axId val="1736323775"/>
        <c:scaling>
          <c:orientation val="minMax"/>
          <c:min val="0"/>
        </c:scaling>
        <c:delete val="0"/>
        <c:axPos val="r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31263"/>
        <c:crosses val="max"/>
        <c:crossBetween val="between"/>
      </c:valAx>
      <c:spPr>
        <a:solidFill>
          <a:sysClr val="window" lastClr="FFFFFF"/>
        </a:solidFill>
        <a:ln>
          <a:solidFill>
            <a:sysClr val="window" lastClr="FFFFFF"/>
          </a:solidFill>
        </a:ln>
        <a:effectLst/>
      </c:spPr>
    </c:plotArea>
    <c:legend>
      <c:legendPos val="b"/>
      <c:layout>
        <c:manualLayout>
          <c:xMode val="edge"/>
          <c:yMode val="edge"/>
          <c:x val="0.00836286089238847"/>
          <c:y val="0.0200414977771176"/>
          <c:w val="0.258274059492563"/>
          <c:h val="0.2073213232946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5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chemeClr val="tx1"/>
                </a:solidFill>
              </a:rPr>
              <a:t>HFPA</a:t>
            </a:r>
            <a:r>
              <a:rPr lang="en-US" sz="1000" b="1" baseline="0" dirty="0">
                <a:solidFill>
                  <a:schemeClr val="tx1"/>
                </a:solidFill>
              </a:rPr>
              <a:t> Analysis</a:t>
            </a:r>
            <a:endParaRPr lang="en-US" sz="1000" b="1" dirty="0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364745300898347"/>
          <c:w val="0.993833016041199"/>
          <c:h val="0.44161166158089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month'!$B$5</c:f>
              <c:strCache>
                <c:ptCount val="1"/>
                <c:pt idx="0">
                  <c:v>Total pair produced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month'!$C$5:$J$5</c:f>
              <c:numCache>
                <c:formatCode>#,##0</c:formatCode>
                <c:ptCount val="8"/>
                <c:pt idx="0">
                  <c:v>104684</c:v>
                </c:pt>
                <c:pt idx="1">
                  <c:v>104216</c:v>
                </c:pt>
                <c:pt idx="2">
                  <c:v>81867</c:v>
                </c:pt>
                <c:pt idx="3">
                  <c:v>116571</c:v>
                </c:pt>
                <c:pt idx="4">
                  <c:v>96194</c:v>
                </c:pt>
                <c:pt idx="5">
                  <c:v>93287</c:v>
                </c:pt>
                <c:pt idx="6">
                  <c:v>111473</c:v>
                </c:pt>
                <c:pt idx="7">
                  <c:v>76104</c:v>
                </c:pt>
              </c:numCache>
            </c:numRef>
          </c:val>
        </c:ser>
        <c:ser>
          <c:idx val="1"/>
          <c:order val="1"/>
          <c:tx>
            <c:strRef>
              <c:f>'Current month'!$B$12</c:f>
              <c:strCache>
                <c:ptCount val="1"/>
                <c:pt idx="0">
                  <c:v>Defect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month'!$C$12:$J$12</c:f>
              <c:numCache>
                <c:formatCode>#,##0</c:formatCode>
                <c:ptCount val="8"/>
                <c:pt idx="0">
                  <c:v>6002</c:v>
                </c:pt>
                <c:pt idx="1">
                  <c:v>5889</c:v>
                </c:pt>
                <c:pt idx="2">
                  <c:v>4640</c:v>
                </c:pt>
                <c:pt idx="3">
                  <c:v>6632</c:v>
                </c:pt>
                <c:pt idx="4">
                  <c:v>5652</c:v>
                </c:pt>
                <c:pt idx="5">
                  <c:v>5475</c:v>
                </c:pt>
                <c:pt idx="6">
                  <c:v>6539</c:v>
                </c:pt>
                <c:pt idx="7">
                  <c:v>4503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36416543"/>
        <c:axId val="1736414879"/>
      </c:barChart>
      <c:lineChart>
        <c:grouping val="standard"/>
        <c:varyColors val="0"/>
        <c:ser>
          <c:idx val="2"/>
          <c:order val="2"/>
          <c:tx>
            <c:strRef>
              <c:f>'Current month'!$B$19</c:f>
              <c:strCache>
                <c:ptCount val="1"/>
                <c:pt idx="0">
                  <c:v>HFPA%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month'!$C$1:$J$1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'Current month'!$C$19:$J$19</c:f>
              <c:numCache>
                <c:formatCode>0.00%</c:formatCode>
                <c:ptCount val="8"/>
                <c:pt idx="0">
                  <c:v>0.942665545833174</c:v>
                </c:pt>
                <c:pt idx="1">
                  <c:v>0.943492362017349</c:v>
                </c:pt>
                <c:pt idx="2">
                  <c:v>0.943322706340772</c:v>
                </c:pt>
                <c:pt idx="3">
                  <c:v>0.943107633974145</c:v>
                </c:pt>
                <c:pt idx="4">
                  <c:v>0.941243736615589</c:v>
                </c:pt>
                <c:pt idx="5">
                  <c:v>0.941310150396089</c:v>
                </c:pt>
                <c:pt idx="6">
                  <c:v>0.941340055439434</c:v>
                </c:pt>
                <c:pt idx="7">
                  <c:v>0.940830968148849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36331263"/>
        <c:axId val="1736323775"/>
      </c:lineChart>
      <c:catAx>
        <c:axId val="173641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736414879"/>
        <c:crosses val="autoZero"/>
        <c:auto val="1"/>
        <c:lblAlgn val="ctr"/>
        <c:lblOffset val="100"/>
        <c:noMultiLvlLbl val="0"/>
      </c:catAx>
      <c:valAx>
        <c:axId val="1736414879"/>
        <c:scaling>
          <c:orientation val="minMax"/>
          <c:max val="310000"/>
          <c:min val="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416543"/>
        <c:crosses val="autoZero"/>
        <c:crossBetween val="between"/>
      </c:valAx>
      <c:catAx>
        <c:axId val="17363312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23775"/>
        <c:crosses val="autoZero"/>
        <c:auto val="1"/>
        <c:lblAlgn val="ctr"/>
        <c:lblOffset val="100"/>
        <c:noMultiLvlLbl val="0"/>
      </c:catAx>
      <c:valAx>
        <c:axId val="1736323775"/>
        <c:scaling>
          <c:orientation val="minMax"/>
          <c:min val="0"/>
        </c:scaling>
        <c:delete val="0"/>
        <c:axPos val="r"/>
        <c:numFmt formatCode="0.0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3633126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0836286089238847"/>
          <c:y val="0.0200414977771176"/>
          <c:w val="0.258274059492563"/>
          <c:h val="0.2170975012158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5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0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000" b="1" i="0" baseline="0" dirty="0">
                <a:solidFill>
                  <a:sysClr val="windowText" lastClr="000000"/>
                </a:solidFill>
                <a:effectLst/>
              </a:rPr>
              <a:t>Top defect of top models </a:t>
            </a:r>
            <a:endParaRPr lang="en-US" sz="1000" dirty="0">
              <a:solidFill>
                <a:sysClr val="windowText" lastClr="000000"/>
              </a:solidFill>
              <a:effectLst/>
            </a:endParaRPr>
          </a:p>
        </c:rich>
      </c:tx>
      <c:layout>
        <c:manualLayout>
          <c:xMode val="edge"/>
          <c:yMode val="edge"/>
          <c:x val="0.324487934097756"/>
          <c:y val="0.040112173478315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173296840486873"/>
          <c:y val="0.167221369668416"/>
          <c:w val="1"/>
          <c:h val="0.62629878698427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month'!$M$21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1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month'!$L$22:$L$26</c:f>
              <c:strCache>
                <c:ptCount val="5"/>
                <c:pt idx="0">
                  <c:v>AIR JORDAN 1 LOW SE (MS/WS)</c:v>
                </c:pt>
                <c:pt idx="1">
                  <c:v>NIKE SB FORCE 58</c:v>
                </c:pt>
                <c:pt idx="2">
                  <c:v>JORDAN SPIZIKE LOW (GS)</c:v>
                </c:pt>
                <c:pt idx="3">
                  <c:v>JORDAN SPIZIKE LOW (PS/TD)</c:v>
                </c:pt>
                <c:pt idx="4">
                  <c:v>NIKE MANOA LEATHER</c:v>
                </c:pt>
              </c:strCache>
            </c:strRef>
          </c:cat>
          <c:val>
            <c:numRef>
              <c:f>'Current month'!$M$22:$M$26</c:f>
              <c:numCache>
                <c:formatCode>0.00%</c:formatCode>
                <c:ptCount val="5"/>
                <c:pt idx="0">
                  <c:v>0.193946517778431</c:v>
                </c:pt>
                <c:pt idx="1">
                  <c:v>0.223898254954156</c:v>
                </c:pt>
                <c:pt idx="2">
                  <c:v>0.186024988431282</c:v>
                </c:pt>
                <c:pt idx="3">
                  <c:v>0.158095238095238</c:v>
                </c:pt>
                <c:pt idx="4">
                  <c:v>0.160687960687961</c:v>
                </c:pt>
              </c:numCache>
            </c:numRef>
          </c:val>
        </c:ser>
        <c:ser>
          <c:idx val="1"/>
          <c:order val="1"/>
          <c:tx>
            <c:strRef>
              <c:f>'Current month'!$N$21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month'!$L$22:$L$26</c:f>
              <c:strCache>
                <c:ptCount val="5"/>
                <c:pt idx="0">
                  <c:v>AIR JORDAN 1 LOW SE (MS/WS)</c:v>
                </c:pt>
                <c:pt idx="1">
                  <c:v>NIKE SB FORCE 58</c:v>
                </c:pt>
                <c:pt idx="2">
                  <c:v>JORDAN SPIZIKE LOW (GS)</c:v>
                </c:pt>
                <c:pt idx="3">
                  <c:v>JORDAN SPIZIKE LOW (PS/TD)</c:v>
                </c:pt>
                <c:pt idx="4">
                  <c:v>NIKE MANOA LEATHER</c:v>
                </c:pt>
              </c:strCache>
            </c:strRef>
          </c:cat>
          <c:val>
            <c:numRef>
              <c:f>'Current month'!$N$22:$N$26</c:f>
              <c:numCache>
                <c:formatCode>0.00%</c:formatCode>
                <c:ptCount val="5"/>
                <c:pt idx="0">
                  <c:v>0.18513076697032</c:v>
                </c:pt>
                <c:pt idx="1">
                  <c:v>0.241940254362615</c:v>
                </c:pt>
                <c:pt idx="2">
                  <c:v>0.137899120777418</c:v>
                </c:pt>
                <c:pt idx="3">
                  <c:v>0.15047619047619</c:v>
                </c:pt>
                <c:pt idx="4">
                  <c:v>0.152825552825553</c:v>
                </c:pt>
              </c:numCache>
            </c:numRef>
          </c:val>
        </c:ser>
        <c:ser>
          <c:idx val="2"/>
          <c:order val="2"/>
          <c:tx>
            <c:strRef>
              <c:f>'Current month'!$O$21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month'!$L$22:$L$26</c:f>
              <c:strCache>
                <c:ptCount val="5"/>
                <c:pt idx="0">
                  <c:v>AIR JORDAN 1 LOW SE (MS/WS)</c:v>
                </c:pt>
                <c:pt idx="1">
                  <c:v>NIKE SB FORCE 58</c:v>
                </c:pt>
                <c:pt idx="2">
                  <c:v>JORDAN SPIZIKE LOW (GS)</c:v>
                </c:pt>
                <c:pt idx="3">
                  <c:v>JORDAN SPIZIKE LOW (PS/TD)</c:v>
                </c:pt>
                <c:pt idx="4">
                  <c:v>NIKE MANOA LEATHER</c:v>
                </c:pt>
              </c:strCache>
            </c:strRef>
          </c:cat>
          <c:val>
            <c:numRef>
              <c:f>'Current month'!$O$22:$O$26</c:f>
              <c:numCache>
                <c:formatCode>General</c:formatCode>
                <c:ptCount val="5"/>
                <c:pt idx="2" c:formatCode="0.00%">
                  <c:v>0.16196205460435</c:v>
                </c:pt>
                <c:pt idx="3" c:formatCode="0.00%">
                  <c:v>0.147142857142857</c:v>
                </c:pt>
              </c:numCache>
            </c:numRef>
          </c:val>
        </c:ser>
        <c:ser>
          <c:idx val="3"/>
          <c:order val="3"/>
          <c:tx>
            <c:strRef>
              <c:f>'Current month'!$P$21</c:f>
              <c:strCache>
                <c:ptCount val="1"/>
                <c:pt idx="0">
                  <c:v>Components inconsistent</c:v>
                </c:pt>
              </c:strCache>
            </c:strRef>
          </c:tx>
          <c:spPr>
            <a:solidFill>
              <a:srgbClr val="AC5C9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month'!$L$22:$L$26</c:f>
              <c:strCache>
                <c:ptCount val="5"/>
                <c:pt idx="0">
                  <c:v>AIR JORDAN 1 LOW SE (MS/WS)</c:v>
                </c:pt>
                <c:pt idx="1">
                  <c:v>NIKE SB FORCE 58</c:v>
                </c:pt>
                <c:pt idx="2">
                  <c:v>JORDAN SPIZIKE LOW (GS)</c:v>
                </c:pt>
                <c:pt idx="3">
                  <c:v>JORDAN SPIZIKE LOW (PS/TD)</c:v>
                </c:pt>
                <c:pt idx="4">
                  <c:v>NIKE MANOA LEATHER</c:v>
                </c:pt>
              </c:strCache>
            </c:strRef>
          </c:cat>
          <c:val>
            <c:numRef>
              <c:f>'Current month'!$P$22:$P$26</c:f>
              <c:numCache>
                <c:formatCode>0.00%</c:formatCode>
                <c:ptCount val="5"/>
                <c:pt idx="0">
                  <c:v>0.12635909491625</c:v>
                </c:pt>
                <c:pt idx="1">
                  <c:v>0.148772552499261</c:v>
                </c:pt>
              </c:numCache>
            </c:numRef>
          </c:val>
        </c:ser>
        <c:ser>
          <c:idx val="4"/>
          <c:order val="4"/>
          <c:tx>
            <c:strRef>
              <c:f>'Current month'!$Q$21</c:f>
              <c:strCache>
                <c:ptCount val="1"/>
                <c:pt idx="0">
                  <c:v>Rocking</c:v>
                </c:pt>
              </c:strCache>
            </c:strRef>
          </c:tx>
          <c:spPr>
            <a:solidFill>
              <a:srgbClr val="EAD7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-0.020689363060852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64740987621217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month'!$L$22:$L$26</c:f>
              <c:strCache>
                <c:ptCount val="5"/>
                <c:pt idx="0">
                  <c:v>AIR JORDAN 1 LOW SE (MS/WS)</c:v>
                </c:pt>
                <c:pt idx="1">
                  <c:v>NIKE SB FORCE 58</c:v>
                </c:pt>
                <c:pt idx="2">
                  <c:v>JORDAN SPIZIKE LOW (GS)</c:v>
                </c:pt>
                <c:pt idx="3">
                  <c:v>JORDAN SPIZIKE LOW (PS/TD)</c:v>
                </c:pt>
                <c:pt idx="4">
                  <c:v>NIKE MANOA LEATHER</c:v>
                </c:pt>
              </c:strCache>
            </c:strRef>
          </c:cat>
          <c:val>
            <c:numRef>
              <c:f>'Current month'!$Q$22:$Q$26</c:f>
              <c:numCache>
                <c:formatCode>General</c:formatCode>
                <c:ptCount val="5"/>
                <c:pt idx="4" c:formatCode="0.00%">
                  <c:v>0.101228501228501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100"/>
        <c:axId val="1454369039"/>
        <c:axId val="1454382351"/>
      </c:barChart>
      <c:catAx>
        <c:axId val="14543690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800" u="sng" dirty="0" err="1">
                    <a:solidFill>
                      <a:schemeClr val="tx1"/>
                    </a:solidFill>
                  </a:rPr>
                  <a:t>Firsty</a:t>
                </a:r>
                <a:r>
                  <a:rPr lang="en-US" sz="800" u="sng" baseline="0">
                    <a:solidFill>
                      <a:schemeClr val="tx1"/>
                    </a:solidFill>
                  </a:rPr>
                  <a:t> prority: Cleanness</a:t>
                </a:r>
                <a:endParaRPr lang="en-US" sz="800" u="sng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366725379837851"/>
              <c:y val="0.150663979502562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1454382351"/>
        <c:crosses val="autoZero"/>
        <c:auto val="1"/>
        <c:lblAlgn val="ctr"/>
        <c:lblOffset val="100"/>
        <c:noMultiLvlLbl val="0"/>
      </c:catAx>
      <c:valAx>
        <c:axId val="1454382351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5436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i="0" baseline="0">
                <a:solidFill>
                  <a:schemeClr val="tx1"/>
                </a:solidFill>
                <a:effectLst/>
              </a:rPr>
              <a:t>Top defect of top models </a:t>
            </a:r>
            <a:endParaRPr lang="en-US" sz="1000">
              <a:solidFill>
                <a:schemeClr val="tx1"/>
              </a:solidFill>
              <a:effectLst/>
            </a:endParaRPr>
          </a:p>
        </c:rich>
      </c:tx>
      <c:layout>
        <c:manualLayout>
          <c:xMode val="edge"/>
          <c:yMode val="edge"/>
          <c:x val="0.324692477911602"/>
          <c:y val="0.02916243908926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53256424342306"/>
          <c:y val="0.288907713580728"/>
          <c:w val="0.990996256281918"/>
          <c:h val="0.4586472919729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month'!$M$28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1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month'!$L$29:$L$33</c:f>
              <c:strCache>
                <c:ptCount val="5"/>
                <c:pt idx="0">
                  <c:v>NIKE AIR MAX EXCEE (MS/WS)</c:v>
                </c:pt>
                <c:pt idx="1">
                  <c:v>NIKE INITIATOR (MS/WS)</c:v>
                </c:pt>
                <c:pt idx="2">
                  <c:v>NIKE UPLIFT SC (MS/WS)</c:v>
                </c:pt>
                <c:pt idx="3">
                  <c:v>NIKE AIR WINFLO 12 GTX (MS/WS)</c:v>
                </c:pt>
                <c:pt idx="4">
                  <c:v>NIKE AIR WINFLO 12 (MS/WS)</c:v>
                </c:pt>
              </c:strCache>
            </c:strRef>
          </c:cat>
          <c:val>
            <c:numRef>
              <c:f>'Current month'!$M$29:$M$33</c:f>
              <c:numCache>
                <c:formatCode>0.00%</c:formatCode>
                <c:ptCount val="5"/>
                <c:pt idx="0">
                  <c:v>0.177519097853765</c:v>
                </c:pt>
                <c:pt idx="1">
                  <c:v>0.115984930032293</c:v>
                </c:pt>
                <c:pt idx="2">
                  <c:v>0.135739380389652</c:v>
                </c:pt>
                <c:pt idx="3">
                  <c:v>0.160052476221712</c:v>
                </c:pt>
                <c:pt idx="4">
                  <c:v>0.158034528552457</c:v>
                </c:pt>
              </c:numCache>
            </c:numRef>
          </c:val>
        </c:ser>
        <c:ser>
          <c:idx val="1"/>
          <c:order val="1"/>
          <c:tx>
            <c:strRef>
              <c:f>'Current month'!$N$28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month'!$L$29:$L$33</c:f>
              <c:strCache>
                <c:ptCount val="5"/>
                <c:pt idx="0">
                  <c:v>NIKE AIR MAX EXCEE (MS/WS)</c:v>
                </c:pt>
                <c:pt idx="1">
                  <c:v>NIKE INITIATOR (MS/WS)</c:v>
                </c:pt>
                <c:pt idx="2">
                  <c:v>NIKE UPLIFT SC (MS/WS)</c:v>
                </c:pt>
                <c:pt idx="3">
                  <c:v>NIKE AIR WINFLO 12 GTX (MS/WS)</c:v>
                </c:pt>
                <c:pt idx="4">
                  <c:v>NIKE AIR WINFLO 12 (MS/WS)</c:v>
                </c:pt>
              </c:strCache>
            </c:strRef>
          </c:cat>
          <c:val>
            <c:numRef>
              <c:f>'Current month'!$N$29:$N$33</c:f>
              <c:numCache>
                <c:formatCode>0.00%</c:formatCode>
                <c:ptCount val="5"/>
                <c:pt idx="0">
                  <c:v>0.109676245907603</c:v>
                </c:pt>
                <c:pt idx="1">
                  <c:v>0.0979547900968784</c:v>
                </c:pt>
                <c:pt idx="2">
                  <c:v>0.105397636537847</c:v>
                </c:pt>
                <c:pt idx="3">
                  <c:v>0.164972122007215</c:v>
                </c:pt>
                <c:pt idx="4">
                  <c:v>0.122177954847278</c:v>
                </c:pt>
              </c:numCache>
            </c:numRef>
          </c:val>
        </c:ser>
        <c:ser>
          <c:idx val="2"/>
          <c:order val="2"/>
          <c:tx>
            <c:strRef>
              <c:f>'Current month'!$O$28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month'!$L$29:$L$33</c:f>
              <c:strCache>
                <c:ptCount val="5"/>
                <c:pt idx="0">
                  <c:v>NIKE AIR MAX EXCEE (MS/WS)</c:v>
                </c:pt>
                <c:pt idx="1">
                  <c:v>NIKE INITIATOR (MS/WS)</c:v>
                </c:pt>
                <c:pt idx="2">
                  <c:v>NIKE UPLIFT SC (MS/WS)</c:v>
                </c:pt>
                <c:pt idx="3">
                  <c:v>NIKE AIR WINFLO 12 GTX (MS/WS)</c:v>
                </c:pt>
                <c:pt idx="4">
                  <c:v>NIKE AIR WINFLO 12 (MS/WS)</c:v>
                </c:pt>
              </c:strCache>
            </c:strRef>
          </c:cat>
          <c:val>
            <c:numRef>
              <c:f>'Current month'!$O$29:$O$33</c:f>
              <c:numCache>
                <c:formatCode>0.00%</c:formatCode>
                <c:ptCount val="5"/>
                <c:pt idx="0">
                  <c:v>0.136595125500182</c:v>
                </c:pt>
                <c:pt idx="2">
                  <c:v>0.106675183647397</c:v>
                </c:pt>
                <c:pt idx="4">
                  <c:v>0.0920761398849048</c:v>
                </c:pt>
              </c:numCache>
            </c:numRef>
          </c:val>
        </c:ser>
        <c:ser>
          <c:idx val="3"/>
          <c:order val="3"/>
          <c:tx>
            <c:strRef>
              <c:f>'Current month'!$P$28</c:f>
              <c:strCache>
                <c:ptCount val="1"/>
                <c:pt idx="0">
                  <c:v>Bottom Cosmetic</c:v>
                </c:pt>
              </c:strCache>
            </c:strRef>
          </c:tx>
          <c:spPr>
            <a:solidFill>
              <a:srgbClr val="D9969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month'!$L$29:$L$33</c:f>
              <c:strCache>
                <c:ptCount val="5"/>
                <c:pt idx="0">
                  <c:v>NIKE AIR MAX EXCEE (MS/WS)</c:v>
                </c:pt>
                <c:pt idx="1">
                  <c:v>NIKE INITIATOR (MS/WS)</c:v>
                </c:pt>
                <c:pt idx="2">
                  <c:v>NIKE UPLIFT SC (MS/WS)</c:v>
                </c:pt>
                <c:pt idx="3">
                  <c:v>NIKE AIR WINFLO 12 GTX (MS/WS)</c:v>
                </c:pt>
                <c:pt idx="4">
                  <c:v>NIKE AIR WINFLO 12 (MS/WS)</c:v>
                </c:pt>
              </c:strCache>
            </c:strRef>
          </c:cat>
          <c:val>
            <c:numRef>
              <c:f>'Current month'!$P$29:$P$33</c:f>
              <c:numCache>
                <c:formatCode>General</c:formatCode>
                <c:ptCount val="5"/>
                <c:pt idx="3" c:formatCode="0.00%">
                  <c:v>0.106264348966874</c:v>
                </c:pt>
              </c:numCache>
            </c:numRef>
          </c:val>
        </c:ser>
        <c:ser>
          <c:idx val="4"/>
          <c:order val="4"/>
          <c:tx>
            <c:strRef>
              <c:f>'Current month'!$Q$28</c:f>
              <c:strCache>
                <c:ptCount val="1"/>
                <c:pt idx="0">
                  <c:v>Collar shape</c:v>
                </c:pt>
              </c:strCache>
            </c:strRef>
          </c:tx>
          <c:spPr>
            <a:solidFill>
              <a:srgbClr val="FE9BFF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E9BFF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month'!$L$29:$L$33</c:f>
              <c:strCache>
                <c:ptCount val="5"/>
                <c:pt idx="0">
                  <c:v>NIKE AIR MAX EXCEE (MS/WS)</c:v>
                </c:pt>
                <c:pt idx="1">
                  <c:v>NIKE INITIATOR (MS/WS)</c:v>
                </c:pt>
                <c:pt idx="2">
                  <c:v>NIKE UPLIFT SC (MS/WS)</c:v>
                </c:pt>
                <c:pt idx="3">
                  <c:v>NIKE AIR WINFLO 12 GTX (MS/WS)</c:v>
                </c:pt>
                <c:pt idx="4">
                  <c:v>NIKE AIR WINFLO 12 (MS/WS)</c:v>
                </c:pt>
              </c:strCache>
            </c:strRef>
          </c:cat>
          <c:val>
            <c:numRef>
              <c:f>'Current month'!$Q$29:$Q$33</c:f>
              <c:numCache>
                <c:formatCode>General</c:formatCode>
                <c:ptCount val="5"/>
                <c:pt idx="1" c:formatCode="0.00%">
                  <c:v>0.0788482238966631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100"/>
        <c:axId val="1232910879"/>
        <c:axId val="1232909215"/>
      </c:barChart>
      <c:catAx>
        <c:axId val="12329108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800" b="0" i="0" u="sng" baseline="0">
                    <a:solidFill>
                      <a:schemeClr val="tx1"/>
                    </a:solidFill>
                    <a:effectLst/>
                  </a:rPr>
                  <a:t>First priority: Cleanness</a:t>
                </a:r>
                <a:endParaRPr lang="en-US" sz="800">
                  <a:solidFill>
                    <a:schemeClr val="tx1"/>
                  </a:solidFill>
                  <a:effectLst/>
                </a:endParaRPr>
              </a:p>
            </c:rich>
          </c:tx>
          <c:layout>
            <c:manualLayout>
              <c:xMode val="edge"/>
              <c:yMode val="edge"/>
              <c:x val="0.367197973013834"/>
              <c:y val="0.15166381009448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1232909215"/>
        <c:crosses val="autoZero"/>
        <c:auto val="1"/>
        <c:lblAlgn val="ctr"/>
        <c:lblOffset val="100"/>
        <c:noMultiLvlLbl val="0"/>
      </c:catAx>
      <c:valAx>
        <c:axId val="1232909215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329108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i="0" baseline="0">
                <a:solidFill>
                  <a:schemeClr val="tx1"/>
                </a:solidFill>
                <a:effectLst/>
              </a:rPr>
              <a:t>Top defect of top models </a:t>
            </a:r>
            <a:endParaRPr lang="en-US" sz="1000">
              <a:solidFill>
                <a:schemeClr val="tx1"/>
              </a:solidFill>
              <a:effectLst/>
            </a:endParaRPr>
          </a:p>
        </c:rich>
      </c:tx>
      <c:layout>
        <c:manualLayout>
          <c:xMode val="edge"/>
          <c:yMode val="edge"/>
          <c:x val="0.331620166421929"/>
          <c:y val="0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0951998380965538"/>
          <c:y val="0.251524842016712"/>
          <c:w val="0.983528912083664"/>
          <c:h val="0.53565464731548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month'!$M$35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1253F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323704938106089"/>
                  <c:y val="-9.77370814099277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month'!$L$36:$L$40</c:f>
              <c:strCache>
                <c:ptCount val="5"/>
                <c:pt idx="0">
                  <c:v>NIKE INITIATOR (MS/WS)</c:v>
                </c:pt>
                <c:pt idx="1">
                  <c:v>NIKE EBERNON LOW (MS/WS)</c:v>
                </c:pt>
                <c:pt idx="2">
                  <c:v>NIKE AIR MAX SC (MS/WS)</c:v>
                </c:pt>
                <c:pt idx="3">
                  <c:v>NIKE AIR MAX MOTION 2 (MS/WS)</c:v>
                </c:pt>
                <c:pt idx="4">
                  <c:v>NIKE COURT BOROUGH LOW RECRAFT (TD)</c:v>
                </c:pt>
              </c:strCache>
            </c:strRef>
          </c:cat>
          <c:val>
            <c:numRef>
              <c:f>'Current month'!$M$36:$M$40</c:f>
              <c:numCache>
                <c:formatCode>0.00%</c:formatCode>
                <c:ptCount val="5"/>
                <c:pt idx="0">
                  <c:v>0.132264002103602</c:v>
                </c:pt>
                <c:pt idx="1">
                  <c:v>0.157959586002957</c:v>
                </c:pt>
                <c:pt idx="2">
                  <c:v>0.209090909090909</c:v>
                </c:pt>
                <c:pt idx="3">
                  <c:v>0.125925925925926</c:v>
                </c:pt>
                <c:pt idx="4">
                  <c:v>0.241610738255034</c:v>
                </c:pt>
              </c:numCache>
            </c:numRef>
          </c:val>
        </c:ser>
        <c:ser>
          <c:idx val="1"/>
          <c:order val="1"/>
          <c:tx>
            <c:strRef>
              <c:f>'Current month'!$N$35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month'!$L$36:$L$40</c:f>
              <c:strCache>
                <c:ptCount val="5"/>
                <c:pt idx="0">
                  <c:v>NIKE INITIATOR (MS/WS)</c:v>
                </c:pt>
                <c:pt idx="1">
                  <c:v>NIKE EBERNON LOW (MS/WS)</c:v>
                </c:pt>
                <c:pt idx="2">
                  <c:v>NIKE AIR MAX SC (MS/WS)</c:v>
                </c:pt>
                <c:pt idx="3">
                  <c:v>NIKE AIR MAX MOTION 2 (MS/WS)</c:v>
                </c:pt>
                <c:pt idx="4">
                  <c:v>NIKE COURT BOROUGH LOW RECRAFT (TD)</c:v>
                </c:pt>
              </c:strCache>
            </c:strRef>
          </c:cat>
          <c:val>
            <c:numRef>
              <c:f>'Current month'!$N$36:$N$40</c:f>
              <c:numCache>
                <c:formatCode>0.00%</c:formatCode>
                <c:ptCount val="5"/>
                <c:pt idx="0">
                  <c:v>0.160399684459637</c:v>
                </c:pt>
                <c:pt idx="1">
                  <c:v>0.148841793987186</c:v>
                </c:pt>
                <c:pt idx="2">
                  <c:v>0.182727272727273</c:v>
                </c:pt>
                <c:pt idx="3">
                  <c:v>0.156613756613757</c:v>
                </c:pt>
                <c:pt idx="4">
                  <c:v>0.203020134228188</c:v>
                </c:pt>
              </c:numCache>
            </c:numRef>
          </c:val>
        </c:ser>
        <c:ser>
          <c:idx val="2"/>
          <c:order val="2"/>
          <c:tx>
            <c:strRef>
              <c:f>'Current month'!$O$35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month'!$L$36:$L$40</c:f>
              <c:strCache>
                <c:ptCount val="5"/>
                <c:pt idx="0">
                  <c:v>NIKE INITIATOR (MS/WS)</c:v>
                </c:pt>
                <c:pt idx="1">
                  <c:v>NIKE EBERNON LOW (MS/WS)</c:v>
                </c:pt>
                <c:pt idx="2">
                  <c:v>NIKE AIR MAX SC (MS/WS)</c:v>
                </c:pt>
                <c:pt idx="3">
                  <c:v>NIKE AIR MAX MOTION 2 (MS/WS)</c:v>
                </c:pt>
                <c:pt idx="4">
                  <c:v>NIKE COURT BOROUGH LOW RECRAFT (TD)</c:v>
                </c:pt>
              </c:strCache>
            </c:strRef>
          </c:cat>
          <c:val>
            <c:numRef>
              <c:f>'Current month'!$O$36:$O$40</c:f>
              <c:numCache>
                <c:formatCode>0.00%</c:formatCode>
                <c:ptCount val="5"/>
                <c:pt idx="0">
                  <c:v>0.107546673678675</c:v>
                </c:pt>
                <c:pt idx="1">
                  <c:v>0.0998028585510104</c:v>
                </c:pt>
                <c:pt idx="2">
                  <c:v>0.117272727272727</c:v>
                </c:pt>
                <c:pt idx="3">
                  <c:v>0.136507936507936</c:v>
                </c:pt>
                <c:pt idx="4">
                  <c:v>0.26510067114094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100"/>
        <c:axId val="1454365295"/>
        <c:axId val="1454383183"/>
      </c:barChart>
      <c:catAx>
        <c:axId val="14543652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800" b="0" i="0" u="sng" baseline="0">
                    <a:effectLst/>
                  </a:rPr>
                  <a:t>First priority: Cleanness</a:t>
                </a:r>
                <a:endParaRPr lang="vi-VN" sz="800">
                  <a:effectLst/>
                </a:endParaRPr>
              </a:p>
            </c:rich>
          </c:tx>
          <c:layout>
            <c:manualLayout>
              <c:xMode val="edge"/>
              <c:yMode val="edge"/>
              <c:x val="0.371296915109743"/>
              <c:y val="0.122621679675659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  <c:crossAx val="1454383183"/>
        <c:crosses val="autoZero"/>
        <c:auto val="1"/>
        <c:lblAlgn val="ctr"/>
        <c:lblOffset val="100"/>
        <c:noMultiLvlLbl val="0"/>
      </c:catAx>
      <c:valAx>
        <c:axId val="1454383183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54365295"/>
        <c:crosses val="autoZero"/>
        <c:crossBetween val="between"/>
      </c:valAx>
      <c:spPr>
        <a:noFill/>
        <a:ln>
          <a:noFill/>
        </a:ln>
        <a:effectLst>
          <a:glow rad="101600">
            <a:srgbClr val="A5A5A5">
              <a:satMod val="175000"/>
              <a:alpha val="40000"/>
            </a:srgbClr>
          </a:glow>
        </a:effectLst>
      </c:spPr>
    </c:plotArea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00" b="1" i="0" baseline="0">
                <a:solidFill>
                  <a:schemeClr val="tx1"/>
                </a:solidFill>
                <a:effectLst/>
              </a:rPr>
              <a:t>Top defect of top models </a:t>
            </a:r>
            <a:endParaRPr lang="en-US" sz="1000">
              <a:solidFill>
                <a:schemeClr val="tx1"/>
              </a:solidFill>
              <a:effectLst/>
            </a:endParaRPr>
          </a:p>
        </c:rich>
      </c:tx>
      <c:layout>
        <c:manualLayout>
          <c:xMode val="edge"/>
          <c:yMode val="edge"/>
          <c:x val="0.328817343287481"/>
          <c:y val="0.0099703088911603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144869429662485"/>
          <c:y val="0.237927675199807"/>
          <c:w val="0.985128613097355"/>
          <c:h val="0.5458440445586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'Current month'!$M$42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month'!$L$43:$L$47</c:f>
              <c:strCache>
                <c:ptCount val="5"/>
                <c:pt idx="0">
                  <c:v>JORDAN 1 MID SE (PS/TD)</c:v>
                </c:pt>
                <c:pt idx="1">
                  <c:v>NIKE COURT VISION LOW (MS/WS)</c:v>
                </c:pt>
                <c:pt idx="2">
                  <c:v>AIR JORDAN 1 LOW (MS/WS)</c:v>
                </c:pt>
                <c:pt idx="3">
                  <c:v>NIKE INITIATOR (MS/WS)</c:v>
                </c:pt>
                <c:pt idx="4">
                  <c:v>AIR JORDAN 1 MID SE (GS)</c:v>
                </c:pt>
              </c:strCache>
            </c:strRef>
          </c:cat>
          <c:val>
            <c:numRef>
              <c:f>'Current month'!$M$43:$M$47</c:f>
              <c:numCache>
                <c:formatCode>0.00%</c:formatCode>
                <c:ptCount val="5"/>
                <c:pt idx="0">
                  <c:v>0.164026095060578</c:v>
                </c:pt>
                <c:pt idx="1">
                  <c:v>0.200248756218905</c:v>
                </c:pt>
                <c:pt idx="2">
                  <c:v>0.17208814270724</c:v>
                </c:pt>
                <c:pt idx="3">
                  <c:v>0.094017094017094</c:v>
                </c:pt>
                <c:pt idx="4">
                  <c:v>0.172043010752688</c:v>
                </c:pt>
              </c:numCache>
            </c:numRef>
          </c:val>
        </c:ser>
        <c:ser>
          <c:idx val="1"/>
          <c:order val="1"/>
          <c:tx>
            <c:strRef>
              <c:f>'Current month'!$N$42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1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month'!$L$43:$L$47</c:f>
              <c:strCache>
                <c:ptCount val="5"/>
                <c:pt idx="0">
                  <c:v>JORDAN 1 MID SE (PS/TD)</c:v>
                </c:pt>
                <c:pt idx="1">
                  <c:v>NIKE COURT VISION LOW (MS/WS)</c:v>
                </c:pt>
                <c:pt idx="2">
                  <c:v>AIR JORDAN 1 LOW (MS/WS)</c:v>
                </c:pt>
                <c:pt idx="3">
                  <c:v>NIKE INITIATOR (MS/WS)</c:v>
                </c:pt>
                <c:pt idx="4">
                  <c:v>AIR JORDAN 1 MID SE (GS)</c:v>
                </c:pt>
              </c:strCache>
            </c:strRef>
          </c:cat>
          <c:val>
            <c:numRef>
              <c:f>'Current month'!$N$43:$N$47</c:f>
              <c:numCache>
                <c:formatCode>0.00%</c:formatCode>
                <c:ptCount val="5"/>
                <c:pt idx="0">
                  <c:v>0.182665424044734</c:v>
                </c:pt>
                <c:pt idx="1">
                  <c:v>0.177860696517413</c:v>
                </c:pt>
                <c:pt idx="2">
                  <c:v>0.0912906610703043</c:v>
                </c:pt>
                <c:pt idx="3">
                  <c:v>0.116239316239316</c:v>
                </c:pt>
                <c:pt idx="4">
                  <c:v>0.217204301075269</c:v>
                </c:pt>
              </c:numCache>
            </c:numRef>
          </c:val>
        </c:ser>
        <c:ser>
          <c:idx val="2"/>
          <c:order val="2"/>
          <c:tx>
            <c:strRef>
              <c:f>'Current month'!$O$42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month'!$L$43:$L$47</c:f>
              <c:strCache>
                <c:ptCount val="5"/>
                <c:pt idx="0">
                  <c:v>JORDAN 1 MID SE (PS/TD)</c:v>
                </c:pt>
                <c:pt idx="1">
                  <c:v>NIKE COURT VISION LOW (MS/WS)</c:v>
                </c:pt>
                <c:pt idx="2">
                  <c:v>AIR JORDAN 1 LOW (MS/WS)</c:v>
                </c:pt>
                <c:pt idx="3">
                  <c:v>NIKE INITIATOR (MS/WS)</c:v>
                </c:pt>
                <c:pt idx="4">
                  <c:v>AIR JORDAN 1 MID SE (GS)</c:v>
                </c:pt>
              </c:strCache>
            </c:strRef>
          </c:cat>
          <c:val>
            <c:numRef>
              <c:f>'Current month'!$O$43:$O$47</c:f>
              <c:numCache>
                <c:formatCode>General</c:formatCode>
                <c:ptCount val="5"/>
                <c:pt idx="1" c:formatCode="0.00%">
                  <c:v>0.106965174129353</c:v>
                </c:pt>
                <c:pt idx="3" c:formatCode="0.00%">
                  <c:v>0.0820512820512821</c:v>
                </c:pt>
                <c:pt idx="4" c:formatCode="0.00%">
                  <c:v>0.113978494623656</c:v>
                </c:pt>
              </c:numCache>
            </c:numRef>
          </c:val>
        </c:ser>
        <c:ser>
          <c:idx val="3"/>
          <c:order val="3"/>
          <c:tx>
            <c:strRef>
              <c:f>'Current month'!$P$42</c:f>
              <c:strCache>
                <c:ptCount val="1"/>
                <c:pt idx="0">
                  <c:v>Over buffing</c:v>
                </c:pt>
              </c:strCache>
            </c:strRef>
          </c:tx>
          <c:spPr>
            <a:solidFill>
              <a:srgbClr val="953735"/>
            </a:solidFill>
            <a:ln>
              <a:noFill/>
            </a:ln>
            <a:effectLst/>
          </c:spPr>
          <c:invertIfNegative val="0"/>
          <c:dLbls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month'!$L$43:$L$47</c:f>
              <c:strCache>
                <c:ptCount val="5"/>
                <c:pt idx="0">
                  <c:v>JORDAN 1 MID SE (PS/TD)</c:v>
                </c:pt>
                <c:pt idx="1">
                  <c:v>NIKE COURT VISION LOW (MS/WS)</c:v>
                </c:pt>
                <c:pt idx="2">
                  <c:v>AIR JORDAN 1 LOW (MS/WS)</c:v>
                </c:pt>
                <c:pt idx="3">
                  <c:v>NIKE INITIATOR (MS/WS)</c:v>
                </c:pt>
                <c:pt idx="4">
                  <c:v>AIR JORDAN 1 MID SE (GS)</c:v>
                </c:pt>
              </c:strCache>
            </c:strRef>
          </c:cat>
          <c:val>
            <c:numRef>
              <c:f>'Current month'!$P$43:$P$47</c:f>
              <c:numCache>
                <c:formatCode>0.00%</c:formatCode>
                <c:ptCount val="5"/>
                <c:pt idx="0">
                  <c:v>0.108108108108108</c:v>
                </c:pt>
              </c:numCache>
            </c:numRef>
          </c:val>
        </c:ser>
        <c:ser>
          <c:idx val="4"/>
          <c:order val="4"/>
          <c:tx>
            <c:strRef>
              <c:f>'Current month'!$Q$42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'Current month'!$L$43:$L$47</c:f>
              <c:strCache>
                <c:ptCount val="5"/>
                <c:pt idx="0">
                  <c:v>JORDAN 1 MID SE (PS/TD)</c:v>
                </c:pt>
                <c:pt idx="1">
                  <c:v>NIKE COURT VISION LOW (MS/WS)</c:v>
                </c:pt>
                <c:pt idx="2">
                  <c:v>AIR JORDAN 1 LOW (MS/WS)</c:v>
                </c:pt>
                <c:pt idx="3">
                  <c:v>NIKE INITIATOR (MS/WS)</c:v>
                </c:pt>
                <c:pt idx="4">
                  <c:v>AIR JORDAN 1 MID SE (GS)</c:v>
                </c:pt>
              </c:strCache>
            </c:strRef>
          </c:cat>
          <c:val>
            <c:numRef>
              <c:f>'Current month'!$Q$43:$Q$47</c:f>
              <c:numCache>
                <c:formatCode>General</c:formatCode>
                <c:ptCount val="5"/>
                <c:pt idx="2" c:formatCode="0.00%">
                  <c:v>0.0734522560335782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100"/>
        <c:axId val="1805357231"/>
        <c:axId val="1805349743"/>
      </c:barChart>
      <c:catAx>
        <c:axId val="18053572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en-US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800" b="0" i="0" u="sng" baseline="0">
                    <a:solidFill>
                      <a:sysClr val="windowText" lastClr="000000"/>
                    </a:solidFill>
                    <a:effectLst/>
                    <a:latin typeface="+mn-lt"/>
                  </a:rPr>
                  <a:t>First priority: Over cement</a:t>
                </a:r>
                <a:endParaRPr lang="en-US" sz="800">
                  <a:solidFill>
                    <a:sysClr val="windowText" lastClr="000000"/>
                  </a:solidFill>
                  <a:effectLst/>
                  <a:latin typeface="+mn-lt"/>
                </a:endParaRPr>
              </a:p>
            </c:rich>
          </c:tx>
          <c:layout>
            <c:manualLayout>
              <c:xMode val="edge"/>
              <c:yMode val="edge"/>
              <c:x val="0.366850992647612"/>
              <c:y val="0.12309048760674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805349743"/>
        <c:crosses val="autoZero"/>
        <c:auto val="1"/>
        <c:lblAlgn val="ctr"/>
        <c:lblOffset val="100"/>
        <c:noMultiLvlLbl val="0"/>
      </c:catAx>
      <c:valAx>
        <c:axId val="1805349743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05357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ysClr val="window" lastClr="FFFFFF"/>
    </a:solidFill>
    <a:ln w="9525" cap="flat" cmpd="sng" algn="ctr">
      <a:solidFill>
        <a:sysClr val="window" lastClr="FFFFFF">
          <a:lumMod val="95000"/>
        </a:sysClr>
      </a:solidFill>
      <a:round/>
    </a:ln>
    <a:effectLst>
      <a:glow rad="101600">
        <a:srgbClr val="A5A5A5">
          <a:satMod val="175000"/>
          <a:alpha val="40000"/>
        </a:srgbClr>
      </a:glow>
    </a:effectLst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1284" y="0"/>
            <a:ext cx="2680716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210" y="308885"/>
            <a:ext cx="1563831" cy="30487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4DA0"/>
                </a:solidFill>
              </a:defRPr>
            </a:lvl1pPr>
          </a:lstStyle>
          <a:p>
            <a:r>
              <a:rPr lang="en-ID" dirty="0"/>
              <a:t>MAKE IT RIGHT</a:t>
            </a:r>
            <a:endParaRPr lang="en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6042" y="639813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5E283A-E5DF-404F-88FE-649AD4D2791B}" type="slidenum">
              <a:rPr lang="en-ID" smtClean="0">
                <a:solidFill>
                  <a:prstClr val="white"/>
                </a:solidFill>
              </a:rPr>
            </a:fld>
            <a:endParaRPr lang="en-ID">
              <a:solidFill>
                <a:prstClr val="white"/>
              </a:solidFill>
            </a:endParaRPr>
          </a:p>
        </p:txBody>
      </p:sp>
      <p:sp>
        <p:nvSpPr>
          <p:cNvPr id="15" name="Title 6"/>
          <p:cNvSpPr>
            <a:spLocks noGrp="1"/>
          </p:cNvSpPr>
          <p:nvPr>
            <p:ph type="title"/>
          </p:nvPr>
        </p:nvSpPr>
        <p:spPr>
          <a:xfrm>
            <a:off x="522914" y="398029"/>
            <a:ext cx="5573086" cy="5815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lnSpc>
                <a:spcPct val="100000"/>
              </a:lnSpc>
              <a:defRPr sz="2800" b="1" cap="none" spc="50" baseline="0">
                <a:solidFill>
                  <a:srgbClr val="3C4DA0"/>
                </a:solidFill>
                <a:latin typeface="Neo Sans Std" panose="020B05040305040B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522914" y="993883"/>
            <a:ext cx="5573086" cy="2222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600">
                <a:solidFill>
                  <a:srgbClr val="3C4DA0"/>
                </a:solidFill>
                <a:latin typeface="Helvetica" pitchFamily="2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 algn="ctr">
              <a:lnSpc>
                <a:spcPct val="100000"/>
              </a:lnSpc>
              <a:buFontTx/>
              <a:buNone/>
              <a:defRPr sz="13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22914" y="1533765"/>
            <a:ext cx="5573086" cy="1500187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9155E-ABF2-47CD-B64D-A1AB50B0B9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90A1C-F3BC-4DFB-B2B2-689049B020D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chart" Target="../charts/chart9.xml"/><Relationship Id="rId8" Type="http://schemas.openxmlformats.org/officeDocument/2006/relationships/chart" Target="../charts/chart8.xml"/><Relationship Id="rId7" Type="http://schemas.openxmlformats.org/officeDocument/2006/relationships/chart" Target="../charts/char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.emf"/><Relationship Id="rId12" Type="http://schemas.openxmlformats.org/officeDocument/2006/relationships/chart" Target="../charts/chart12.xml"/><Relationship Id="rId11" Type="http://schemas.openxmlformats.org/officeDocument/2006/relationships/chart" Target="../charts/chart11.xml"/><Relationship Id="rId10" Type="http://schemas.openxmlformats.org/officeDocument/2006/relationships/chart" Target="../charts/chart10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/>
          <p:cNvSpPr/>
          <p:nvPr/>
        </p:nvSpPr>
        <p:spPr>
          <a:xfrm>
            <a:off x="158518" y="-832"/>
            <a:ext cx="390334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 Light" panose="020F0302020204030204" pitchFamily="34" charset="0"/>
                <a:ea typeface="Microsoft JhengHei" panose="020B0604030504040204" charset="-120"/>
                <a:cs typeface="Calibri Light" panose="020F0302020204030204" pitchFamily="34" charset="0"/>
              </a:rPr>
              <a:t>HFPA </a:t>
            </a:r>
            <a:r>
              <a:rPr lang="en-US" sz="2800" b="1">
                <a:solidFill>
                  <a:prstClr val="black">
                    <a:lumMod val="85000"/>
                    <a:lumOff val="15000"/>
                  </a:prstClr>
                </a:solidFill>
                <a:latin typeface="Calibri Light" panose="020F0302020204030204" pitchFamily="34" charset="0"/>
                <a:ea typeface="Microsoft JhengHei" panose="020B0604030504040204" charset="-120"/>
                <a:cs typeface="Calibri Light" panose="020F0302020204030204" pitchFamily="34" charset="0"/>
              </a:rPr>
              <a:t>Performance </a:t>
            </a:r>
            <a:r>
              <a:rPr lang="en-US" sz="1400" b="1">
                <a:solidFill>
                  <a:srgbClr val="ED7D31">
                    <a:lumMod val="50000"/>
                  </a:srgbClr>
                </a:solidFill>
                <a:latin typeface="Arial" panose="020B0604020202020204" pitchFamily="34" charset="0"/>
                <a:ea typeface="Microsoft JhengHei" panose="020B0604030504040204" charset="-120"/>
                <a:cs typeface="Arial" panose="020B0604020202020204" pitchFamily="34" charset="0"/>
              </a:rPr>
              <a:t>Aug, </a:t>
            </a:r>
            <a:r>
              <a:rPr lang="en-US" sz="1400" b="1" dirty="0">
                <a:solidFill>
                  <a:srgbClr val="ED7D31">
                    <a:lumMod val="50000"/>
                  </a:srgbClr>
                </a:solidFill>
                <a:latin typeface="Arial" panose="020B0604020202020204" pitchFamily="34" charset="0"/>
                <a:ea typeface="Microsoft JhengHei" panose="020B0604030504040204" charset="-120"/>
                <a:cs typeface="Arial" panose="020B0604020202020204" pitchFamily="34" charset="0"/>
              </a:rPr>
              <a:t>2026</a:t>
            </a:r>
            <a:endParaRPr lang="en-US" sz="2400" b="1" dirty="0">
              <a:solidFill>
                <a:srgbClr val="ED7D31">
                  <a:lumMod val="50000"/>
                </a:srgbClr>
              </a:solidFill>
              <a:latin typeface="Arial" panose="020B0604020202020204" pitchFamily="34" charset="0"/>
              <a:ea typeface="Microsoft JhengHei" panose="020B0604030504040204" charset="-120"/>
              <a:cs typeface="Arial" panose="020B0604020202020204" pitchFamily="34" charset="0"/>
            </a:endParaRPr>
          </a:p>
        </p:txBody>
      </p:sp>
      <p:grpSp>
        <p:nvGrpSpPr>
          <p:cNvPr id="102" name="组合 11"/>
          <p:cNvGrpSpPr/>
          <p:nvPr/>
        </p:nvGrpSpPr>
        <p:grpSpPr>
          <a:xfrm>
            <a:off x="0" y="430886"/>
            <a:ext cx="9490509" cy="45719"/>
            <a:chOff x="0" y="709127"/>
            <a:chExt cx="12192000" cy="0"/>
          </a:xfrm>
        </p:grpSpPr>
        <p:cxnSp>
          <p:nvCxnSpPr>
            <p:cNvPr id="103" name="直接连接符 8"/>
            <p:cNvCxnSpPr/>
            <p:nvPr/>
          </p:nvCxnSpPr>
          <p:spPr>
            <a:xfrm>
              <a:off x="0" y="709127"/>
              <a:ext cx="12192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"/>
            <p:cNvCxnSpPr/>
            <p:nvPr/>
          </p:nvCxnSpPr>
          <p:spPr>
            <a:xfrm>
              <a:off x="195939" y="709127"/>
              <a:ext cx="877078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Rectangle 104"/>
          <p:cNvSpPr/>
          <p:nvPr/>
        </p:nvSpPr>
        <p:spPr>
          <a:xfrm>
            <a:off x="11119247" y="36695"/>
            <a:ext cx="10422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>
                <a:solidFill>
                  <a:schemeClr val="bg1"/>
                </a:solidFill>
                <a:latin typeface="Calibri Light" panose="020F0302020204030204" pitchFamily="34" charset="0"/>
                <a:ea typeface="Microsoft JhengHei" panose="020B0604030504040204" charset="-120"/>
                <a:cs typeface="Calibri Light" panose="020F0302020204030204" pitchFamily="34" charset="0"/>
              </a:rPr>
              <a:t>Analysis by Site</a:t>
            </a:r>
            <a:endParaRPr lang="en-US" sz="1100" i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107" name="组合 14"/>
          <p:cNvGrpSpPr/>
          <p:nvPr/>
        </p:nvGrpSpPr>
        <p:grpSpPr>
          <a:xfrm>
            <a:off x="2299013" y="546444"/>
            <a:ext cx="2468946" cy="837402"/>
            <a:chOff x="3168446" y="526711"/>
            <a:chExt cx="2468946" cy="905524"/>
          </a:xfrm>
        </p:grpSpPr>
        <p:grpSp>
          <p:nvGrpSpPr>
            <p:cNvPr id="108" name="Group 107"/>
            <p:cNvGrpSpPr/>
            <p:nvPr/>
          </p:nvGrpSpPr>
          <p:grpSpPr>
            <a:xfrm>
              <a:off x="3759914" y="526711"/>
              <a:ext cx="1877478" cy="905524"/>
              <a:chOff x="1031954" y="784458"/>
              <a:chExt cx="1842309" cy="1365075"/>
            </a:xfrm>
          </p:grpSpPr>
          <p:sp>
            <p:nvSpPr>
              <p:cNvPr id="116" name="Rectangle 115"/>
              <p:cNvSpPr/>
              <p:nvPr/>
            </p:nvSpPr>
            <p:spPr>
              <a:xfrm>
                <a:off x="1073017" y="827174"/>
                <a:ext cx="1794543" cy="12819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1066315" y="784458"/>
                <a:ext cx="1515028" cy="476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VH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: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</a:rPr>
                  <a:t> </a:t>
                </a:r>
                <a:r>
                  <a:rPr lang="en-US" sz="1300">
                    <a:solidFill>
                      <a:srgbClr val="000000"/>
                    </a:solidFill>
                    <a:latin typeface="Calibri Light" panose="020F0302020204030204"/>
                  </a:rPr>
                  <a:t>252,237 </a:t>
                </a: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60" name="Rectangle 159"/>
              <p:cNvSpPr/>
              <p:nvPr/>
            </p:nvSpPr>
            <p:spPr>
              <a:xfrm>
                <a:off x="1182989" y="1072086"/>
                <a:ext cx="1691274" cy="476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VH2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: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</a:rPr>
                  <a:t> </a:t>
                </a:r>
                <a:r>
                  <a:rPr lang="en-US" sz="1300">
                    <a:solidFill>
                      <a:srgbClr val="000000"/>
                    </a:solidFill>
                    <a:latin typeface="Calibri Light" panose="020F0302020204030204"/>
                  </a:rPr>
                  <a:t>187,637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</a:rPr>
                  <a:t> </a:t>
                </a: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61" name="Rectangle 160"/>
              <p:cNvSpPr/>
              <p:nvPr/>
            </p:nvSpPr>
            <p:spPr>
              <a:xfrm>
                <a:off x="1168981" y="1366503"/>
                <a:ext cx="1705281" cy="476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JV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: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</a:rPr>
                  <a:t> </a:t>
                </a:r>
                <a:r>
                  <a:rPr lang="en-US" sz="1300">
                    <a:solidFill>
                      <a:srgbClr val="000000"/>
                    </a:solidFill>
                    <a:latin typeface="Calibri Light" panose="020F0302020204030204"/>
                  </a:rPr>
                  <a:t>92,175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</a:rPr>
                  <a:t> </a:t>
                </a: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1031954" y="1672902"/>
                <a:ext cx="1794543" cy="476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JV2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: </a:t>
                </a:r>
                <a:r>
                  <a:rPr lang="en-US" sz="1300">
                    <a:solidFill>
                      <a:srgbClr val="000000"/>
                    </a:solidFill>
                    <a:latin typeface="Calibri Light" panose="020F0302020204030204"/>
                  </a:rPr>
                  <a:t>76,104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</a:rPr>
                  <a:t> </a:t>
                </a: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109" name="Oval 108"/>
            <p:cNvSpPr/>
            <p:nvPr/>
          </p:nvSpPr>
          <p:spPr>
            <a:xfrm>
              <a:off x="3211367" y="583402"/>
              <a:ext cx="817004" cy="773647"/>
            </a:xfrm>
            <a:prstGeom prst="ellipse">
              <a:avLst/>
            </a:prstGeom>
            <a:solidFill>
              <a:srgbClr val="3757B0"/>
            </a:solidFill>
            <a:ln w="136525" cap="sq" cmpd="thickThin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10" name="Oval 109"/>
            <p:cNvSpPr/>
            <p:nvPr/>
          </p:nvSpPr>
          <p:spPr>
            <a:xfrm>
              <a:off x="3168446" y="566256"/>
              <a:ext cx="859926" cy="81899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prstClr val="white"/>
                  </a:solidFill>
                </a:rPr>
                <a:t>Total pair produced</a:t>
              </a:r>
              <a:endParaRPr lang="en-US" sz="900" b="1" dirty="0">
                <a:solidFill>
                  <a:prstClr val="white"/>
                </a:solidFill>
              </a:endParaRPr>
            </a:p>
            <a:p>
              <a:pPr algn="ctr"/>
              <a:r>
                <a:rPr lang="en-US" sz="1700" b="1" baseline="-10000">
                  <a:solidFill>
                    <a:prstClr val="white"/>
                  </a:solidFill>
                </a:rPr>
                <a:t>~</a:t>
              </a:r>
              <a:r>
                <a:rPr lang="en-US" sz="1700" b="1">
                  <a:solidFill>
                    <a:prstClr val="white"/>
                  </a:solidFill>
                </a:rPr>
                <a:t>608K</a:t>
              </a:r>
              <a:endParaRPr lang="en-US" sz="1700" b="1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63" name="Group 162"/>
          <p:cNvGrpSpPr/>
          <p:nvPr/>
        </p:nvGrpSpPr>
        <p:grpSpPr>
          <a:xfrm>
            <a:off x="5245791" y="561658"/>
            <a:ext cx="2443037" cy="818525"/>
            <a:chOff x="428913" y="813631"/>
            <a:chExt cx="2445722" cy="1424181"/>
          </a:xfrm>
        </p:grpSpPr>
        <p:grpSp>
          <p:nvGrpSpPr>
            <p:cNvPr id="164" name="Group 163"/>
            <p:cNvGrpSpPr/>
            <p:nvPr/>
          </p:nvGrpSpPr>
          <p:grpSpPr>
            <a:xfrm>
              <a:off x="1081736" y="813631"/>
              <a:ext cx="1792899" cy="1424181"/>
              <a:chOff x="1081736" y="813631"/>
              <a:chExt cx="1792900" cy="1424180"/>
            </a:xfrm>
          </p:grpSpPr>
          <p:sp>
            <p:nvSpPr>
              <p:cNvPr id="167" name="Rectangle 166"/>
              <p:cNvSpPr/>
              <p:nvPr/>
            </p:nvSpPr>
            <p:spPr>
              <a:xfrm>
                <a:off x="1081736" y="833778"/>
                <a:ext cx="1739271" cy="1368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68" name="Rectangle 167"/>
              <p:cNvSpPr/>
              <p:nvPr/>
            </p:nvSpPr>
            <p:spPr>
              <a:xfrm>
                <a:off x="1113995" y="813631"/>
                <a:ext cx="1682621" cy="508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VH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: </a:t>
                </a:r>
                <a:r>
                  <a:rPr lang="en-US" sz="1300">
                    <a:solidFill>
                      <a:srgbClr val="000000"/>
                    </a:solidFill>
                    <a:latin typeface="Calibri Light" panose="020F0302020204030204"/>
                  </a:rPr>
                  <a:t>40,405 </a:t>
                </a: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1192015" y="1136998"/>
                <a:ext cx="1682621" cy="508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VH2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: </a:t>
                </a:r>
                <a:r>
                  <a:rPr lang="en-US" sz="1300">
                    <a:solidFill>
                      <a:srgbClr val="000000"/>
                    </a:solidFill>
                    <a:latin typeface="Calibri Light" panose="020F0302020204030204"/>
                  </a:rPr>
                  <a:t>27,355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</a:rPr>
                  <a:t> </a:t>
                </a: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prs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1190958" y="1442170"/>
                <a:ext cx="1673557" cy="508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JV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: </a:t>
                </a:r>
                <a:r>
                  <a:rPr lang="en-US" sz="1300">
                    <a:solidFill>
                      <a:srgbClr val="000000"/>
                    </a:solidFill>
                    <a:latin typeface="Calibri Light" panose="020F0302020204030204"/>
                  </a:rPr>
                  <a:t>11,421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</a:rPr>
                  <a:t> </a:t>
                </a: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</a:rPr>
                  <a:t>p</a:t>
                </a: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  <p:sp>
            <p:nvSpPr>
              <p:cNvPr id="171" name="Rectangle 170"/>
              <p:cNvSpPr/>
              <p:nvPr/>
            </p:nvSpPr>
            <p:spPr>
              <a:xfrm>
                <a:off x="1083299" y="1729075"/>
                <a:ext cx="1739267" cy="508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182880">
                  <a:buFont typeface="Arial" panose="020B0604020202020204" pitchFamily="34" charset="0"/>
                  <a:buChar char="•"/>
                </a:pP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JV2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: </a:t>
                </a:r>
                <a:r>
                  <a:rPr lang="en-US" sz="1300">
                    <a:solidFill>
                      <a:srgbClr val="000000"/>
                    </a:solidFill>
                    <a:latin typeface="Calibri Light" panose="020F0302020204030204"/>
                  </a:rPr>
                  <a:t>4,503</a:t>
                </a:r>
                <a:r>
                  <a:rPr lang="en-US" sz="1300">
                    <a:solidFill>
                      <a:prstClr val="black"/>
                    </a:solidFill>
                    <a:latin typeface="Calibri Light" panose="020F0302020204030204"/>
                  </a:rPr>
                  <a:t> </a:t>
                </a: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</a:rPr>
                  <a:t>p</a:t>
                </a:r>
                <a:r>
                  <a:rPr lang="en-US" sz="1300" dirty="0">
                    <a:solidFill>
                      <a:prstClr val="black"/>
                    </a:solidFill>
                    <a:latin typeface="Calibri Light" panose="020F0302020204030204"/>
                    <a:cs typeface="Calibri Light" panose="020F0302020204030204" pitchFamily="34" charset="0"/>
                  </a:rPr>
                  <a:t>rs</a:t>
                </a:r>
                <a:endParaRPr lang="en-US" sz="1300" dirty="0">
                  <a:solidFill>
                    <a:prstClr val="black"/>
                  </a:solidFill>
                  <a:latin typeface="Calibri Light" panose="020F0302020204030204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165" name="Oval 164"/>
            <p:cNvSpPr/>
            <p:nvPr/>
          </p:nvSpPr>
          <p:spPr>
            <a:xfrm>
              <a:off x="428913" y="838274"/>
              <a:ext cx="914400" cy="12354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66" name="Oval 165"/>
            <p:cNvSpPr/>
            <p:nvPr/>
          </p:nvSpPr>
          <p:spPr>
            <a:xfrm>
              <a:off x="590701" y="894548"/>
              <a:ext cx="732324" cy="1194287"/>
            </a:xfrm>
            <a:prstGeom prst="ellipse">
              <a:avLst/>
            </a:prstGeom>
            <a:solidFill>
              <a:srgbClr val="3868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b="1" dirty="0">
                  <a:solidFill>
                    <a:prstClr val="white"/>
                  </a:solidFill>
                </a:rPr>
                <a:t>Defective</a:t>
              </a:r>
              <a:endParaRPr lang="en-US" sz="900" b="1" dirty="0">
                <a:solidFill>
                  <a:prstClr val="white"/>
                </a:solidFill>
              </a:endParaRPr>
            </a:p>
            <a:p>
              <a:pPr algn="ctr"/>
              <a:r>
                <a:rPr lang="en-US" sz="1600" b="1" baseline="-10000">
                  <a:solidFill>
                    <a:prstClr val="white"/>
                  </a:solidFill>
                </a:rPr>
                <a:t>~</a:t>
              </a:r>
              <a:r>
                <a:rPr lang="en-US" sz="1600" b="1">
                  <a:solidFill>
                    <a:prstClr val="white"/>
                  </a:solidFill>
                </a:rPr>
                <a:t>83K</a:t>
              </a:r>
              <a:endParaRPr lang="en-US" sz="1600" b="1" dirty="0">
                <a:solidFill>
                  <a:prstClr val="white"/>
                </a:solidFill>
              </a:endParaRPr>
            </a:p>
          </p:txBody>
        </p:sp>
      </p:grpSp>
      <p:sp>
        <p:nvSpPr>
          <p:cNvPr id="172" name="Pentagon 39"/>
          <p:cNvSpPr/>
          <p:nvPr/>
        </p:nvSpPr>
        <p:spPr>
          <a:xfrm>
            <a:off x="4295643" y="1780790"/>
            <a:ext cx="484632" cy="176693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100" b="1" dirty="0">
                <a:solidFill>
                  <a:prstClr val="black"/>
                </a:solidFill>
              </a:rPr>
              <a:t>VH</a:t>
            </a:r>
            <a:endParaRPr lang="en-US" sz="2400" b="1" dirty="0">
              <a:solidFill>
                <a:prstClr val="black"/>
              </a:solidFill>
            </a:endParaRPr>
          </a:p>
        </p:txBody>
      </p:sp>
      <p:cxnSp>
        <p:nvCxnSpPr>
          <p:cNvPr id="173" name="Straight Connector 172"/>
          <p:cNvCxnSpPr/>
          <p:nvPr/>
        </p:nvCxnSpPr>
        <p:spPr>
          <a:xfrm>
            <a:off x="15240" y="4129220"/>
            <a:ext cx="121615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>
            <a:off x="-12077" y="5425299"/>
            <a:ext cx="121615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Pentagon 156"/>
          <p:cNvSpPr/>
          <p:nvPr/>
        </p:nvSpPr>
        <p:spPr>
          <a:xfrm>
            <a:off x="4307001" y="5677595"/>
            <a:ext cx="457200" cy="182880"/>
          </a:xfrm>
          <a:prstGeom prst="homePlat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100" b="1" dirty="0">
                <a:solidFill>
                  <a:prstClr val="black"/>
                </a:solidFill>
              </a:rPr>
              <a:t>JV2</a:t>
            </a:r>
            <a:endParaRPr lang="en-US" sz="2400" b="1" dirty="0">
              <a:solidFill>
                <a:prstClr val="black"/>
              </a:solidFill>
            </a:endParaRPr>
          </a:p>
        </p:txBody>
      </p:sp>
      <p:cxnSp>
        <p:nvCxnSpPr>
          <p:cNvPr id="176" name="Straight Connector 175"/>
          <p:cNvCxnSpPr/>
          <p:nvPr/>
        </p:nvCxnSpPr>
        <p:spPr>
          <a:xfrm>
            <a:off x="0" y="2796399"/>
            <a:ext cx="121615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4282487" y="2052366"/>
            <a:ext cx="640080" cy="365760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prstClr val="black"/>
                </a:solidFill>
              </a:rPr>
              <a:t>HFPA DR</a:t>
            </a:r>
            <a:r>
              <a:rPr lang="en-US" sz="900" b="1">
                <a:solidFill>
                  <a:prstClr val="black"/>
                </a:solidFill>
              </a:rPr>
              <a:t>: </a:t>
            </a:r>
            <a:r>
              <a:rPr lang="en-US" sz="1000" b="1">
                <a:solidFill>
                  <a:prstClr val="black"/>
                </a:solidFill>
              </a:rPr>
              <a:t>16.02%</a:t>
            </a:r>
            <a:endParaRPr lang="en-US" sz="1000" b="1" dirty="0">
              <a:solidFill>
                <a:prstClr val="black"/>
              </a:solidFill>
            </a:endParaRPr>
          </a:p>
        </p:txBody>
      </p:sp>
      <p:sp>
        <p:nvSpPr>
          <p:cNvPr id="178" name="Pentagon 151"/>
          <p:cNvSpPr/>
          <p:nvPr/>
        </p:nvSpPr>
        <p:spPr>
          <a:xfrm>
            <a:off x="4295643" y="3011178"/>
            <a:ext cx="457200" cy="182880"/>
          </a:xfrm>
          <a:prstGeom prst="homePlat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100" b="1" dirty="0">
                <a:solidFill>
                  <a:prstClr val="black"/>
                </a:solidFill>
              </a:rPr>
              <a:t>VH2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4282487" y="3269501"/>
            <a:ext cx="640080" cy="36576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prstClr val="black"/>
                </a:solidFill>
              </a:rPr>
              <a:t>HFPA DR</a:t>
            </a:r>
            <a:r>
              <a:rPr lang="en-US" sz="900" b="1">
                <a:solidFill>
                  <a:prstClr val="black"/>
                </a:solidFill>
              </a:rPr>
              <a:t>: </a:t>
            </a:r>
            <a:r>
              <a:rPr lang="en-US" sz="1000" b="1">
                <a:solidFill>
                  <a:prstClr val="black"/>
                </a:solidFill>
              </a:rPr>
              <a:t>14.58%</a:t>
            </a:r>
            <a:endParaRPr lang="en-US" sz="1000" b="1" dirty="0">
              <a:solidFill>
                <a:prstClr val="black"/>
              </a:solidFill>
            </a:endParaRPr>
          </a:p>
        </p:txBody>
      </p:sp>
      <p:sp>
        <p:nvSpPr>
          <p:cNvPr id="180" name="Pentagon 152"/>
          <p:cNvSpPr/>
          <p:nvPr/>
        </p:nvSpPr>
        <p:spPr>
          <a:xfrm>
            <a:off x="4295643" y="4397194"/>
            <a:ext cx="457200" cy="180644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100" b="1" dirty="0">
                <a:solidFill>
                  <a:prstClr val="black"/>
                </a:solidFill>
              </a:rPr>
              <a:t>JV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4282487" y="4682806"/>
            <a:ext cx="6400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prstClr val="black"/>
                </a:solidFill>
              </a:rPr>
              <a:t>HFPA DR</a:t>
            </a:r>
            <a:r>
              <a:rPr lang="en-US" sz="900" b="1">
                <a:solidFill>
                  <a:prstClr val="black"/>
                </a:solidFill>
              </a:rPr>
              <a:t>: </a:t>
            </a:r>
            <a:r>
              <a:rPr lang="en-US" sz="1000" b="1">
                <a:solidFill>
                  <a:prstClr val="black"/>
                </a:solidFill>
              </a:rPr>
              <a:t>12.39%</a:t>
            </a:r>
            <a:endParaRPr lang="en-US" sz="1000" b="1" dirty="0">
              <a:solidFill>
                <a:prstClr val="black"/>
              </a:solidFill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4279092" y="5933055"/>
            <a:ext cx="640080" cy="3657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prstClr val="black"/>
                </a:solidFill>
              </a:rPr>
              <a:t>HFPA DR</a:t>
            </a:r>
            <a:r>
              <a:rPr lang="en-US" sz="900" b="1">
                <a:solidFill>
                  <a:prstClr val="black"/>
                </a:solidFill>
              </a:rPr>
              <a:t>: </a:t>
            </a:r>
            <a:r>
              <a:rPr lang="en-US" sz="1000" b="1">
                <a:solidFill>
                  <a:prstClr val="black"/>
                </a:solidFill>
              </a:rPr>
              <a:t>5.92%</a:t>
            </a:r>
            <a:endParaRPr lang="en-US" sz="1000" b="1" dirty="0">
              <a:solidFill>
                <a:prstClr val="black"/>
              </a:solidFill>
            </a:endParaRPr>
          </a:p>
        </p:txBody>
      </p:sp>
      <p:sp>
        <p:nvSpPr>
          <p:cNvPr id="183" name="Isosceles Triangle 182"/>
          <p:cNvSpPr/>
          <p:nvPr/>
        </p:nvSpPr>
        <p:spPr>
          <a:xfrm rot="5400000">
            <a:off x="1312118" y="738156"/>
            <a:ext cx="241787" cy="348218"/>
          </a:xfrm>
          <a:prstGeom prst="triangle">
            <a:avLst>
              <a:gd name="adj" fmla="val 53487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328756" y="636656"/>
            <a:ext cx="1057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cs typeface="Calibri" panose="020F0502020204030204" pitchFamily="34" charset="0"/>
              </a:rPr>
              <a:t>HFPA</a:t>
            </a:r>
            <a:endParaRPr lang="en-US" sz="2800" dirty="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62155" y="1046661"/>
            <a:ext cx="193995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</a:rPr>
              <a:t>High Frequency Product Audit</a:t>
            </a:r>
            <a:endParaRPr lang="en-US" sz="11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graphicFrame>
        <p:nvGraphicFramePr>
          <p:cNvPr id="195" name="Chart 194"/>
          <p:cNvGraphicFramePr/>
          <p:nvPr/>
        </p:nvGraphicFramePr>
        <p:xfrm>
          <a:off x="4985468" y="1527048"/>
          <a:ext cx="3125260" cy="1221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6" name="Chart 195"/>
          <p:cNvGraphicFramePr/>
          <p:nvPr/>
        </p:nvGraphicFramePr>
        <p:xfrm>
          <a:off x="4983480" y="2862072"/>
          <a:ext cx="3127248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7" name="Chart 196"/>
          <p:cNvGraphicFramePr/>
          <p:nvPr/>
        </p:nvGraphicFramePr>
        <p:xfrm>
          <a:off x="5003736" y="4181702"/>
          <a:ext cx="3127248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8" name="Chart 197"/>
          <p:cNvGraphicFramePr/>
          <p:nvPr/>
        </p:nvGraphicFramePr>
        <p:xfrm>
          <a:off x="5018990" y="5468645"/>
          <a:ext cx="3127248" cy="1225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2" name="Chart 51"/>
          <p:cNvGraphicFramePr/>
          <p:nvPr/>
        </p:nvGraphicFramePr>
        <p:xfrm>
          <a:off x="91440" y="1527048"/>
          <a:ext cx="4118707" cy="1225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3" name="Chart 52"/>
          <p:cNvGraphicFramePr/>
          <p:nvPr/>
        </p:nvGraphicFramePr>
        <p:xfrm>
          <a:off x="91440" y="2862072"/>
          <a:ext cx="4118707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Chart 53"/>
          <p:cNvGraphicFramePr/>
          <p:nvPr/>
        </p:nvGraphicFramePr>
        <p:xfrm>
          <a:off x="91440" y="4178808"/>
          <a:ext cx="4118707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5" name="Chart 54"/>
          <p:cNvGraphicFramePr/>
          <p:nvPr/>
        </p:nvGraphicFramePr>
        <p:xfrm>
          <a:off x="91440" y="5486400"/>
          <a:ext cx="4118707" cy="1225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64" name="Chart 63"/>
          <p:cNvGraphicFramePr/>
          <p:nvPr/>
        </p:nvGraphicFramePr>
        <p:xfrm>
          <a:off x="8268674" y="1529828"/>
          <a:ext cx="3923326" cy="1227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65" name="Chart 64"/>
          <p:cNvGraphicFramePr/>
          <p:nvPr/>
        </p:nvGraphicFramePr>
        <p:xfrm>
          <a:off x="8268674" y="2862072"/>
          <a:ext cx="3923326" cy="1191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66" name="Chart 65"/>
          <p:cNvGraphicFramePr/>
          <p:nvPr/>
        </p:nvGraphicFramePr>
        <p:xfrm>
          <a:off x="8268674" y="4178808"/>
          <a:ext cx="3923326" cy="1191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67" name="Chart 66"/>
          <p:cNvGraphicFramePr/>
          <p:nvPr/>
        </p:nvGraphicFramePr>
        <p:xfrm>
          <a:off x="8268674" y="5458119"/>
          <a:ext cx="3923326" cy="1227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88371" y="597497"/>
            <a:ext cx="2855916" cy="782194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2192000" y="1491916"/>
            <a:ext cx="1581752" cy="13186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/>
              <a:t>Lưu ý về mức độ ưu tiên cải thiện lỗi: ưu tiên lỗi đó có nhiều model nhất sau đó sẽ xét tỷ lệ phần trăm</a:t>
            </a:r>
            <a:endParaRPr lang="vi-VN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WPS Presentation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SimSun</vt:lpstr>
      <vt:lpstr>Wingdings</vt:lpstr>
      <vt:lpstr>Neo Sans Std</vt:lpstr>
      <vt:lpstr>Raavi</vt:lpstr>
      <vt:lpstr>Open Sans Light</vt:lpstr>
      <vt:lpstr>Yu Gothic UI Light</vt:lpstr>
      <vt:lpstr>Helvetica</vt:lpstr>
      <vt:lpstr>Roboto</vt:lpstr>
      <vt:lpstr>Wide Latin</vt:lpstr>
      <vt:lpstr>Calibri Light</vt:lpstr>
      <vt:lpstr>Microsoft JhengHei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Le, Thanh-Truc</dc:creator>
  <cp:lastModifiedBy>thinhphat.nguyen</cp:lastModifiedBy>
  <cp:revision>264</cp:revision>
  <dcterms:created xsi:type="dcterms:W3CDTF">2026-03-27T03:14:00Z</dcterms:created>
  <dcterms:modified xsi:type="dcterms:W3CDTF">2026-09-22T09:26:32Z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9B7D405B00274A5AA0001360A5065F74</vt:lpwstr>
  </property>
  <property fmtid="{D5CDD505-2E9C-101B-9397-08002B2CF9AE}" pid="3" name="KSOProductBuildVer">
    <vt:lpwstr>1033-11.2.0.11440</vt:lpwstr>
  </property>
</Properties>
</file>